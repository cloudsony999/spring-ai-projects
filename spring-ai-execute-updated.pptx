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0EF8-D901-BDBF-B6AD-C348C1BFE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B212E-A3F9-818A-00D2-FBFC5574D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E865-7102-F146-4251-7AAE102B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192CB-03E7-6E76-FB94-E158DF55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5D60D-DBDC-094C-3999-C0CFF65C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53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81333-2C77-71F9-9CA7-8F4CFAB8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D54EC-ADCF-41F7-A9C0-30FEAB47D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7F5A7-5BA9-208C-E62B-46BB12FA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A81F0-9A3D-7B95-7725-A91E9ED3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8562B-D2EE-4243-FA56-9D0FB238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63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A9BA1-EBE1-BFAA-F3B5-890413D4A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645A5-A7C9-DF72-5983-17B1406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E839B-0842-6FE5-6410-8333C01B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FE602-B1B1-80AB-C632-33A0134FA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15EDA-45A3-392E-EAAF-5FE0991AD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40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A3A33-9EF5-61AC-8CD6-6DC84BB80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D2389-6950-536E-EF87-8794EC4BA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975EE-2FC7-34D9-93AD-357EDEA1D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B2CDE-4C8C-DF05-7794-66320D2A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E3ED5-ADAA-2B7D-9095-9DF211AC6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43F82-0CCF-D2B7-A126-1948E0CA2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918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962A-D63C-9607-3F1B-996F638E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3F5D7-0849-C9B3-2AD8-399E05EA2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7BD0B-A7D0-6ACF-3B64-B7DBA0C1C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9D428-C748-F937-CDFE-09A9654ED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B5962B-9A00-1D06-626E-E03F914A4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E5AE3F-C43D-1F76-6ACD-607B8E10D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93343-E5A8-D057-1D61-F879C315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FC0A2-E754-8925-8D3C-F93CBD69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2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7CF9-E964-C5D2-798D-F23E86EE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C6641-B91A-8392-DAA5-04769079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41E7B-1264-24ED-5B41-96D08203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DC016-E10F-0B9D-B8A0-380E5EEE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73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16F98-C5ED-8D72-CF88-0D1ED6FE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38798-7A61-4788-BCCB-419CAC63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744B7-BD02-6F4E-38DF-6631CB7B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961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8165A-1FA6-5F5D-1385-9481538A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A18F1-6EBE-E3B5-8537-970DDD367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49573-6AF0-B51A-F829-8887C3499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C9567-AC06-E83D-1148-0DCFBA06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10944-6179-20FF-4F48-9EF59204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CA4DD-F7FA-CDFF-6D91-24450739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41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62393-15EB-525D-0167-B8165BCE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78A745-BECE-7F5B-E0E2-D1E8286326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5DC3D-533F-54D4-074E-9D07F0C6C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2167A-F1D5-90D6-F90A-148CF0E1E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93866-F21E-74EC-43A7-6734A4FA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09AC-7144-0944-DE3E-51FE36E6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75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E188-6BA4-8EAA-D540-893E05F9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C63CD-6B88-5F58-EEBE-4E0E081B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CDA70-0436-EE15-9987-B5BEB4C7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BEB9E-E500-D129-DDDE-6D93C1F1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281BC-8332-35FB-33EB-451E46ABF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643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1DDA7B-8801-CA9B-41CE-53D9040C7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5B26B-5B92-D1CE-43AF-C1C90EB29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319C2-657E-3BF7-5748-28F9C3B1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18359-9FD6-868F-DD12-2FDB7532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5B8CE-084C-A932-906F-1C20AFA5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64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8242AB-A4B8-BFD9-C6A0-499F7826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05A27-CD03-1E1B-0678-FDEB078AE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BD441-5E49-CC11-296D-0E1B0F443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8B937-9772-44E5-8171-762EAD33075A}" type="datetimeFigureOut">
              <a:rPr lang="en-IN" smtClean="0"/>
              <a:t>24-10-2026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FBAF0-1999-F06D-4F43-6DB12B1CA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4BD0E-8526-CDC1-C695-89DE031D2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DD7AD-9CD3-4627-87FC-96033011C11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43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6C8592-9817-F7F0-D920-04B9BE0D3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2"/>
            <a:ext cx="12192000" cy="64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7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9C98-8948-5B57-D9CA-E460B39D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54336C-71B2-4536-F216-A0C77E83E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2"/>
            <a:ext cx="12192000" cy="64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5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1AB9B-FD80-D066-6CFD-30E34923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3B7D83-A764-CFE1-D774-0CF00159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32"/>
            <a:ext cx="12192000" cy="65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74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4D663-210C-CBFB-1187-A5217BFBA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F515FE-8BB1-7253-DE23-0EA66BC46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39" y="0"/>
            <a:ext cx="11459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60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5411-93B0-ACCE-4549-302146E6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80AE9-88C1-4168-1295-1C68024F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6" y="0"/>
            <a:ext cx="11910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7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E044E-2A45-65F0-3FA0-FB4B50005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827740-B465-24FE-DC4D-D30D68C74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87" y="0"/>
            <a:ext cx="8286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81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8F05E-8BDA-0497-B3CF-678BE011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EFE330-FF35-98FB-AF60-DF4C36C17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26" y="0"/>
            <a:ext cx="9976947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49240" y="3803904"/>
            <a:ext cx="4800600" cy="438912"/>
          </a:xfrm>
          <a:prstGeom prst="roundRect">
            <a:avLst/>
          </a:prstGeom>
          <a:solidFill>
            <a:srgbClr val="F9F5F1"/>
          </a:solidFill>
          <a:ln>
            <a:solidFill>
              <a:srgbClr val="DCC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7D4137"/>
                </a:solidFill>
                <a:latin typeface="Aptos"/>
              </a:defRPr>
            </a:pPr>
            <a:r>
              <a:t>REDACTED — use an environment variable for API keys</a:t>
            </a:r>
          </a:p>
        </p:txBody>
      </p:sp>
    </p:spTree>
    <p:extLst>
      <p:ext uri="{BB962C8B-B14F-4D97-AF65-F5344CB8AC3E}">
        <p14:creationId xmlns:p14="http://schemas.microsoft.com/office/powerpoint/2010/main" val="68988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2C1F-4C15-DFE1-ED4C-5F524374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52FEBD-D217-77D0-4838-1BE6A2980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41" y="0"/>
            <a:ext cx="11275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6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F5726-C3B0-B5AE-1CDB-C560716E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EADEA-2BCF-C411-B8BF-6C757FAF0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18" y="0"/>
            <a:ext cx="109083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1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8766D-F88D-CEDC-B415-6E19AA14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551B73-0D35-3B3B-9543-88D6EAE9C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7" y="0"/>
            <a:ext cx="11482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06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57139-4484-71EA-2FC9-41AD0DBC4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B0DBB8-AF12-AFF9-0FE4-CB49B2A8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27" y="0"/>
            <a:ext cx="10973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5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A51B-6E66-A9A1-22DC-7467AE82B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FBE15A-FC7C-03AB-1263-CDD90F703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7" y="0"/>
            <a:ext cx="120759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98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E8FF-1D77-011C-E767-160A21CBC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AE4CCE-DD94-8791-6F96-7CD1AE9D9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73" y="0"/>
            <a:ext cx="109428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16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2F0CE-6D01-7BA7-D70B-F3DF5C89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D42873-4F95-3E47-24B2-2A79262CB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49" y="0"/>
            <a:ext cx="11293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89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23734-D161-A19F-B066-07EF2404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6DC4E4-AD6E-E049-E12D-65F44311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133"/>
            <a:ext cx="12192000" cy="670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8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F4387-C5C6-9062-FEAF-9345EC92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05DCA-D02A-C780-1BED-44AAF692A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34" y="0"/>
            <a:ext cx="108703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34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9E423-048D-3803-3C67-43361861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0DD745-78C9-8C6F-8747-C8F3F6851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35" y="0"/>
            <a:ext cx="114659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048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E65D-C3A4-6062-1528-B552F5DC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3D98B-9C5A-3375-D588-C95220C26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27" y="0"/>
            <a:ext cx="10973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10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A96D-E01B-2201-012C-21D009AE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2BA873-24F4-5D61-34C4-5078EE26E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57" y="0"/>
            <a:ext cx="110640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96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4791-D8B7-2B16-39D2-92C0DAD2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1BC5B-461C-682A-C3FC-AB1075D33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53"/>
            <a:ext cx="12192000" cy="668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61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CC1FE-8347-C899-E043-94CD74E5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272371-79E3-3529-BEBA-45D1EBE0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1" y="0"/>
            <a:ext cx="120061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91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10327-6BCA-2EFF-2C15-48AD6CF1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ADBDC9-9E07-DC4C-10BC-343CAA9FA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04"/>
            <a:ext cx="12192000" cy="681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93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0DE3-40F1-73FE-1FF1-91C8C9E4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7BA145-9991-7694-3007-2EB41449A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180808"/>
            <a:ext cx="12179926" cy="649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12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76CB6-7CC2-C137-EF7F-A27FE446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4A34BF-25FF-29FD-42C3-2E742D503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9" y="196684"/>
            <a:ext cx="12103722" cy="64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51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7BD41-0172-5DD9-C047-4BB856A72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CE669-B09A-9E09-E3F8-E013C84B7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4" y="0"/>
            <a:ext cx="12109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87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BEB6-6C89-3009-A9EC-A4181D39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3DDFAD-004D-EC4D-8A27-3BBA370DE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50" y="114129"/>
            <a:ext cx="11646499" cy="662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44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5BAFF-1F27-D5BD-A1A6-64E46B204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83B254-60B8-32DC-3D65-D47127F4C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52" y="149056"/>
            <a:ext cx="11570295" cy="655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37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02E1-0254-E656-2468-C61D5178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923069-3AE8-D9C5-B719-CA4726423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24944" cy="675741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5BD8E28-7151-1E97-9907-7A7F2C5BB587}"/>
              </a:ext>
            </a:extLst>
          </p:cNvPr>
          <p:cNvSpPr/>
          <p:nvPr/>
        </p:nvSpPr>
        <p:spPr>
          <a:xfrm>
            <a:off x="8229600" y="438912"/>
            <a:ext cx="3493008" cy="20939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Configuration for multiple LLM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932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0C53E-A46F-0973-B083-3DBE1CE56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E6D7B5-BFE9-6EC0-42B3-4E51E9918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9399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7AABBB0-9C10-BB8A-577C-EA38834CB56C}"/>
              </a:ext>
            </a:extLst>
          </p:cNvPr>
          <p:cNvSpPr/>
          <p:nvPr/>
        </p:nvSpPr>
        <p:spPr>
          <a:xfrm>
            <a:off x="8037576" y="329184"/>
            <a:ext cx="3483864" cy="17739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Controller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766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506B6-EE4D-D90F-62D3-C3CA6A65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ABD26F-7C39-2D77-BD2F-F2213757A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215735"/>
            <a:ext cx="12179926" cy="6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00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09ED6-EB37-B9EB-352B-11905CBD6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30CAC-CCFF-4C44-951B-202EFD322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339566"/>
            <a:ext cx="12179926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109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2CFE-620C-D3C4-F95E-B15241BB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20FD08-F6AF-93E1-A702-450B25B45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133180"/>
            <a:ext cx="12179926" cy="659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53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A5B2-F9C3-8EC2-0381-A916CB3D0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64B444-6402-04ED-1CD8-7CEB9B9C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301464"/>
            <a:ext cx="12179926" cy="625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3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00E4A-E4A5-3311-2051-FAE90E511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0D8835-DEA7-2339-0897-78B92D1ED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9" y="218910"/>
            <a:ext cx="12078321" cy="642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20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Learning path: from LLM basics to Spring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New student-training section • appended to the original 33-slide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474720" cy="141732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64008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F8F6FF"/>
                </a:solidFill>
                <a:latin typeface="Aptos"/>
              </a:defRPr>
            </a:pPr>
            <a:r>
              <a:t>01  UNDERSTAND</a:t>
            </a:r>
          </a:p>
          <a:p>
            <a:pPr>
              <a:spcAft>
                <a:spcPts val="500"/>
              </a:spcAft>
              <a:defRPr sz="1800" b="1">
                <a:solidFill>
                  <a:srgbClr val="F8F6FF"/>
                </a:solidFill>
                <a:latin typeface="Aptos"/>
              </a:defRPr>
            </a:pPr>
            <a:r>
              <a:t>GenAI, LLMs, tokens, 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74720" cy="141732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64008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F8F6FF"/>
                </a:solidFill>
                <a:latin typeface="Aptos"/>
              </a:defRPr>
            </a:pPr>
            <a:r>
              <a:t>02  CONNECT</a:t>
            </a:r>
          </a:p>
          <a:p>
            <a:pPr>
              <a:spcAft>
                <a:spcPts val="500"/>
              </a:spcAft>
              <a:defRPr sz="1800" b="1">
                <a:solidFill>
                  <a:srgbClr val="F8F6FF"/>
                </a:solidFill>
                <a:latin typeface="Aptos"/>
              </a:defRPr>
            </a:pPr>
            <a:r>
              <a:t>OpenAI API and Ollama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74519"/>
            <a:ext cx="3474720" cy="141732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64008" rtlCol="0" anchor="ctr"/>
          <a:lstStyle/>
          <a:p>
            <a:pPr algn="ctr">
              <a:spcAft>
                <a:spcPts val="500"/>
              </a:spcAft>
              <a:defRPr sz="1800" b="1">
                <a:solidFill>
                  <a:srgbClr val="F8F6FF"/>
                </a:solidFill>
                <a:latin typeface="Aptos"/>
              </a:defRPr>
            </a:pPr>
            <a:r>
              <a:t>03  BUILD</a:t>
            </a:r>
          </a:p>
          <a:p>
            <a:pPr>
              <a:spcAft>
                <a:spcPts val="500"/>
              </a:spcAft>
              <a:defRPr sz="1800" b="1">
                <a:solidFill>
                  <a:srgbClr val="F8F6FF"/>
                </a:solidFill>
                <a:latin typeface="Aptos"/>
              </a:defRPr>
            </a:pPr>
            <a:r>
              <a:t>Spring Boot REST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10607040" cy="1325880"/>
          </a:xfrm>
          <a:prstGeom prst="roundRect">
            <a:avLst/>
          </a:prstGeom>
          <a:solidFill>
            <a:srgbClr val="120A23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64008" rtlCol="0" anchor="ctr"/>
          <a:lstStyle/>
          <a:p>
            <a:pPr algn="ctr">
              <a:spcAft>
                <a:spcPts val="500"/>
              </a:spcAft>
              <a:defRPr sz="2000" b="1">
                <a:solidFill>
                  <a:srgbClr val="EBC628"/>
                </a:solidFill>
                <a:latin typeface="Aptos"/>
              </a:defRPr>
            </a:pPr>
            <a:r>
              <a:t>By the end, students should be able to explain the LLM request lifecycle, configure a cloud or local model, write a safe prompt, expose a REST endpoint, and test the result.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1. What is Generative 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Generative AI creates new content from patterns learned during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It can generate text, code, summaries, explanations, structured output, and (with suitable models) images, audio, or other media.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A Large Language Model (LLM) predicts likely next tokens based on its input and learned parameters.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An LLM response is generated—not guaranteed to be true. It can make mistakes or invent unsupported details.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Traditional software follows explicit rules; GenAI adds flexible language understanding and generation.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Use cases: tutoring, customer support, document summarization, coding assistance, classification, and drafting.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2. How an LLM request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A simplified lifecycle for a chat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1. Application builds a message or prompt with instructions and user input.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2. Provider receives the request along with model and generation settings.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3. Text is tokenized; the model computes a likely continuation using its learned weights.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4. Decoding settings influence which tokens are selected and how much output is produced.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5. The application receives text plus metadata such as finish reason and token usage (when available).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6. The application validates, displays, logs safely, or uses the answer in the next workflow step.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3. Core LLM vocabulary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Students should be comfortable with these terms before writing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Token: a chunk of text processed by the model; not always equal to one word.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Context window: the amount of input and output the model can handle in one request.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Prompt: instructions, context, examples, and the task supplied to the model.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Inference: running a trained model to produce an output; it is different from training.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Multimodal: a model or system that can process more than one modality, such as text and images.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Latency, throughput, and cost: practical measures for evaluating an LLM-powered application.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4. OpenAI vs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Two ways to provide a chat model to a Spring AI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49240" cy="361188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64008" rtlCol="0" anchor="ctr"/>
          <a:lstStyle/>
          <a:p>
            <a:pPr algn="ctr"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OPENAI (CLOUD API)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Hosted model accessed over HTTPS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Requires an API key and network access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Model availability, limits, and pricing depend on account and model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Useful when you need hosted capabilities and managed infrastructure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49240" cy="361188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64008" rtlCol="0" anchor="ctr"/>
          <a:lstStyle/>
          <a:p>
            <a:pPr algn="ctr"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OLLAMA (LOCAL / SELF-HOSTED)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Runs supported models on your machine or server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Download a model and call a local HTTP endpoint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Hardware, RAM/VRAM, and model size affect speed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• Useful for local experimentation, offline workflows, and data-control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241280" cy="502920"/>
          </a:xfrm>
          <a:prstGeom prst="rect">
            <a:avLst/>
          </a:prstGeom>
          <a:noFill/>
        </p:spPr>
        <p:txBody>
          <a:bodyPr wrap="square" lIns="128016" tIns="96012" rIns="128016" bIns="6400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BC628"/>
                </a:solidFill>
                <a:latin typeface="Aptos"/>
              </a:defRPr>
            </a:pPr>
            <a:r>
              <a:t>Spring AI provides a common programming style; provider configuration and model capabilities still differ.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5. Choose the right provider for the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There is no universal winner—evaluate the use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Quality: test the actual tasks, languages, formats, and edge cases your students need.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Privacy: determine what data leaves the machine and review provider retention and contractual terms.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Cost: estimate input/output token usage for hosted APIs; include hardware and operations for local hosting.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Performance: measure time to first token, total response time, concurrency, and resource use.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Operations: plan API-key rotation, model updates, availability, monitoring, and fallback behavior.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Fair comparison: use the same test prompts, evaluation criteria, and safety checks for each model.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6. Prompt engineering essentials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A useful prompt is specific, contextual, and testable.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Role / goal: state what the assistant should do and for whom.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Context: include only the relevant facts or source text needed for the task.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Constraints: define scope, tone, length, language, and what to do when information is missing.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Output format: ask for a table, numbered list, JSON object, or a fixed set of fields when appropriate.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Examples: show one or two input/output examples for tasks with a precise expected pattern.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Iteration: change one prompt element at a time and compare results against a rubric.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7. Prompt example: vague vs 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Teach students to specify audience, task, constraints, and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7543800" cy="4343400"/>
          </a:xfrm>
          <a:prstGeom prst="roundRect">
            <a:avLst/>
          </a:prstGeom>
          <a:solidFill>
            <a:srgbClr val="120A23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r>
              <a:t>// Vague prompt</a:t>
            </a:r>
          </a:p>
          <a:p>
            <a:pPr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r>
              <a:t>"Explain AI."</a:t>
            </a:r>
          </a:p>
          <a:p>
            <a:pPr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r>
              <a:t>// Better prompt</a:t>
            </a:r>
          </a:p>
          <a:p>
            <a:pPr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r>
              <a:t>"You are a beginner-friendly tutor. Explain</a:t>
            </a:r>
          </a:p>
          <a:p>
            <a:pPr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r>
              <a:t>what an LLM is to a first-year BCA student.</a:t>
            </a:r>
          </a:p>
          <a:p>
            <a:pPr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r>
              <a:t>Use simple English, one everyday analogy,</a:t>
            </a:r>
          </a:p>
          <a:p>
            <a:pPr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r>
              <a:t>three key terms, and a 5-question quiz.</a:t>
            </a:r>
          </a:p>
          <a:p>
            <a:pPr>
              <a:spcAft>
                <a:spcPts val="500"/>
              </a:spcAft>
              <a:defRPr sz="1600" b="0">
                <a:solidFill>
                  <a:srgbClr val="DFF5FF"/>
                </a:solidFill>
                <a:latin typeface="Consolas"/>
              </a:defRPr>
            </a:pPr>
            <a:r>
              <a:t>If a claim is uncertain, say so."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74519"/>
            <a:ext cx="3383280" cy="434340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500" b="0">
                <a:solidFill>
                  <a:srgbClr val="F8F6FF"/>
                </a:solidFill>
                <a:latin typeface="Aptos"/>
              </a:defRPr>
            </a:pPr>
            <a:r>
              <a:t>Discuss: Who is the audience? What should the answer contain? What limits and quality checks are explicit?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8. Generation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Parameters guide generation; supported options vary by model and provider.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temperature: lower values tend to be more predictable; higher values allow more variation.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top_p: nucleus sampling; limits token choices to a probability mass. Usually tune temperature or top_p first—not both at once.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max output tokens: caps the response length; it does not guarantee the model will use the full limit.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stop sequences: optional strings that can stop generation when supported.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seed: may support more repeatable outputs for some models, but identical output is not guaranteed across all systems.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Important: a setting may be unsupported, ignored, or behave differently across providers/models. Check documentation.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9. OpenAI setup with Spring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Keep secrets outside source code; use a model supported by your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7543800" cy="4343400"/>
          </a:xfrm>
          <a:prstGeom prst="roundRect">
            <a:avLst/>
          </a:prstGeom>
          <a:solidFill>
            <a:srgbClr val="120A23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# application.properties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spring.application.name=spring-ai-openai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spring.ai.openai.api-key=${OPENAI_API_KEY}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spring.ai.openai.chat.options.model=gpt-4.1-mini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# Windows PowerShell (current terminal)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$env:OPENAI_API_KEY="your-real-key"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# Then run the Spring Boot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74519"/>
            <a:ext cx="3383280" cy="434340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500" b="0">
                <a:solidFill>
                  <a:srgbClr val="F8F6FF"/>
                </a:solidFill>
                <a:latin typeface="Aptos"/>
              </a:defRPr>
            </a:pPr>
            <a:r>
              <a:t>Before running: add the Spring AI OpenAI starter compatible with your Spring AI release. Never commit a real key to Git or place it in screenshots.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10. Simple OpenAI chat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A minimal controller using Spring AI ChatClient.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7543800" cy="4343400"/>
          </a:xfrm>
          <a:prstGeom prst="roundRect">
            <a:avLst/>
          </a:prstGeom>
          <a:solidFill>
            <a:srgbClr val="120A23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package com.example.controller;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import org.springframework.ai.chat.client.ChatClient;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import org.springframework.web.bind.annotation.*;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@RestController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@RequestMapping("/api/ai")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public class AiController {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private final ChatClient chatClient;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public AiController(ChatClient.Builder builder) {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    this.chatClient = builder.build();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@GetMapping("/chat")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public String chat(@RequestParam String message) {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    return chatClient.prompt()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        .user(message)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        .call()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        .content();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500"/>
              </a:spcAft>
              <a:defRPr sz="1200" b="0">
                <a:solidFill>
                  <a:srgbClr val="DFF5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74519"/>
            <a:ext cx="3383280" cy="434340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500" b="0">
                <a:solidFill>
                  <a:srgbClr val="F8F6FF"/>
                </a:solidFill>
                <a:latin typeface="Aptos"/>
              </a:defRPr>
            </a:pPr>
            <a:r>
              <a:t>Test in a browser or Postman: GET http://localhost:8080/api/ai/chat?message=Explain%20LLMs</a:t>
            </a:r>
          </a:p>
          <a:p>
            <a:pPr>
              <a:spcAft>
                <a:spcPts val="500"/>
              </a:spcAft>
              <a:defRPr sz="1500" b="0">
                <a:solidFill>
                  <a:srgbClr val="F8F6F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F8F6FF"/>
                </a:solidFill>
                <a:latin typeface="Aptos"/>
              </a:defRPr>
            </a:pPr>
            <a:r>
              <a:t>For production, prefer POST with a request DTO, validation, and error handling.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11. Run a model with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Local model workflow (commands may vary by OS/model).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7543800" cy="4343400"/>
          </a:xfrm>
          <a:prstGeom prst="roundRect">
            <a:avLst/>
          </a:prstGeom>
          <a:solidFill>
            <a:srgbClr val="120A23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# 1. Install Ollama from the official site</a:t>
            </a:r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# 2. Download a model</a:t>
            </a:r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ollama pull llama3.2</a:t>
            </a:r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# 3. Confirm downloaded models</a:t>
            </a:r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ollama list</a:t>
            </a:r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# 4. Try an interactive prompt</a:t>
            </a:r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ollama run llama3.2</a:t>
            </a:r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# 5. Local API default endpoint</a:t>
            </a:r>
          </a:p>
          <a:p>
            <a:pPr>
              <a:spcAft>
                <a:spcPts val="500"/>
              </a:spcAft>
              <a:defRPr sz="1500" b="0">
                <a:solidFill>
                  <a:srgbClr val="DFF5FF"/>
                </a:solidFill>
                <a:latin typeface="Consolas"/>
              </a:defRPr>
            </a:pPr>
            <a:r>
              <a:t>http://localhost:11434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74519"/>
            <a:ext cx="3383280" cy="434340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500" b="0">
                <a:solidFill>
                  <a:srgbClr val="F8F6FF"/>
                </a:solidFill>
                <a:latin typeface="Aptos"/>
              </a:defRPr>
            </a:pPr>
            <a:r>
              <a:t>The model must be downloaded and available to Ollama. Larger models generally require more memory. Verify the chosen model tag with `ollama list`.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12. Configure Spring AI for Ollama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Use the Ollama starter that matches your Spring AI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7543800" cy="4343400"/>
          </a:xfrm>
          <a:prstGeom prst="roundRect">
            <a:avLst/>
          </a:prstGeom>
          <a:solidFill>
            <a:srgbClr val="120A23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r>
              <a:t># application.properties</a:t>
            </a:r>
          </a:p>
          <a:p>
            <a:pPr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r>
              <a:t>spring.application.name=spring-ai-ollama</a:t>
            </a:r>
          </a:p>
          <a:p>
            <a:pPr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r>
              <a:t>server.port=7777</a:t>
            </a:r>
          </a:p>
          <a:p>
            <a:pPr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r>
              <a:t>spring.ai.model.chat=ollama</a:t>
            </a:r>
          </a:p>
          <a:p>
            <a:pPr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r>
              <a:t>spring.ai.ollama.base-url=http://localhost:11434</a:t>
            </a:r>
          </a:p>
          <a:p>
            <a:pPr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r>
              <a:t>spring.ai.ollama.chat.options.model=llama3.2</a:t>
            </a:r>
          </a:p>
          <a:p>
            <a:pPr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endParaRPr/>
          </a:p>
          <a:p>
            <a:pPr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r>
              <a:t># Ensure Ollama is running and the model</a:t>
            </a:r>
          </a:p>
          <a:p>
            <a:pPr>
              <a:spcAft>
                <a:spcPts val="500"/>
              </a:spcAft>
              <a:defRPr sz="1300" b="0">
                <a:solidFill>
                  <a:srgbClr val="DFF5FF"/>
                </a:solidFill>
                <a:latin typeface="Consolas"/>
              </a:defRPr>
            </a:pPr>
            <a:r>
              <a:t># tag matches a model shown by: ollama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74519"/>
            <a:ext cx="3383280" cy="434340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500" b="0">
                <a:solidFill>
                  <a:srgbClr val="F8F6FF"/>
                </a:solidFill>
                <a:latin typeface="Aptos"/>
              </a:defRPr>
            </a:pPr>
            <a:r>
              <a:t>If IntelliJ flags a property, check the Spring AI version, starter dependency, and configuration metadata. Property names can differ between releases; do not mix examples from different versions.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13. Use the same controller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Provider configuration changes; application logic can often remain similar.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7543800" cy="4343400"/>
          </a:xfrm>
          <a:prstGeom prst="roundRect">
            <a:avLst/>
          </a:prstGeom>
          <a:solidFill>
            <a:srgbClr val="120A23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@GetMapping("/ollama")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public String askLocalModel(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        @RequestParam String message) {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    return chatClient.prompt()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        .system("You are a helpful tutor. " +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                "Use clear beginner-friendly language.")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        .user(message)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        .call()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        .content();</a:t>
            </a:r>
          </a:p>
          <a:p>
            <a:pPr>
              <a:spcAft>
                <a:spcPts val="500"/>
              </a:spcAft>
              <a:defRPr sz="1400" b="0">
                <a:solidFill>
                  <a:srgbClr val="DFF5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874519"/>
            <a:ext cx="3383280" cy="434340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50876" rIns="201168" bIns="100584" rtlCol="0" anchor="ctr"/>
          <a:lstStyle/>
          <a:p>
            <a:pPr algn="ctr">
              <a:spcAft>
                <a:spcPts val="500"/>
              </a:spcAft>
              <a:defRPr sz="1500" b="0">
                <a:solidFill>
                  <a:srgbClr val="F8F6FF"/>
                </a:solidFill>
                <a:latin typeface="Aptos"/>
              </a:defRPr>
            </a:pPr>
            <a:r>
              <a:t>This example assumes the application has selected/configured the Ollama ChatModel and a ChatClient.Builder bean. Check your project’s auto-configuration and avoid creating conflicting provider beans.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14. Chat messages and conversation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A chat model does not automatically remember every past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System message: high-level behavior and constraints for the assistant.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User message: the current question or task from the user.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Assistant message: a previous model response, if included in the conversation history.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For multi-turn chat, explicitly manage conversation history or use a supported memory mechanism.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Keep only relevant history; long conversations consume context and may increase cost/latency.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Do not treat prompt instructions as a security boundary. Validate inputs and enforce permissions in code.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15. Streaming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Streaming displays partial output as it is generated.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Benefits: lower perceived latency and a more interactive user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In Spring AI, ChatClient supports streaming APIs in compatible versions; a controller may expose Server-Sent Events (SSE).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Frontend clients should handle chunks, connection closure, cancellation, and error events.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Streaming output is partial: do not assume the final answer is complete until the stream ends.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Apply output moderation and sensitive-data handling to the stream where appropriate.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Exercise: implement a streaming endpoint and compare time-to-first-token with a normal call.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16. Structured output and tool calling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Move from free-form text toward reliable application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Structured output: request a defined schema or map the answer into a typed DTO when supported.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Validate model-produced fields; JSON-looking text is not automatically valid or trustworthy JSON.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Tool/function calling lets a model request an application-defined operation with structured arguments.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The application—not the model—must authorize and execute a tool call.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Use allowlists, argument validation, timeouts, audit logs, and confirmation for consequential actions.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Example classroom tool: calculate tax from validated numeric inputs (no external side effects).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17. Responsible AI and security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Safe defaults are part of application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Never hard-code API keys in Java files, Git repositories, slides, screenshots, or public demos.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Use environment variables or a secrets manager; rotate a key immediately if it is exposed.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Do not send passwords, payment details, or unnecessary personal data to a model.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Treat user prompts and retrieved documents as untrusted input; guard against prompt injection.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Use server-side validation, authentication, authorization, rate limits, and request-size limits.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Explain limitations, test for bias and harmful outputs, and keep a human in the loop for high-impact decisions.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18. Troubleshooting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A short checklist for the errors students are most likely to see.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401 / authentication error: confirm the environment variable exists in the process that starts Spring Boot; check key validity and account access.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404 / model not found: verify the exact model identifier (OpenAI) or local tag (Ollama).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Connection refused on port 11434: start Ollama and verify the base URL; check firewall/container networking.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Unknown configuration property: verify the Spring AI starter and version; reimport Maven and inspect the version-specific docs.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Slow response: try a smaller local model, shorten prompts, limit output tokens, and measure before optimizing.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Empty or poor answer: inspect request parameters, prompt clarity, response finish reason, and provider/model limits.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19. Student lab: build and 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Work in pairs • document the setup, test prompts, and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349240" cy="342900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64008" rtlCol="0" anchor="ctr"/>
          <a:lstStyle/>
          <a:p>
            <a:pPr algn="ctr"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TASK A — OPENAI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1. Configure the OpenAI starter and environment key.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2. Build /api/ai/chat as a REST endpoint.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3. Test 5 prompts and record latency and output quality.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4. Add validation and friendly error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349240" cy="3429000"/>
          </a:xfrm>
          <a:prstGeom prst="roundRect">
            <a:avLst/>
          </a:prstGeom>
          <a:solidFill>
            <a:srgbClr val="2D1C4B"/>
          </a:solidFill>
          <a:ln>
            <a:solidFill>
              <a:srgbClr val="4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6012" rIns="128016" bIns="64008" rtlCol="0" anchor="ctr"/>
          <a:lstStyle/>
          <a:p>
            <a:pPr algn="ctr"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TASK B — OLLAMA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1. Pull a model and confirm it runs locally.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2. Configure the Ollama starter and model tag.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3. Reuse the same test prompts.</a:t>
            </a:r>
          </a:p>
          <a:p>
            <a:pPr>
              <a:spcAft>
                <a:spcPts val="500"/>
              </a:spcAft>
              <a:defRPr sz="1600" b="0">
                <a:solidFill>
                  <a:srgbClr val="F8F6FF"/>
                </a:solidFill>
                <a:latin typeface="Aptos"/>
              </a:defRPr>
            </a:pPr>
            <a:r>
              <a:t>4. Compare speed, quality, setup, privacy, and resource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424160" cy="594360"/>
          </a:xfrm>
          <a:prstGeom prst="rect">
            <a:avLst/>
          </a:prstGeom>
          <a:noFill/>
        </p:spPr>
        <p:txBody>
          <a:bodyPr wrap="square" lIns="128016" tIns="96012" rIns="128016" bIns="6400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BC628"/>
                </a:solidFill>
                <a:latin typeface="Aptos"/>
              </a:defRPr>
            </a:pPr>
            <a:r>
              <a:t>Deliverable: a one-page comparison table plus a short reflection on which provider fits each use case.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0F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EBC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0A23"/>
                </a:solidFill>
                <a:latin typeface="Aptos Display"/>
              </a:defRPr>
            </a:pPr>
            <a:r>
              <a:t>SPRING AI • GENAI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1188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120A23"/>
                </a:solidFill>
                <a:latin typeface="Aptos"/>
              </a:defRPr>
            </a:pPr>
            <a:r>
              <a:t>STUDENT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65392"/>
            <a:ext cx="113385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3BED5"/>
                </a:solidFill>
                <a:latin typeface="Aptos"/>
              </a:defRPr>
            </a:pPr>
            <a:r>
              <a:t>Training material • Verify model names and provider settings against the versions installed in your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C628"/>
                </a:solidFill>
                <a:latin typeface="Aptos Display"/>
              </a:defRPr>
            </a:pPr>
            <a:r>
              <a:t>20. Review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3BED5"/>
                </a:solidFill>
                <a:latin typeface="Aptos"/>
              </a:defRPr>
            </a:pPr>
            <a:r>
              <a:t>Use these as a quick quiz or classroom discussion.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1. What is the difference between Generative AI and an LLM?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2. What is a token, and why does the context window matter?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3. When might OpenAI be preferable to Ollama—and when might Ollama be preferable?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4. Explain temperature and max output tokens in simple terms.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5. Why should an API key be stored outside application source code?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6. What must the application validate before executing a model-requested tool?</a:t>
            </a:r>
          </a:p>
          <a:p>
            <a:pPr>
              <a:spcAft>
                <a:spcPts val="1200"/>
              </a:spcAft>
              <a:defRPr sz="1800">
                <a:solidFill>
                  <a:srgbClr val="F8F6FF"/>
                </a:solidFill>
                <a:latin typeface="Aptos"/>
              </a:defRPr>
            </a:pPr>
            <a:r>
              <a:t>•  7. Name two causes of an Ollama connection error and two causes of a model-not-found error.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3059</Words>
  <Application>Microsoft Office PowerPoint</Application>
  <PresentationFormat>Widescreen</PresentationFormat>
  <Paragraphs>292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cloudsony9991@outlook.com</dc:creator>
  <cp:lastModifiedBy>Amitava Chatterjee</cp:lastModifiedBy>
  <cp:revision>4</cp:revision>
  <dcterms:created xsi:type="dcterms:W3CDTF">2026-10-23T06:23:01Z</dcterms:created>
  <dcterms:modified xsi:type="dcterms:W3CDTF">2026-10-24T09:35:13Z</dcterms:modified>
</cp:coreProperties>
</file>