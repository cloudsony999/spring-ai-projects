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89" r:id="rId2"/>
    <p:sldId id="290" r:id="rId3"/>
    <p:sldId id="291" r:id="rId4"/>
    <p:sldId id="292" r:id="rId5"/>
    <p:sldId id="293" r:id="rId6"/>
    <p:sldId id="294" r:id="rId7"/>
    <p:sldId id="295" r:id="rId8"/>
    <p:sldId id="256" r:id="rId9"/>
    <p:sldId id="257" r:id="rId10"/>
    <p:sldId id="296" r:id="rId11"/>
    <p:sldId id="297" r:id="rId12"/>
    <p:sldId id="298" r:id="rId13"/>
    <p:sldId id="258" r:id="rId14"/>
    <p:sldId id="259" r:id="rId15"/>
    <p:sldId id="260" r:id="rId16"/>
    <p:sldId id="261" r:id="rId17"/>
    <p:sldId id="262" r:id="rId18"/>
    <p:sldId id="263" r:id="rId19"/>
    <p:sldId id="264" r:id="rId20"/>
    <p:sldId id="265" r:id="rId21"/>
    <p:sldId id="299" r:id="rId22"/>
    <p:sldId id="300" r:id="rId23"/>
    <p:sldId id="301" r:id="rId24"/>
    <p:sldId id="302" r:id="rId25"/>
    <p:sldId id="266" r:id="rId26"/>
    <p:sldId id="267" r:id="rId27"/>
    <p:sldId id="268" r:id="rId28"/>
    <p:sldId id="269" r:id="rId29"/>
    <p:sldId id="270" r:id="rId30"/>
    <p:sldId id="271" r:id="rId31"/>
    <p:sldId id="273" r:id="rId32"/>
    <p:sldId id="272"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303" r:id="rId49"/>
    <p:sldId id="304" r:id="rId50"/>
    <p:sldId id="305" r:id="rId51"/>
    <p:sldId id="306" r:id="rId52"/>
    <p:sldId id="307" r:id="rId53"/>
    <p:sldId id="308" r:id="rId54"/>
    <p:sldId id="309" r:id="rId55"/>
    <p:sldId id="310" r:id="rId56"/>
    <p:sldId id="311"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0" d="100"/>
          <a:sy n="70" d="100"/>
        </p:scale>
        <p:origin x="5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4496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expectations. The first block gives the vocabulary (GenAI, LLM, tokens, prompts). Then we build with OpenAI (cloud) and Ollama (local) through Spring AI, and finish with advanced features.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Contrast predictive AI (classify, forecast) with generative AI (create). Stress that in this course we focus on text generation, which is what chat models do.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LLM is a very large neural network (a Transformer) trained to predict the next token. Walk through the four stages from training to your prompt.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never writes a whole answer at once. It repeats: score all possible next tokens, pick one, append it, and go again. The probabilities shown are illustrative only.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six terms appear in every API and every bill. Ask students to predict what happens when the context window is exceeded.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chat request is a list of messages with roles. The system message sets behaviour, the user message asks, the assistant message is the reply. Then cover the four techniques on the right.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decision students will face in real projects. OpenAI is the cloud example, Ollama the local one. Spring AI lets you switch with very little code change.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OpenAI exposes several model families through one API. Spring AI wraps each capability in its own model class. Model names change often, so always check the official docs for the current list.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account and key creation live. Stress that the key is a secret: environment variable first, then referenced from application.properties.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what Spring AI sends for you under the hood. Point out that the API is stateless, so the full message history is sent each time, and that usage shows the tokens you are billed for.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Ollama is the runtime, the model is the brain. Spring AI talks to a local REST server on port 11434; Ollama loads the model files and runs inference on CPU or GPU.</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students run each command. Point out that the tag after the colon selects a variant of the model.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Bigger models are usually smarter but need more memory and are slower. The RAM numbers are rough guides for 4-bit quantized models, not guarantees.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Because Ollama is just an HTTP server, any language can call it. The OpenAI-compatible endpoint means existing OpenAI client code can often be pointed at Ollama.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Options can be set globally in application.properties or per request in code. Property names follow Spring AI 1.x; check the reference docs for your version.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default system prompt gives every call the same persona. Templates with placeholders make prompts reusable and testable.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Streaming sends tokens to the client as soon as they are generated. Use curl -N to see it in the terminal.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Spring AI adds format instructions to the prompt and converts the JSON reply into your Java type. Models can still return bad JSON, so always handle errors.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RAG = Retrieval-Augmented Generation. Embeddings turn text into vectors; similar meaning means nearby vectors. We retrieve the closest chunks and give them to the LLM as context.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a checklist for the lab work and for production projects.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the five takeaways, then ask students which model they would choose for three example projects.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lab time: 60 to 90 minutes. Students can work in pairs. Exercise 5 is a good take-home challenge.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1) A token is a chunk of text; providers bill and limit by tokens. 2) Lower temperature gives more focused, repeatable answers. 3) The context window is limited, so old messages get cut off. 4) Privacy, no per-token cost, offline use, free experimentation. 5) ollama pull downloads; ollama list shows installed models. 6) .content() returns plain text; .entity(Course.class) converts the reply into a Java object.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40EF8-D901-BDBF-B6AD-C348C1BFE1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F5B212E-A3F9-818A-00D2-FBFC5574D6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F98E865-7102-F146-4251-7AAE102B56FA}"/>
              </a:ext>
            </a:extLst>
          </p:cNvPr>
          <p:cNvSpPr>
            <a:spLocks noGrp="1"/>
          </p:cNvSpPr>
          <p:nvPr>
            <p:ph type="dt" sz="half" idx="10"/>
          </p:nvPr>
        </p:nvSpPr>
        <p:spPr/>
        <p:txBody>
          <a:bodyPr/>
          <a:lstStyle/>
          <a:p>
            <a:fld id="{3618B937-9772-44E5-8171-762EAD33075A}" type="datetimeFigureOut">
              <a:rPr lang="en-IN" smtClean="0"/>
              <a:t>24-10-2026</a:t>
            </a:fld>
            <a:endParaRPr lang="en-IN" dirty="0"/>
          </a:p>
        </p:txBody>
      </p:sp>
      <p:sp>
        <p:nvSpPr>
          <p:cNvPr id="5" name="Footer Placeholder 4">
            <a:extLst>
              <a:ext uri="{FF2B5EF4-FFF2-40B4-BE49-F238E27FC236}">
                <a16:creationId xmlns:a16="http://schemas.microsoft.com/office/drawing/2014/main" id="{A5D192CB-03E7-6E76-FB94-E158DF559B9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9C5D60D-DBDC-094C-3999-C0CFF65CCBF0}"/>
              </a:ext>
            </a:extLst>
          </p:cNvPr>
          <p:cNvSpPr>
            <a:spLocks noGrp="1"/>
          </p:cNvSpPr>
          <p:nvPr>
            <p:ph type="sldNum" sz="quarter" idx="12"/>
          </p:nvPr>
        </p:nvSpPr>
        <p:spPr/>
        <p:txBody>
          <a:bodyPr/>
          <a:lstStyle/>
          <a:p>
            <a:fld id="{9C4DD7AD-9CD3-4627-87FC-96033011C11D}" type="slidenum">
              <a:rPr lang="en-IN" smtClean="0"/>
              <a:t>‹#›</a:t>
            </a:fld>
            <a:endParaRPr lang="en-IN" dirty="0"/>
          </a:p>
        </p:txBody>
      </p:sp>
    </p:spTree>
    <p:extLst>
      <p:ext uri="{BB962C8B-B14F-4D97-AF65-F5344CB8AC3E}">
        <p14:creationId xmlns:p14="http://schemas.microsoft.com/office/powerpoint/2010/main" val="1572533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81333-2C77-71F9-9CA7-8F4CFAB815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CD54EC-ADCF-41F7-A9C0-30FEAB47DE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27F5A7-5BA9-208C-E62B-46BB12FA5C3E}"/>
              </a:ext>
            </a:extLst>
          </p:cNvPr>
          <p:cNvSpPr>
            <a:spLocks noGrp="1"/>
          </p:cNvSpPr>
          <p:nvPr>
            <p:ph type="dt" sz="half" idx="10"/>
          </p:nvPr>
        </p:nvSpPr>
        <p:spPr/>
        <p:txBody>
          <a:bodyPr/>
          <a:lstStyle/>
          <a:p>
            <a:fld id="{3618B937-9772-44E5-8171-762EAD33075A}" type="datetimeFigureOut">
              <a:rPr lang="en-IN" smtClean="0"/>
              <a:t>24-10-2026</a:t>
            </a:fld>
            <a:endParaRPr lang="en-IN" dirty="0"/>
          </a:p>
        </p:txBody>
      </p:sp>
      <p:sp>
        <p:nvSpPr>
          <p:cNvPr id="5" name="Footer Placeholder 4">
            <a:extLst>
              <a:ext uri="{FF2B5EF4-FFF2-40B4-BE49-F238E27FC236}">
                <a16:creationId xmlns:a16="http://schemas.microsoft.com/office/drawing/2014/main" id="{01CA81F0-9A3D-7B95-7725-A91E9ED3A4C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B98562B-D2EE-4243-FA56-9D0FB2381368}"/>
              </a:ext>
            </a:extLst>
          </p:cNvPr>
          <p:cNvSpPr>
            <a:spLocks noGrp="1"/>
          </p:cNvSpPr>
          <p:nvPr>
            <p:ph type="sldNum" sz="quarter" idx="12"/>
          </p:nvPr>
        </p:nvSpPr>
        <p:spPr/>
        <p:txBody>
          <a:bodyPr/>
          <a:lstStyle/>
          <a:p>
            <a:fld id="{9C4DD7AD-9CD3-4627-87FC-96033011C11D}" type="slidenum">
              <a:rPr lang="en-IN" smtClean="0"/>
              <a:t>‹#›</a:t>
            </a:fld>
            <a:endParaRPr lang="en-IN" dirty="0"/>
          </a:p>
        </p:txBody>
      </p:sp>
    </p:spTree>
    <p:extLst>
      <p:ext uri="{BB962C8B-B14F-4D97-AF65-F5344CB8AC3E}">
        <p14:creationId xmlns:p14="http://schemas.microsoft.com/office/powerpoint/2010/main" val="777637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A9BA1-EBE1-BFAA-F3B5-890413D4AB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C645A5-A7C9-DF72-5983-17B1406557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2E839B-0842-6FE5-6410-8333C01B9E26}"/>
              </a:ext>
            </a:extLst>
          </p:cNvPr>
          <p:cNvSpPr>
            <a:spLocks noGrp="1"/>
          </p:cNvSpPr>
          <p:nvPr>
            <p:ph type="dt" sz="half" idx="10"/>
          </p:nvPr>
        </p:nvSpPr>
        <p:spPr/>
        <p:txBody>
          <a:bodyPr/>
          <a:lstStyle/>
          <a:p>
            <a:fld id="{3618B937-9772-44E5-8171-762EAD33075A}" type="datetimeFigureOut">
              <a:rPr lang="en-IN" smtClean="0"/>
              <a:t>24-10-2026</a:t>
            </a:fld>
            <a:endParaRPr lang="en-IN" dirty="0"/>
          </a:p>
        </p:txBody>
      </p:sp>
      <p:sp>
        <p:nvSpPr>
          <p:cNvPr id="5" name="Footer Placeholder 4">
            <a:extLst>
              <a:ext uri="{FF2B5EF4-FFF2-40B4-BE49-F238E27FC236}">
                <a16:creationId xmlns:a16="http://schemas.microsoft.com/office/drawing/2014/main" id="{672FE602-B1B1-80AB-C632-33A0134FABE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2D15EDA-45A3-392E-EAAF-5FE0991AD734}"/>
              </a:ext>
            </a:extLst>
          </p:cNvPr>
          <p:cNvSpPr>
            <a:spLocks noGrp="1"/>
          </p:cNvSpPr>
          <p:nvPr>
            <p:ph type="sldNum" sz="quarter" idx="12"/>
          </p:nvPr>
        </p:nvSpPr>
        <p:spPr/>
        <p:txBody>
          <a:bodyPr/>
          <a:lstStyle/>
          <a:p>
            <a:fld id="{9C4DD7AD-9CD3-4627-87FC-96033011C11D}" type="slidenum">
              <a:rPr lang="en-IN" smtClean="0"/>
              <a:t>‹#›</a:t>
            </a:fld>
            <a:endParaRPr lang="en-IN" dirty="0"/>
          </a:p>
        </p:txBody>
      </p:sp>
    </p:spTree>
    <p:extLst>
      <p:ext uri="{BB962C8B-B14F-4D97-AF65-F5344CB8AC3E}">
        <p14:creationId xmlns:p14="http://schemas.microsoft.com/office/powerpoint/2010/main" val="1800403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A3A33-9EF5-61AC-8CD6-6DC84BB80C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FD2389-6950-536E-EF87-8794EC4BAA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5975EE-2FC7-34D9-93AD-357EDEA1D9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F7B2CDE-4C8C-DF05-7794-66320D2A2FA4}"/>
              </a:ext>
            </a:extLst>
          </p:cNvPr>
          <p:cNvSpPr>
            <a:spLocks noGrp="1"/>
          </p:cNvSpPr>
          <p:nvPr>
            <p:ph type="dt" sz="half" idx="10"/>
          </p:nvPr>
        </p:nvSpPr>
        <p:spPr/>
        <p:txBody>
          <a:bodyPr/>
          <a:lstStyle/>
          <a:p>
            <a:fld id="{3618B937-9772-44E5-8171-762EAD33075A}" type="datetimeFigureOut">
              <a:rPr lang="en-IN" smtClean="0"/>
              <a:t>24-10-2026</a:t>
            </a:fld>
            <a:endParaRPr lang="en-IN" dirty="0"/>
          </a:p>
        </p:txBody>
      </p:sp>
      <p:sp>
        <p:nvSpPr>
          <p:cNvPr id="6" name="Footer Placeholder 5">
            <a:extLst>
              <a:ext uri="{FF2B5EF4-FFF2-40B4-BE49-F238E27FC236}">
                <a16:creationId xmlns:a16="http://schemas.microsoft.com/office/drawing/2014/main" id="{F45E3ED5-ADAA-2B7D-9095-9DF211AC638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56443F82-0CCF-D2B7-A126-1948E0CA251E}"/>
              </a:ext>
            </a:extLst>
          </p:cNvPr>
          <p:cNvSpPr>
            <a:spLocks noGrp="1"/>
          </p:cNvSpPr>
          <p:nvPr>
            <p:ph type="sldNum" sz="quarter" idx="12"/>
          </p:nvPr>
        </p:nvSpPr>
        <p:spPr/>
        <p:txBody>
          <a:bodyPr/>
          <a:lstStyle/>
          <a:p>
            <a:fld id="{9C4DD7AD-9CD3-4627-87FC-96033011C11D}" type="slidenum">
              <a:rPr lang="en-IN" smtClean="0"/>
              <a:t>‹#›</a:t>
            </a:fld>
            <a:endParaRPr lang="en-IN" dirty="0"/>
          </a:p>
        </p:txBody>
      </p:sp>
    </p:spTree>
    <p:extLst>
      <p:ext uri="{BB962C8B-B14F-4D97-AF65-F5344CB8AC3E}">
        <p14:creationId xmlns:p14="http://schemas.microsoft.com/office/powerpoint/2010/main" val="3719186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C962A-D63C-9607-3F1B-996F638E37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B3F5D7-0849-C9B3-2AD8-399E05EA24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C7BD0B-A7D0-6ACF-3B64-B7DBA0C1C8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C59D428-C748-F937-CDFE-09A9654EDD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B5962B-9A00-1D06-626E-E03F914A4D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AE5AE3F-C43D-1F76-6ACD-607B8E10D363}"/>
              </a:ext>
            </a:extLst>
          </p:cNvPr>
          <p:cNvSpPr>
            <a:spLocks noGrp="1"/>
          </p:cNvSpPr>
          <p:nvPr>
            <p:ph type="dt" sz="half" idx="10"/>
          </p:nvPr>
        </p:nvSpPr>
        <p:spPr/>
        <p:txBody>
          <a:bodyPr/>
          <a:lstStyle/>
          <a:p>
            <a:fld id="{3618B937-9772-44E5-8171-762EAD33075A}" type="datetimeFigureOut">
              <a:rPr lang="en-IN" smtClean="0"/>
              <a:t>24-10-2026</a:t>
            </a:fld>
            <a:endParaRPr lang="en-IN" dirty="0"/>
          </a:p>
        </p:txBody>
      </p:sp>
      <p:sp>
        <p:nvSpPr>
          <p:cNvPr id="8" name="Footer Placeholder 7">
            <a:extLst>
              <a:ext uri="{FF2B5EF4-FFF2-40B4-BE49-F238E27FC236}">
                <a16:creationId xmlns:a16="http://schemas.microsoft.com/office/drawing/2014/main" id="{23F93343-E5A8-D057-1D61-F879C3154163}"/>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B69FC0A2-E754-8925-8D3C-F93CBD69580F}"/>
              </a:ext>
            </a:extLst>
          </p:cNvPr>
          <p:cNvSpPr>
            <a:spLocks noGrp="1"/>
          </p:cNvSpPr>
          <p:nvPr>
            <p:ph type="sldNum" sz="quarter" idx="12"/>
          </p:nvPr>
        </p:nvSpPr>
        <p:spPr/>
        <p:txBody>
          <a:bodyPr/>
          <a:lstStyle/>
          <a:p>
            <a:fld id="{9C4DD7AD-9CD3-4627-87FC-96033011C11D}" type="slidenum">
              <a:rPr lang="en-IN" smtClean="0"/>
              <a:t>‹#›</a:t>
            </a:fld>
            <a:endParaRPr lang="en-IN" dirty="0"/>
          </a:p>
        </p:txBody>
      </p:sp>
    </p:spTree>
    <p:extLst>
      <p:ext uri="{BB962C8B-B14F-4D97-AF65-F5344CB8AC3E}">
        <p14:creationId xmlns:p14="http://schemas.microsoft.com/office/powerpoint/2010/main" val="226229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77CF9-E964-C5D2-798D-F23E86EE2E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6C6641-B91A-8392-DAA5-0476907954E2}"/>
              </a:ext>
            </a:extLst>
          </p:cNvPr>
          <p:cNvSpPr>
            <a:spLocks noGrp="1"/>
          </p:cNvSpPr>
          <p:nvPr>
            <p:ph type="dt" sz="half" idx="10"/>
          </p:nvPr>
        </p:nvSpPr>
        <p:spPr/>
        <p:txBody>
          <a:bodyPr/>
          <a:lstStyle/>
          <a:p>
            <a:fld id="{3618B937-9772-44E5-8171-762EAD33075A}" type="datetimeFigureOut">
              <a:rPr lang="en-IN" smtClean="0"/>
              <a:t>24-10-2026</a:t>
            </a:fld>
            <a:endParaRPr lang="en-IN" dirty="0"/>
          </a:p>
        </p:txBody>
      </p:sp>
      <p:sp>
        <p:nvSpPr>
          <p:cNvPr id="4" name="Footer Placeholder 3">
            <a:extLst>
              <a:ext uri="{FF2B5EF4-FFF2-40B4-BE49-F238E27FC236}">
                <a16:creationId xmlns:a16="http://schemas.microsoft.com/office/drawing/2014/main" id="{EA141E7B-1264-24ED-5B41-96D0820391F6}"/>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9C3DC016-E10F-0B9D-B8A0-380E5EEEFC4B}"/>
              </a:ext>
            </a:extLst>
          </p:cNvPr>
          <p:cNvSpPr>
            <a:spLocks noGrp="1"/>
          </p:cNvSpPr>
          <p:nvPr>
            <p:ph type="sldNum" sz="quarter" idx="12"/>
          </p:nvPr>
        </p:nvSpPr>
        <p:spPr/>
        <p:txBody>
          <a:bodyPr/>
          <a:lstStyle/>
          <a:p>
            <a:fld id="{9C4DD7AD-9CD3-4627-87FC-96033011C11D}" type="slidenum">
              <a:rPr lang="en-IN" smtClean="0"/>
              <a:t>‹#›</a:t>
            </a:fld>
            <a:endParaRPr lang="en-IN" dirty="0"/>
          </a:p>
        </p:txBody>
      </p:sp>
    </p:spTree>
    <p:extLst>
      <p:ext uri="{BB962C8B-B14F-4D97-AF65-F5344CB8AC3E}">
        <p14:creationId xmlns:p14="http://schemas.microsoft.com/office/powerpoint/2010/main" val="4156730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716F98-C5ED-8D72-CF88-0D1ED6FEBF53}"/>
              </a:ext>
            </a:extLst>
          </p:cNvPr>
          <p:cNvSpPr>
            <a:spLocks noGrp="1"/>
          </p:cNvSpPr>
          <p:nvPr>
            <p:ph type="dt" sz="half" idx="10"/>
          </p:nvPr>
        </p:nvSpPr>
        <p:spPr/>
        <p:txBody>
          <a:bodyPr/>
          <a:lstStyle/>
          <a:p>
            <a:fld id="{3618B937-9772-44E5-8171-762EAD33075A}" type="datetimeFigureOut">
              <a:rPr lang="en-IN" smtClean="0"/>
              <a:t>24-10-2026</a:t>
            </a:fld>
            <a:endParaRPr lang="en-IN" dirty="0"/>
          </a:p>
        </p:txBody>
      </p:sp>
      <p:sp>
        <p:nvSpPr>
          <p:cNvPr id="3" name="Footer Placeholder 2">
            <a:extLst>
              <a:ext uri="{FF2B5EF4-FFF2-40B4-BE49-F238E27FC236}">
                <a16:creationId xmlns:a16="http://schemas.microsoft.com/office/drawing/2014/main" id="{28F38798-7A61-4788-BCCB-419CAC63674C}"/>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D48744B7-BD02-6F4E-38DF-6631CB7B4917}"/>
              </a:ext>
            </a:extLst>
          </p:cNvPr>
          <p:cNvSpPr>
            <a:spLocks noGrp="1"/>
          </p:cNvSpPr>
          <p:nvPr>
            <p:ph type="sldNum" sz="quarter" idx="12"/>
          </p:nvPr>
        </p:nvSpPr>
        <p:spPr/>
        <p:txBody>
          <a:bodyPr/>
          <a:lstStyle/>
          <a:p>
            <a:fld id="{9C4DD7AD-9CD3-4627-87FC-96033011C11D}" type="slidenum">
              <a:rPr lang="en-IN" smtClean="0"/>
              <a:t>‹#›</a:t>
            </a:fld>
            <a:endParaRPr lang="en-IN" dirty="0"/>
          </a:p>
        </p:txBody>
      </p:sp>
    </p:spTree>
    <p:extLst>
      <p:ext uri="{BB962C8B-B14F-4D97-AF65-F5344CB8AC3E}">
        <p14:creationId xmlns:p14="http://schemas.microsoft.com/office/powerpoint/2010/main" val="3783961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8165A-1FA6-5F5D-1385-9481538AB0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7EA18F1-6EBE-E3B5-8537-970DDD3672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849573-6AF0-B51A-F829-8887C3499A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7C9567-AC06-E83D-1148-0DCFBA069D9B}"/>
              </a:ext>
            </a:extLst>
          </p:cNvPr>
          <p:cNvSpPr>
            <a:spLocks noGrp="1"/>
          </p:cNvSpPr>
          <p:nvPr>
            <p:ph type="dt" sz="half" idx="10"/>
          </p:nvPr>
        </p:nvSpPr>
        <p:spPr/>
        <p:txBody>
          <a:bodyPr/>
          <a:lstStyle/>
          <a:p>
            <a:fld id="{3618B937-9772-44E5-8171-762EAD33075A}" type="datetimeFigureOut">
              <a:rPr lang="en-IN" smtClean="0"/>
              <a:t>24-10-2026</a:t>
            </a:fld>
            <a:endParaRPr lang="en-IN" dirty="0"/>
          </a:p>
        </p:txBody>
      </p:sp>
      <p:sp>
        <p:nvSpPr>
          <p:cNvPr id="6" name="Footer Placeholder 5">
            <a:extLst>
              <a:ext uri="{FF2B5EF4-FFF2-40B4-BE49-F238E27FC236}">
                <a16:creationId xmlns:a16="http://schemas.microsoft.com/office/drawing/2014/main" id="{8C610944-6179-20FF-4F48-9EF59204064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33CA4DD-F7FA-CDFF-6D91-24450739A42D}"/>
              </a:ext>
            </a:extLst>
          </p:cNvPr>
          <p:cNvSpPr>
            <a:spLocks noGrp="1"/>
          </p:cNvSpPr>
          <p:nvPr>
            <p:ph type="sldNum" sz="quarter" idx="12"/>
          </p:nvPr>
        </p:nvSpPr>
        <p:spPr/>
        <p:txBody>
          <a:bodyPr/>
          <a:lstStyle/>
          <a:p>
            <a:fld id="{9C4DD7AD-9CD3-4627-87FC-96033011C11D}" type="slidenum">
              <a:rPr lang="en-IN" smtClean="0"/>
              <a:t>‹#›</a:t>
            </a:fld>
            <a:endParaRPr lang="en-IN" dirty="0"/>
          </a:p>
        </p:txBody>
      </p:sp>
    </p:spTree>
    <p:extLst>
      <p:ext uri="{BB962C8B-B14F-4D97-AF65-F5344CB8AC3E}">
        <p14:creationId xmlns:p14="http://schemas.microsoft.com/office/powerpoint/2010/main" val="3813419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62393-15EB-525D-0167-B8165BCE9E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978A745-BECE-7F5B-E0E2-D1E8286326B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1A85DC3D-533F-54D4-074E-9D07F0C6CC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E2167A-F1D5-90D6-F90A-148CF0E1E58C}"/>
              </a:ext>
            </a:extLst>
          </p:cNvPr>
          <p:cNvSpPr>
            <a:spLocks noGrp="1"/>
          </p:cNvSpPr>
          <p:nvPr>
            <p:ph type="dt" sz="half" idx="10"/>
          </p:nvPr>
        </p:nvSpPr>
        <p:spPr/>
        <p:txBody>
          <a:bodyPr/>
          <a:lstStyle/>
          <a:p>
            <a:fld id="{3618B937-9772-44E5-8171-762EAD33075A}" type="datetimeFigureOut">
              <a:rPr lang="en-IN" smtClean="0"/>
              <a:t>24-10-2026</a:t>
            </a:fld>
            <a:endParaRPr lang="en-IN" dirty="0"/>
          </a:p>
        </p:txBody>
      </p:sp>
      <p:sp>
        <p:nvSpPr>
          <p:cNvPr id="6" name="Footer Placeholder 5">
            <a:extLst>
              <a:ext uri="{FF2B5EF4-FFF2-40B4-BE49-F238E27FC236}">
                <a16:creationId xmlns:a16="http://schemas.microsoft.com/office/drawing/2014/main" id="{70A93866-F21E-74EC-43A7-6734A4FAC48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29D09AC-7144-0944-DE3E-51FE36E640AD}"/>
              </a:ext>
            </a:extLst>
          </p:cNvPr>
          <p:cNvSpPr>
            <a:spLocks noGrp="1"/>
          </p:cNvSpPr>
          <p:nvPr>
            <p:ph type="sldNum" sz="quarter" idx="12"/>
          </p:nvPr>
        </p:nvSpPr>
        <p:spPr/>
        <p:txBody>
          <a:bodyPr/>
          <a:lstStyle/>
          <a:p>
            <a:fld id="{9C4DD7AD-9CD3-4627-87FC-96033011C11D}" type="slidenum">
              <a:rPr lang="en-IN" smtClean="0"/>
              <a:t>‹#›</a:t>
            </a:fld>
            <a:endParaRPr lang="en-IN" dirty="0"/>
          </a:p>
        </p:txBody>
      </p:sp>
    </p:spTree>
    <p:extLst>
      <p:ext uri="{BB962C8B-B14F-4D97-AF65-F5344CB8AC3E}">
        <p14:creationId xmlns:p14="http://schemas.microsoft.com/office/powerpoint/2010/main" val="2381752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8E188-6BA4-8EAA-D540-893E05F9C4A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3C63CD-6B88-5F58-EEBE-4E0E081BFD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0CDA70-0436-EE15-9987-B5BEB4C778BC}"/>
              </a:ext>
            </a:extLst>
          </p:cNvPr>
          <p:cNvSpPr>
            <a:spLocks noGrp="1"/>
          </p:cNvSpPr>
          <p:nvPr>
            <p:ph type="dt" sz="half" idx="10"/>
          </p:nvPr>
        </p:nvSpPr>
        <p:spPr/>
        <p:txBody>
          <a:bodyPr/>
          <a:lstStyle/>
          <a:p>
            <a:fld id="{3618B937-9772-44E5-8171-762EAD33075A}" type="datetimeFigureOut">
              <a:rPr lang="en-IN" smtClean="0"/>
              <a:t>24-10-2026</a:t>
            </a:fld>
            <a:endParaRPr lang="en-IN" dirty="0"/>
          </a:p>
        </p:txBody>
      </p:sp>
      <p:sp>
        <p:nvSpPr>
          <p:cNvPr id="5" name="Footer Placeholder 4">
            <a:extLst>
              <a:ext uri="{FF2B5EF4-FFF2-40B4-BE49-F238E27FC236}">
                <a16:creationId xmlns:a16="http://schemas.microsoft.com/office/drawing/2014/main" id="{498BEB9E-E500-D129-DDDE-6D93C1F1D61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5D281BC-8332-35FB-33EB-451E46ABFB01}"/>
              </a:ext>
            </a:extLst>
          </p:cNvPr>
          <p:cNvSpPr>
            <a:spLocks noGrp="1"/>
          </p:cNvSpPr>
          <p:nvPr>
            <p:ph type="sldNum" sz="quarter" idx="12"/>
          </p:nvPr>
        </p:nvSpPr>
        <p:spPr/>
        <p:txBody>
          <a:bodyPr/>
          <a:lstStyle/>
          <a:p>
            <a:fld id="{9C4DD7AD-9CD3-4627-87FC-96033011C11D}" type="slidenum">
              <a:rPr lang="en-IN" smtClean="0"/>
              <a:t>‹#›</a:t>
            </a:fld>
            <a:endParaRPr lang="en-IN" dirty="0"/>
          </a:p>
        </p:txBody>
      </p:sp>
    </p:spTree>
    <p:extLst>
      <p:ext uri="{BB962C8B-B14F-4D97-AF65-F5344CB8AC3E}">
        <p14:creationId xmlns:p14="http://schemas.microsoft.com/office/powerpoint/2010/main" val="475643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1DDA7B-8801-CA9B-41CE-53D9040C7B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85B26B-5B92-D1CE-43AF-C1C90EB295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F319C2-657E-3BF7-5748-28F9C3B1FB5C}"/>
              </a:ext>
            </a:extLst>
          </p:cNvPr>
          <p:cNvSpPr>
            <a:spLocks noGrp="1"/>
          </p:cNvSpPr>
          <p:nvPr>
            <p:ph type="dt" sz="half" idx="10"/>
          </p:nvPr>
        </p:nvSpPr>
        <p:spPr/>
        <p:txBody>
          <a:bodyPr/>
          <a:lstStyle/>
          <a:p>
            <a:fld id="{3618B937-9772-44E5-8171-762EAD33075A}" type="datetimeFigureOut">
              <a:rPr lang="en-IN" smtClean="0"/>
              <a:t>24-10-2026</a:t>
            </a:fld>
            <a:endParaRPr lang="en-IN" dirty="0"/>
          </a:p>
        </p:txBody>
      </p:sp>
      <p:sp>
        <p:nvSpPr>
          <p:cNvPr id="5" name="Footer Placeholder 4">
            <a:extLst>
              <a:ext uri="{FF2B5EF4-FFF2-40B4-BE49-F238E27FC236}">
                <a16:creationId xmlns:a16="http://schemas.microsoft.com/office/drawing/2014/main" id="{AFA18359-9FD6-868F-DD12-2FDB7532AE8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085B8CE-084C-A932-906F-1C20AFA5927C}"/>
              </a:ext>
            </a:extLst>
          </p:cNvPr>
          <p:cNvSpPr>
            <a:spLocks noGrp="1"/>
          </p:cNvSpPr>
          <p:nvPr>
            <p:ph type="sldNum" sz="quarter" idx="12"/>
          </p:nvPr>
        </p:nvSpPr>
        <p:spPr/>
        <p:txBody>
          <a:bodyPr/>
          <a:lstStyle/>
          <a:p>
            <a:fld id="{9C4DD7AD-9CD3-4627-87FC-96033011C11D}" type="slidenum">
              <a:rPr lang="en-IN" smtClean="0"/>
              <a:t>‹#›</a:t>
            </a:fld>
            <a:endParaRPr lang="en-IN" dirty="0"/>
          </a:p>
        </p:txBody>
      </p:sp>
    </p:spTree>
    <p:extLst>
      <p:ext uri="{BB962C8B-B14F-4D97-AF65-F5344CB8AC3E}">
        <p14:creationId xmlns:p14="http://schemas.microsoft.com/office/powerpoint/2010/main" val="1083647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8242AB-A4B8-BFD9-C6A0-499F7826D3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C05A27-CD03-1E1B-0678-FDEB078AED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CBD441-5E49-CC11-296D-0E1B0F4432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18B937-9772-44E5-8171-762EAD33075A}" type="datetimeFigureOut">
              <a:rPr lang="en-IN" smtClean="0"/>
              <a:t>24-10-2026</a:t>
            </a:fld>
            <a:endParaRPr lang="en-IN" dirty="0"/>
          </a:p>
        </p:txBody>
      </p:sp>
      <p:sp>
        <p:nvSpPr>
          <p:cNvPr id="5" name="Footer Placeholder 4">
            <a:extLst>
              <a:ext uri="{FF2B5EF4-FFF2-40B4-BE49-F238E27FC236}">
                <a16:creationId xmlns:a16="http://schemas.microsoft.com/office/drawing/2014/main" id="{DB2FBAF0-1999-F06D-4F43-6DB12B1CA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1AE4BD0E-8526-CDC1-C695-89DE031D23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4DD7AD-9CD3-4627-87FC-96033011C11D}" type="slidenum">
              <a:rPr lang="en-IN" smtClean="0"/>
              <a:t>‹#›</a:t>
            </a:fld>
            <a:endParaRPr lang="en-IN" dirty="0"/>
          </a:p>
        </p:txBody>
      </p:sp>
    </p:spTree>
    <p:extLst>
      <p:ext uri="{BB962C8B-B14F-4D97-AF65-F5344CB8AC3E}">
        <p14:creationId xmlns:p14="http://schemas.microsoft.com/office/powerpoint/2010/main" val="1640436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Training Roadmap: GenAI to Spring AI</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325880"/>
            <a:ext cx="2057400" cy="3063240"/>
          </a:xfrm>
          <a:prstGeom prst="roundRect">
            <a:avLst>
              <a:gd name="adj" fmla="val 5333"/>
            </a:avLst>
          </a:prstGeom>
          <a:solidFill>
            <a:srgbClr val="2D2057"/>
          </a:solidFill>
          <a:ln>
            <a:noFill/>
          </a:ln>
        </p:spPr>
        <p:txBody>
          <a:bodyPr wrap="square" lIns="164592" tIns="109728" rIns="164592" bIns="109728" rtlCol="0" anchor="t"/>
          <a:lstStyle/>
          <a:p>
            <a:pPr algn="ctr"/>
            <a:endParaRPr/>
          </a:p>
        </p:txBody>
      </p:sp>
      <p:sp>
        <p:nvSpPr>
          <p:cNvPr id="6" name="Oval 5"/>
          <p:cNvSpPr/>
          <p:nvPr/>
        </p:nvSpPr>
        <p:spPr>
          <a:xfrm>
            <a:off x="731520" y="150876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1</a:t>
            </a:r>
          </a:p>
        </p:txBody>
      </p:sp>
      <p:sp>
        <p:nvSpPr>
          <p:cNvPr id="7" name="TextBox 6"/>
          <p:cNvSpPr txBox="1"/>
          <p:nvPr/>
        </p:nvSpPr>
        <p:spPr>
          <a:xfrm>
            <a:off x="685800" y="2286000"/>
            <a:ext cx="1783080" cy="777240"/>
          </a:xfrm>
          <a:prstGeom prst="rect">
            <a:avLst/>
          </a:prstGeom>
          <a:noFill/>
        </p:spPr>
        <p:txBody>
          <a:bodyPr wrap="square" lIns="45720" tIns="27432" rIns="45720" bIns="27432" anchor="t">
            <a:spAutoFit/>
          </a:bodyPr>
          <a:lstStyle/>
          <a:p>
            <a:pPr algn="l">
              <a:spcBef>
                <a:spcPts val="0"/>
              </a:spcBef>
              <a:spcAft>
                <a:spcPts val="0"/>
              </a:spcAft>
            </a:pPr>
            <a:r>
              <a:rPr sz="1800" b="1" i="0">
                <a:solidFill>
                  <a:srgbClr val="DFBE27"/>
                </a:solidFill>
                <a:latin typeface="Calibri"/>
              </a:rPr>
              <a:t>GenAI &amp; LLM Basics</a:t>
            </a:r>
          </a:p>
        </p:txBody>
      </p:sp>
      <p:sp>
        <p:nvSpPr>
          <p:cNvPr id="8" name="TextBox 7"/>
          <p:cNvSpPr txBox="1"/>
          <p:nvPr/>
        </p:nvSpPr>
        <p:spPr>
          <a:xfrm>
            <a:off x="685800" y="3108960"/>
            <a:ext cx="1783080" cy="118872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Tokens, context, temperature and prompts</a:t>
            </a:r>
          </a:p>
        </p:txBody>
      </p:sp>
      <p:sp>
        <p:nvSpPr>
          <p:cNvPr id="9" name="Rounded Rectangle 8"/>
          <p:cNvSpPr/>
          <p:nvPr/>
        </p:nvSpPr>
        <p:spPr>
          <a:xfrm>
            <a:off x="2807208" y="1325880"/>
            <a:ext cx="2057400" cy="3063240"/>
          </a:xfrm>
          <a:prstGeom prst="roundRect">
            <a:avLst>
              <a:gd name="adj" fmla="val 5333"/>
            </a:avLst>
          </a:prstGeom>
          <a:solidFill>
            <a:srgbClr val="2D2057"/>
          </a:solidFill>
          <a:ln>
            <a:noFill/>
          </a:ln>
        </p:spPr>
        <p:txBody>
          <a:bodyPr wrap="square" lIns="164592" tIns="109728" rIns="164592" bIns="109728" rtlCol="0" anchor="t"/>
          <a:lstStyle/>
          <a:p>
            <a:pPr algn="ctr"/>
            <a:endParaRPr/>
          </a:p>
        </p:txBody>
      </p:sp>
      <p:sp>
        <p:nvSpPr>
          <p:cNvPr id="10" name="Oval 9"/>
          <p:cNvSpPr/>
          <p:nvPr/>
        </p:nvSpPr>
        <p:spPr>
          <a:xfrm>
            <a:off x="2990088" y="150876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2</a:t>
            </a:r>
          </a:p>
        </p:txBody>
      </p:sp>
      <p:sp>
        <p:nvSpPr>
          <p:cNvPr id="11" name="TextBox 10"/>
          <p:cNvSpPr txBox="1"/>
          <p:nvPr/>
        </p:nvSpPr>
        <p:spPr>
          <a:xfrm>
            <a:off x="2944368" y="2286000"/>
            <a:ext cx="1783080" cy="777240"/>
          </a:xfrm>
          <a:prstGeom prst="rect">
            <a:avLst/>
          </a:prstGeom>
          <a:noFill/>
        </p:spPr>
        <p:txBody>
          <a:bodyPr wrap="square" lIns="45720" tIns="27432" rIns="45720" bIns="27432" anchor="t">
            <a:spAutoFit/>
          </a:bodyPr>
          <a:lstStyle/>
          <a:p>
            <a:pPr algn="l">
              <a:spcBef>
                <a:spcPts val="0"/>
              </a:spcBef>
              <a:spcAft>
                <a:spcPts val="0"/>
              </a:spcAft>
            </a:pPr>
            <a:r>
              <a:rPr sz="1800" b="1" i="0">
                <a:solidFill>
                  <a:srgbClr val="DFBE27"/>
                </a:solidFill>
                <a:latin typeface="Calibri"/>
              </a:rPr>
              <a:t>Spring AI + OpenAI</a:t>
            </a:r>
          </a:p>
        </p:txBody>
      </p:sp>
      <p:sp>
        <p:nvSpPr>
          <p:cNvPr id="12" name="TextBox 11"/>
          <p:cNvSpPr txBox="1"/>
          <p:nvPr/>
        </p:nvSpPr>
        <p:spPr>
          <a:xfrm>
            <a:off x="2944368" y="3108960"/>
            <a:ext cx="1783080" cy="118872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Call cloud models with ChatClient</a:t>
            </a:r>
          </a:p>
        </p:txBody>
      </p:sp>
      <p:sp>
        <p:nvSpPr>
          <p:cNvPr id="13" name="Rounded Rectangle 12"/>
          <p:cNvSpPr/>
          <p:nvPr/>
        </p:nvSpPr>
        <p:spPr>
          <a:xfrm>
            <a:off x="5065776" y="1325880"/>
            <a:ext cx="2057400" cy="3063240"/>
          </a:xfrm>
          <a:prstGeom prst="roundRect">
            <a:avLst>
              <a:gd name="adj" fmla="val 5333"/>
            </a:avLst>
          </a:prstGeom>
          <a:solidFill>
            <a:srgbClr val="2D2057"/>
          </a:solidFill>
          <a:ln>
            <a:noFill/>
          </a:ln>
        </p:spPr>
        <p:txBody>
          <a:bodyPr wrap="square" lIns="164592" tIns="109728" rIns="164592" bIns="109728" rtlCol="0" anchor="t"/>
          <a:lstStyle/>
          <a:p>
            <a:pPr algn="ctr"/>
            <a:endParaRPr/>
          </a:p>
        </p:txBody>
      </p:sp>
      <p:sp>
        <p:nvSpPr>
          <p:cNvPr id="14" name="Oval 13"/>
          <p:cNvSpPr/>
          <p:nvPr/>
        </p:nvSpPr>
        <p:spPr>
          <a:xfrm>
            <a:off x="5248656" y="150876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3</a:t>
            </a:r>
          </a:p>
        </p:txBody>
      </p:sp>
      <p:sp>
        <p:nvSpPr>
          <p:cNvPr id="15" name="TextBox 14"/>
          <p:cNvSpPr txBox="1"/>
          <p:nvPr/>
        </p:nvSpPr>
        <p:spPr>
          <a:xfrm>
            <a:off x="5202936" y="2286000"/>
            <a:ext cx="1783080" cy="777240"/>
          </a:xfrm>
          <a:prstGeom prst="rect">
            <a:avLst/>
          </a:prstGeom>
          <a:noFill/>
        </p:spPr>
        <p:txBody>
          <a:bodyPr wrap="square" lIns="45720" tIns="27432" rIns="45720" bIns="27432" anchor="t">
            <a:spAutoFit/>
          </a:bodyPr>
          <a:lstStyle/>
          <a:p>
            <a:pPr algn="l">
              <a:spcBef>
                <a:spcPts val="0"/>
              </a:spcBef>
              <a:spcAft>
                <a:spcPts val="0"/>
              </a:spcAft>
            </a:pPr>
            <a:r>
              <a:rPr sz="1800" b="1" i="0">
                <a:solidFill>
                  <a:srgbClr val="DFBE27"/>
                </a:solidFill>
                <a:latin typeface="Calibri"/>
              </a:rPr>
              <a:t>Local Models with Ollama</a:t>
            </a:r>
          </a:p>
        </p:txBody>
      </p:sp>
      <p:sp>
        <p:nvSpPr>
          <p:cNvPr id="16" name="TextBox 15"/>
          <p:cNvSpPr txBox="1"/>
          <p:nvPr/>
        </p:nvSpPr>
        <p:spPr>
          <a:xfrm>
            <a:off x="5202936" y="3108960"/>
            <a:ext cx="1783080" cy="118872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Run Llama and friends on your own machine</a:t>
            </a:r>
          </a:p>
        </p:txBody>
      </p:sp>
      <p:sp>
        <p:nvSpPr>
          <p:cNvPr id="17" name="Rounded Rectangle 16"/>
          <p:cNvSpPr/>
          <p:nvPr/>
        </p:nvSpPr>
        <p:spPr>
          <a:xfrm>
            <a:off x="7324344" y="1325880"/>
            <a:ext cx="2057400" cy="3063240"/>
          </a:xfrm>
          <a:prstGeom prst="roundRect">
            <a:avLst>
              <a:gd name="adj" fmla="val 5333"/>
            </a:avLst>
          </a:prstGeom>
          <a:solidFill>
            <a:srgbClr val="2D2057"/>
          </a:solidFill>
          <a:ln>
            <a:noFill/>
          </a:ln>
        </p:spPr>
        <p:txBody>
          <a:bodyPr wrap="square" lIns="164592" tIns="109728" rIns="164592" bIns="109728" rtlCol="0" anchor="t"/>
          <a:lstStyle/>
          <a:p>
            <a:pPr algn="ctr"/>
            <a:endParaRPr/>
          </a:p>
        </p:txBody>
      </p:sp>
      <p:sp>
        <p:nvSpPr>
          <p:cNvPr id="18" name="Oval 17"/>
          <p:cNvSpPr/>
          <p:nvPr/>
        </p:nvSpPr>
        <p:spPr>
          <a:xfrm>
            <a:off x="7507223" y="150876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4</a:t>
            </a:r>
          </a:p>
        </p:txBody>
      </p:sp>
      <p:sp>
        <p:nvSpPr>
          <p:cNvPr id="19" name="TextBox 18"/>
          <p:cNvSpPr txBox="1"/>
          <p:nvPr/>
        </p:nvSpPr>
        <p:spPr>
          <a:xfrm>
            <a:off x="7461504" y="2286000"/>
            <a:ext cx="1783080" cy="777240"/>
          </a:xfrm>
          <a:prstGeom prst="rect">
            <a:avLst/>
          </a:prstGeom>
          <a:noFill/>
        </p:spPr>
        <p:txBody>
          <a:bodyPr wrap="square" lIns="45720" tIns="27432" rIns="45720" bIns="27432" anchor="t">
            <a:spAutoFit/>
          </a:bodyPr>
          <a:lstStyle/>
          <a:p>
            <a:pPr algn="l">
              <a:spcBef>
                <a:spcPts val="0"/>
              </a:spcBef>
              <a:spcAft>
                <a:spcPts val="0"/>
              </a:spcAft>
            </a:pPr>
            <a:r>
              <a:rPr sz="1800" b="1" i="0">
                <a:solidFill>
                  <a:srgbClr val="DFBE27"/>
                </a:solidFill>
                <a:latin typeface="Calibri"/>
              </a:rPr>
              <a:t>Multiple Models</a:t>
            </a:r>
          </a:p>
        </p:txBody>
      </p:sp>
      <p:sp>
        <p:nvSpPr>
          <p:cNvPr id="20" name="TextBox 19"/>
          <p:cNvSpPr txBox="1"/>
          <p:nvPr/>
        </p:nvSpPr>
        <p:spPr>
          <a:xfrm>
            <a:off x="7461504" y="3108960"/>
            <a:ext cx="1783080" cy="118872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Configure and switch between several LLMs</a:t>
            </a:r>
          </a:p>
        </p:txBody>
      </p:sp>
      <p:sp>
        <p:nvSpPr>
          <p:cNvPr id="21" name="Rounded Rectangle 20"/>
          <p:cNvSpPr/>
          <p:nvPr/>
        </p:nvSpPr>
        <p:spPr>
          <a:xfrm>
            <a:off x="9582912" y="1325880"/>
            <a:ext cx="2057400" cy="3063240"/>
          </a:xfrm>
          <a:prstGeom prst="roundRect">
            <a:avLst>
              <a:gd name="adj" fmla="val 5333"/>
            </a:avLst>
          </a:prstGeom>
          <a:solidFill>
            <a:srgbClr val="2D2057"/>
          </a:solidFill>
          <a:ln>
            <a:noFill/>
          </a:ln>
        </p:spPr>
        <p:txBody>
          <a:bodyPr wrap="square" lIns="164592" tIns="109728" rIns="164592" bIns="109728" rtlCol="0" anchor="t"/>
          <a:lstStyle/>
          <a:p>
            <a:pPr algn="ctr"/>
            <a:endParaRPr/>
          </a:p>
        </p:txBody>
      </p:sp>
      <p:sp>
        <p:nvSpPr>
          <p:cNvPr id="22" name="Oval 21"/>
          <p:cNvSpPr/>
          <p:nvPr/>
        </p:nvSpPr>
        <p:spPr>
          <a:xfrm>
            <a:off x="9765792" y="150876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5</a:t>
            </a:r>
          </a:p>
        </p:txBody>
      </p:sp>
      <p:sp>
        <p:nvSpPr>
          <p:cNvPr id="23" name="TextBox 22"/>
          <p:cNvSpPr txBox="1"/>
          <p:nvPr/>
        </p:nvSpPr>
        <p:spPr>
          <a:xfrm>
            <a:off x="9720072" y="2286000"/>
            <a:ext cx="1783080" cy="777240"/>
          </a:xfrm>
          <a:prstGeom prst="rect">
            <a:avLst/>
          </a:prstGeom>
          <a:noFill/>
        </p:spPr>
        <p:txBody>
          <a:bodyPr wrap="square" lIns="45720" tIns="27432" rIns="45720" bIns="27432" anchor="t">
            <a:spAutoFit/>
          </a:bodyPr>
          <a:lstStyle/>
          <a:p>
            <a:pPr algn="l">
              <a:spcBef>
                <a:spcPts val="0"/>
              </a:spcBef>
              <a:spcAft>
                <a:spcPts val="0"/>
              </a:spcAft>
            </a:pPr>
            <a:r>
              <a:rPr sz="1800" b="1" i="0">
                <a:solidFill>
                  <a:srgbClr val="DFBE27"/>
                </a:solidFill>
                <a:latin typeface="Calibri"/>
              </a:rPr>
              <a:t>Going Further</a:t>
            </a:r>
          </a:p>
        </p:txBody>
      </p:sp>
      <p:sp>
        <p:nvSpPr>
          <p:cNvPr id="24" name="TextBox 23"/>
          <p:cNvSpPr txBox="1"/>
          <p:nvPr/>
        </p:nvSpPr>
        <p:spPr>
          <a:xfrm>
            <a:off x="9720072" y="3108960"/>
            <a:ext cx="1783080" cy="118872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Streaming, structured output and RAG</a:t>
            </a:r>
          </a:p>
        </p:txBody>
      </p:sp>
      <p:sp>
        <p:nvSpPr>
          <p:cNvPr id="25" name="Rounded Rectangle 24"/>
          <p:cNvSpPr/>
          <p:nvPr/>
        </p:nvSpPr>
        <p:spPr>
          <a:xfrm>
            <a:off x="548640" y="4663440"/>
            <a:ext cx="11091672" cy="1600200"/>
          </a:xfrm>
          <a:prstGeom prst="roundRect">
            <a:avLst>
              <a:gd name="adj" fmla="val 6857"/>
            </a:avLst>
          </a:prstGeom>
          <a:solidFill>
            <a:srgbClr val="3B2D74"/>
          </a:solidFill>
          <a:ln>
            <a:noFill/>
          </a:ln>
        </p:spPr>
        <p:txBody>
          <a:bodyPr wrap="square" lIns="164592" tIns="109728" rIns="164592" bIns="109728" rtlCol="0" anchor="t"/>
          <a:lstStyle/>
          <a:p>
            <a:pPr algn="l">
              <a:spcBef>
                <a:spcPts val="0"/>
              </a:spcBef>
              <a:spcAft>
                <a:spcPts val="500"/>
              </a:spcAft>
            </a:pPr>
            <a:r>
              <a:rPr sz="1800" b="1" i="0">
                <a:solidFill>
                  <a:srgbClr val="DFBE27"/>
                </a:solidFill>
                <a:latin typeface="Calibri"/>
              </a:rPr>
              <a:t>By the end of this training you will be able to</a:t>
            </a:r>
          </a:p>
          <a:p>
            <a:pPr marL="201168" indent="-201168" algn="l">
              <a:spcBef>
                <a:spcPts val="0"/>
              </a:spcBef>
              <a:spcAft>
                <a:spcPts val="300"/>
              </a:spcAft>
              <a:buClr>
                <a:srgbClr val="DFBE27"/>
              </a:buClr>
              <a:buFont typeface="Arial"/>
              <a:buChar char="•"/>
            </a:pPr>
            <a:r>
              <a:rPr sz="1600" b="0" i="0">
                <a:solidFill>
                  <a:srgbClr val="FFFFFF"/>
                </a:solidFill>
                <a:latin typeface="Calibri"/>
              </a:rPr>
              <a:t>Explain how LLMs work and use the vocabulary developers need every day</a:t>
            </a:r>
          </a:p>
          <a:p>
            <a:pPr marL="201168" indent="-201168" algn="l">
              <a:spcBef>
                <a:spcPts val="0"/>
              </a:spcBef>
              <a:spcAft>
                <a:spcPts val="300"/>
              </a:spcAft>
              <a:buClr>
                <a:srgbClr val="DFBE27"/>
              </a:buClr>
              <a:buFont typeface="Arial"/>
              <a:buChar char="•"/>
            </a:pPr>
            <a:r>
              <a:rPr sz="1600" b="0" i="0">
                <a:solidFill>
                  <a:srgbClr val="FFFFFF"/>
                </a:solidFill>
                <a:latin typeface="Calibri"/>
              </a:rPr>
              <a:t>Build Spring Boot apps that talk to OpenAI and to local Ollama models</a:t>
            </a:r>
          </a:p>
          <a:p>
            <a:pPr marL="201168" indent="-201168" algn="l">
              <a:spcBef>
                <a:spcPts val="0"/>
              </a:spcBef>
              <a:spcAft>
                <a:spcPts val="0"/>
              </a:spcAft>
              <a:buClr>
                <a:srgbClr val="DFBE27"/>
              </a:buClr>
              <a:buFont typeface="Arial"/>
              <a:buChar char="•"/>
            </a:pPr>
            <a:r>
              <a:rPr sz="1600" b="0" i="0">
                <a:solidFill>
                  <a:srgbClr val="FFFFFF"/>
                </a:solidFill>
                <a:latin typeface="Calibri"/>
              </a:rPr>
              <a:t>Choose, tune and secure the right model for each use case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What is Generative AI?</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TextBox 4"/>
          <p:cNvSpPr txBox="1"/>
          <p:nvPr/>
        </p:nvSpPr>
        <p:spPr>
          <a:xfrm>
            <a:off x="548640" y="1188720"/>
            <a:ext cx="5577840" cy="1371600"/>
          </a:xfrm>
          <a:prstGeom prst="rect">
            <a:avLst/>
          </a:prstGeom>
          <a:noFill/>
        </p:spPr>
        <p:txBody>
          <a:bodyPr wrap="square" lIns="45720" tIns="27432" rIns="45720" bIns="27432" anchor="t">
            <a:spAutoFit/>
          </a:bodyPr>
          <a:lstStyle/>
          <a:p>
            <a:pPr algn="l">
              <a:spcBef>
                <a:spcPts val="0"/>
              </a:spcBef>
              <a:spcAft>
                <a:spcPts val="0"/>
              </a:spcAft>
            </a:pPr>
            <a:r>
              <a:rPr sz="1800" b="0" i="0">
                <a:solidFill>
                  <a:srgbClr val="FFFFFF"/>
                </a:solidFill>
                <a:latin typeface="Calibri"/>
              </a:rPr>
              <a:t>Generative AI creates new content by learning patterns from huge amounts of existing data.</a:t>
            </a:r>
          </a:p>
        </p:txBody>
      </p:sp>
      <p:sp>
        <p:nvSpPr>
          <p:cNvPr id="6" name="Rounded Rectangle 5"/>
          <p:cNvSpPr/>
          <p:nvPr/>
        </p:nvSpPr>
        <p:spPr>
          <a:xfrm>
            <a:off x="548640" y="2514600"/>
            <a:ext cx="5577840" cy="1371600"/>
          </a:xfrm>
          <a:prstGeom prst="roundRect">
            <a:avLst>
              <a:gd name="adj" fmla="val 8000"/>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Traditional AI / ML</a:t>
            </a:r>
          </a:p>
          <a:p>
            <a:pPr algn="l">
              <a:spcBef>
                <a:spcPts val="0"/>
              </a:spcBef>
              <a:spcAft>
                <a:spcPts val="300"/>
              </a:spcAft>
            </a:pPr>
            <a:r>
              <a:rPr sz="1400" b="0" i="0">
                <a:solidFill>
                  <a:srgbClr val="FFFFFF"/>
                </a:solidFill>
                <a:latin typeface="Calibri"/>
              </a:rPr>
              <a:t>Classifies or predicts: spam or not spam, next month’s sales, fraud risk.</a:t>
            </a:r>
          </a:p>
        </p:txBody>
      </p:sp>
      <p:sp>
        <p:nvSpPr>
          <p:cNvPr id="7" name="Rounded Rectangle 6"/>
          <p:cNvSpPr/>
          <p:nvPr/>
        </p:nvSpPr>
        <p:spPr>
          <a:xfrm>
            <a:off x="548640" y="4023360"/>
            <a:ext cx="5577840" cy="1371600"/>
          </a:xfrm>
          <a:prstGeom prst="roundRect">
            <a:avLst>
              <a:gd name="adj" fmla="val 8000"/>
            </a:avLst>
          </a:prstGeom>
          <a:solidFill>
            <a:srgbClr val="3B2D74"/>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Generative AI</a:t>
            </a:r>
          </a:p>
          <a:p>
            <a:pPr algn="l">
              <a:spcBef>
                <a:spcPts val="0"/>
              </a:spcBef>
              <a:spcAft>
                <a:spcPts val="300"/>
              </a:spcAft>
            </a:pPr>
            <a:r>
              <a:rPr sz="1400" b="0" i="0">
                <a:solidFill>
                  <a:srgbClr val="FFFFFF"/>
                </a:solidFill>
                <a:latin typeface="Calibri"/>
              </a:rPr>
              <a:t>Produces something new: write an email, generate code, summarise a report.</a:t>
            </a:r>
          </a:p>
        </p:txBody>
      </p:sp>
      <p:sp>
        <p:nvSpPr>
          <p:cNvPr id="8" name="Rounded Rectangle 7"/>
          <p:cNvSpPr/>
          <p:nvPr/>
        </p:nvSpPr>
        <p:spPr>
          <a:xfrm>
            <a:off x="6400800" y="1234440"/>
            <a:ext cx="2542032" cy="1234440"/>
          </a:xfrm>
          <a:prstGeom prst="roundRect">
            <a:avLst>
              <a:gd name="adj" fmla="val 8888"/>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Text</a:t>
            </a:r>
          </a:p>
          <a:p>
            <a:pPr algn="l">
              <a:spcBef>
                <a:spcPts val="0"/>
              </a:spcBef>
              <a:spcAft>
                <a:spcPts val="300"/>
              </a:spcAft>
            </a:pPr>
            <a:r>
              <a:rPr sz="1400" b="0" i="0">
                <a:solidFill>
                  <a:srgbClr val="FFFFFF"/>
                </a:solidFill>
                <a:latin typeface="Calibri"/>
              </a:rPr>
              <a:t>Chat, summaries, translation</a:t>
            </a:r>
          </a:p>
        </p:txBody>
      </p:sp>
      <p:sp>
        <p:nvSpPr>
          <p:cNvPr id="9" name="Rounded Rectangle 8"/>
          <p:cNvSpPr/>
          <p:nvPr/>
        </p:nvSpPr>
        <p:spPr>
          <a:xfrm>
            <a:off x="9098280" y="1234440"/>
            <a:ext cx="2542032" cy="1234440"/>
          </a:xfrm>
          <a:prstGeom prst="roundRect">
            <a:avLst>
              <a:gd name="adj" fmla="val 8888"/>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Code</a:t>
            </a:r>
          </a:p>
          <a:p>
            <a:pPr algn="l">
              <a:spcBef>
                <a:spcPts val="0"/>
              </a:spcBef>
              <a:spcAft>
                <a:spcPts val="300"/>
              </a:spcAft>
            </a:pPr>
            <a:r>
              <a:rPr sz="1400" b="0" i="0">
                <a:solidFill>
                  <a:srgbClr val="FFFFFF"/>
                </a:solidFill>
                <a:latin typeface="Calibri"/>
              </a:rPr>
              <a:t>Completion, review, tests</a:t>
            </a:r>
          </a:p>
        </p:txBody>
      </p:sp>
      <p:sp>
        <p:nvSpPr>
          <p:cNvPr id="10" name="Rounded Rectangle 9"/>
          <p:cNvSpPr/>
          <p:nvPr/>
        </p:nvSpPr>
        <p:spPr>
          <a:xfrm>
            <a:off x="6400800" y="2606040"/>
            <a:ext cx="2542032" cy="1234440"/>
          </a:xfrm>
          <a:prstGeom prst="roundRect">
            <a:avLst>
              <a:gd name="adj" fmla="val 8888"/>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Images</a:t>
            </a:r>
          </a:p>
          <a:p>
            <a:pPr algn="l">
              <a:spcBef>
                <a:spcPts val="0"/>
              </a:spcBef>
              <a:spcAft>
                <a:spcPts val="300"/>
              </a:spcAft>
            </a:pPr>
            <a:r>
              <a:rPr sz="1400" b="0" i="0">
                <a:solidFill>
                  <a:srgbClr val="FFFFFF"/>
                </a:solidFill>
                <a:latin typeface="Calibri"/>
              </a:rPr>
              <a:t>Generate and edit visuals</a:t>
            </a:r>
          </a:p>
        </p:txBody>
      </p:sp>
      <p:sp>
        <p:nvSpPr>
          <p:cNvPr id="11" name="Rounded Rectangle 10"/>
          <p:cNvSpPr/>
          <p:nvPr/>
        </p:nvSpPr>
        <p:spPr>
          <a:xfrm>
            <a:off x="9098280" y="2606040"/>
            <a:ext cx="2542032" cy="1234440"/>
          </a:xfrm>
          <a:prstGeom prst="roundRect">
            <a:avLst>
              <a:gd name="adj" fmla="val 8888"/>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Audio</a:t>
            </a:r>
          </a:p>
          <a:p>
            <a:pPr algn="l">
              <a:spcBef>
                <a:spcPts val="0"/>
              </a:spcBef>
              <a:spcAft>
                <a:spcPts val="300"/>
              </a:spcAft>
            </a:pPr>
            <a:r>
              <a:rPr sz="1400" b="0" i="0">
                <a:solidFill>
                  <a:srgbClr val="FFFFFF"/>
                </a:solidFill>
                <a:latin typeface="Calibri"/>
              </a:rPr>
              <a:t>Speech-to-text and voice</a:t>
            </a:r>
          </a:p>
        </p:txBody>
      </p:sp>
      <p:sp>
        <p:nvSpPr>
          <p:cNvPr id="12" name="Rounded Rectangle 11"/>
          <p:cNvSpPr/>
          <p:nvPr/>
        </p:nvSpPr>
        <p:spPr>
          <a:xfrm>
            <a:off x="6400800" y="3977639"/>
            <a:ext cx="2542032" cy="1234440"/>
          </a:xfrm>
          <a:prstGeom prst="roundRect">
            <a:avLst>
              <a:gd name="adj" fmla="val 8888"/>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Video</a:t>
            </a:r>
          </a:p>
          <a:p>
            <a:pPr algn="l">
              <a:spcBef>
                <a:spcPts val="0"/>
              </a:spcBef>
              <a:spcAft>
                <a:spcPts val="300"/>
              </a:spcAft>
            </a:pPr>
            <a:r>
              <a:rPr sz="1400" b="0" i="0">
                <a:solidFill>
                  <a:srgbClr val="FFFFFF"/>
                </a:solidFill>
                <a:latin typeface="Calibri"/>
              </a:rPr>
              <a:t>Short clips from prompts</a:t>
            </a:r>
          </a:p>
        </p:txBody>
      </p:sp>
      <p:sp>
        <p:nvSpPr>
          <p:cNvPr id="13" name="Rounded Rectangle 12"/>
          <p:cNvSpPr/>
          <p:nvPr/>
        </p:nvSpPr>
        <p:spPr>
          <a:xfrm>
            <a:off x="9098280" y="3977639"/>
            <a:ext cx="2542032" cy="1234440"/>
          </a:xfrm>
          <a:prstGeom prst="roundRect">
            <a:avLst>
              <a:gd name="adj" fmla="val 8888"/>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Structured data</a:t>
            </a:r>
          </a:p>
          <a:p>
            <a:pPr algn="l">
              <a:spcBef>
                <a:spcPts val="0"/>
              </a:spcBef>
              <a:spcAft>
                <a:spcPts val="300"/>
              </a:spcAft>
            </a:pPr>
            <a:r>
              <a:rPr sz="1400" b="0" i="0">
                <a:solidFill>
                  <a:srgbClr val="FFFFFF"/>
                </a:solidFill>
                <a:latin typeface="Calibri"/>
              </a:rPr>
              <a:t>Extract JSON, write SQL</a:t>
            </a:r>
          </a:p>
        </p:txBody>
      </p:sp>
      <p:sp>
        <p:nvSpPr>
          <p:cNvPr id="14" name="Rounded Rectangle 13"/>
          <p:cNvSpPr/>
          <p:nvPr/>
        </p:nvSpPr>
        <p:spPr>
          <a:xfrm>
            <a:off x="548640" y="5623560"/>
            <a:ext cx="11091672" cy="685800"/>
          </a:xfrm>
          <a:prstGeom prst="roundRect">
            <a:avLst>
              <a:gd name="adj" fmla="val 16000"/>
            </a:avLst>
          </a:prstGeom>
          <a:solidFill>
            <a:srgbClr val="3B2D74"/>
          </a:solidFill>
          <a:ln>
            <a:noFill/>
          </a:ln>
        </p:spPr>
        <p:txBody>
          <a:bodyPr wrap="square" lIns="164592" tIns="109728" rIns="164592" bIns="109728" rtlCol="0" anchor="ctr"/>
          <a:lstStyle/>
          <a:p>
            <a:pPr algn="l">
              <a:spcBef>
                <a:spcPts val="0"/>
              </a:spcBef>
              <a:spcAft>
                <a:spcPts val="0"/>
              </a:spcAft>
            </a:pPr>
            <a:r>
              <a:rPr sz="1600" b="1" i="0">
                <a:solidFill>
                  <a:srgbClr val="DFBE27"/>
                </a:solidFill>
                <a:latin typeface="Calibri"/>
              </a:rPr>
              <a:t>In this training: </a:t>
            </a:r>
            <a:r>
              <a:rPr sz="1600" b="0" i="0">
                <a:solidFill>
                  <a:srgbClr val="FFFFFF"/>
                </a:solidFill>
                <a:latin typeface="Calibri"/>
              </a:rPr>
              <a:t>we focus on text generation (chat models) using OpenAI and Ollama.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Large Language Models (LLMs)</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TextBox 4"/>
          <p:cNvSpPr txBox="1"/>
          <p:nvPr/>
        </p:nvSpPr>
        <p:spPr>
          <a:xfrm>
            <a:off x="548640" y="1234440"/>
            <a:ext cx="6675120" cy="2468880"/>
          </a:xfrm>
          <a:prstGeom prst="rect">
            <a:avLst/>
          </a:prstGeom>
          <a:noFill/>
        </p:spPr>
        <p:txBody>
          <a:bodyPr wrap="square" lIns="45720" tIns="27432" rIns="45720" bIns="27432" anchor="t">
            <a:spAutoFit/>
          </a:bodyPr>
          <a:lstStyle/>
          <a:p>
            <a:pPr marL="201168" indent="-201168" algn="l">
              <a:spcBef>
                <a:spcPts val="0"/>
              </a:spcBef>
              <a:spcAft>
                <a:spcPts val="700"/>
              </a:spcAft>
              <a:buClr>
                <a:srgbClr val="DFBE27"/>
              </a:buClr>
              <a:buFont typeface="Arial"/>
              <a:buChar char="•"/>
            </a:pPr>
            <a:r>
              <a:rPr sz="1700" b="0" i="0">
                <a:solidFill>
                  <a:srgbClr val="FFFFFF"/>
                </a:solidFill>
                <a:latin typeface="Calibri"/>
              </a:rPr>
              <a:t>A neural network (Transformer) trained on vast amounts of text</a:t>
            </a:r>
          </a:p>
          <a:p>
            <a:pPr marL="201168" indent="-201168" algn="l">
              <a:spcBef>
                <a:spcPts val="0"/>
              </a:spcBef>
              <a:spcAft>
                <a:spcPts val="700"/>
              </a:spcAft>
              <a:buClr>
                <a:srgbClr val="DFBE27"/>
              </a:buClr>
              <a:buFont typeface="Arial"/>
              <a:buChar char="•"/>
            </a:pPr>
            <a:r>
              <a:rPr sz="1700" b="0" i="0">
                <a:solidFill>
                  <a:srgbClr val="FFFFFF"/>
                </a:solidFill>
                <a:latin typeface="Calibri"/>
              </a:rPr>
              <a:t>Core skill: predict the most likely next token, one token at a time</a:t>
            </a:r>
          </a:p>
          <a:p>
            <a:pPr marL="201168" indent="-201168" algn="l">
              <a:spcBef>
                <a:spcPts val="0"/>
              </a:spcBef>
              <a:spcAft>
                <a:spcPts val="700"/>
              </a:spcAft>
              <a:buClr>
                <a:srgbClr val="DFBE27"/>
              </a:buClr>
              <a:buFont typeface="Arial"/>
              <a:buChar char="•"/>
            </a:pPr>
            <a:r>
              <a:rPr sz="1700" b="0" i="0">
                <a:solidFill>
                  <a:srgbClr val="FFFFFF"/>
                </a:solidFill>
                <a:latin typeface="Calibri"/>
              </a:rPr>
              <a:t>Billions of parameters: the numeric weights learned during training</a:t>
            </a:r>
          </a:p>
          <a:p>
            <a:pPr marL="201168" indent="-201168" algn="l">
              <a:spcBef>
                <a:spcPts val="0"/>
              </a:spcBef>
              <a:spcAft>
                <a:spcPts val="0"/>
              </a:spcAft>
              <a:buClr>
                <a:srgbClr val="DFBE27"/>
              </a:buClr>
              <a:buFont typeface="Arial"/>
              <a:buChar char="•"/>
            </a:pPr>
            <a:r>
              <a:rPr sz="1700" b="0" i="0">
                <a:solidFill>
                  <a:srgbClr val="FFFFFF"/>
                </a:solidFill>
                <a:latin typeface="Calibri"/>
              </a:rPr>
              <a:t>A good prompt turns that skill into writing, summarising, translating, coding and reasoning</a:t>
            </a:r>
          </a:p>
        </p:txBody>
      </p:sp>
      <p:sp>
        <p:nvSpPr>
          <p:cNvPr id="6" name="Rounded Rectangle 5"/>
          <p:cNvSpPr/>
          <p:nvPr/>
        </p:nvSpPr>
        <p:spPr>
          <a:xfrm>
            <a:off x="7498079" y="1234440"/>
            <a:ext cx="4142232" cy="2331720"/>
          </a:xfrm>
          <a:prstGeom prst="roundRect">
            <a:avLst>
              <a:gd name="adj" fmla="val 4705"/>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Popular LLM families</a:t>
            </a:r>
          </a:p>
          <a:p>
            <a:pPr marL="201168" indent="-201168" algn="l">
              <a:spcBef>
                <a:spcPts val="0"/>
              </a:spcBef>
              <a:spcAft>
                <a:spcPts val="300"/>
              </a:spcAft>
              <a:buClr>
                <a:srgbClr val="DFBE27"/>
              </a:buClr>
              <a:buFont typeface="Arial"/>
              <a:buChar char="•"/>
            </a:pPr>
            <a:r>
              <a:rPr sz="1400" b="0" i="0">
                <a:solidFill>
                  <a:srgbClr val="FFFFFF"/>
                </a:solidFill>
                <a:latin typeface="Calibri"/>
              </a:rPr>
              <a:t>GPT (OpenAI)</a:t>
            </a:r>
          </a:p>
          <a:p>
            <a:pPr marL="201168" indent="-201168" algn="l">
              <a:spcBef>
                <a:spcPts val="0"/>
              </a:spcBef>
              <a:spcAft>
                <a:spcPts val="300"/>
              </a:spcAft>
              <a:buClr>
                <a:srgbClr val="DFBE27"/>
              </a:buClr>
              <a:buFont typeface="Arial"/>
              <a:buChar char="•"/>
            </a:pPr>
            <a:r>
              <a:rPr sz="1400" b="0" i="0">
                <a:solidFill>
                  <a:srgbClr val="FFFFFF"/>
                </a:solidFill>
                <a:latin typeface="Calibri"/>
              </a:rPr>
              <a:t>Llama (Meta)</a:t>
            </a:r>
          </a:p>
          <a:p>
            <a:pPr marL="201168" indent="-201168" algn="l">
              <a:spcBef>
                <a:spcPts val="0"/>
              </a:spcBef>
              <a:spcAft>
                <a:spcPts val="300"/>
              </a:spcAft>
              <a:buClr>
                <a:srgbClr val="DFBE27"/>
              </a:buClr>
              <a:buFont typeface="Arial"/>
              <a:buChar char="•"/>
            </a:pPr>
            <a:r>
              <a:rPr sz="1400" b="0" i="0">
                <a:solidFill>
                  <a:srgbClr val="FFFFFF"/>
                </a:solidFill>
                <a:latin typeface="Calibri"/>
              </a:rPr>
              <a:t>Gemma (Google)</a:t>
            </a:r>
          </a:p>
          <a:p>
            <a:pPr marL="201168" indent="-201168" algn="l">
              <a:spcBef>
                <a:spcPts val="0"/>
              </a:spcBef>
              <a:spcAft>
                <a:spcPts val="300"/>
              </a:spcAft>
              <a:buClr>
                <a:srgbClr val="DFBE27"/>
              </a:buClr>
              <a:buFont typeface="Arial"/>
              <a:buChar char="•"/>
            </a:pPr>
            <a:r>
              <a:rPr sz="1400" b="0" i="0">
                <a:solidFill>
                  <a:srgbClr val="FFFFFF"/>
                </a:solidFill>
                <a:latin typeface="Calibri"/>
              </a:rPr>
              <a:t>Mistral and Qwen</a:t>
            </a:r>
          </a:p>
          <a:p>
            <a:pPr marL="201168" indent="-201168" algn="l">
              <a:spcBef>
                <a:spcPts val="0"/>
              </a:spcBef>
              <a:spcAft>
                <a:spcPts val="300"/>
              </a:spcAft>
              <a:buClr>
                <a:srgbClr val="DFBE27"/>
              </a:buClr>
              <a:buFont typeface="Arial"/>
              <a:buChar char="•"/>
            </a:pPr>
            <a:r>
              <a:rPr sz="1400" b="0" i="0">
                <a:solidFill>
                  <a:srgbClr val="FFFFFF"/>
                </a:solidFill>
                <a:latin typeface="Calibri"/>
              </a:rPr>
              <a:t>Claude (Anthropic)</a:t>
            </a:r>
          </a:p>
        </p:txBody>
      </p:sp>
      <p:sp>
        <p:nvSpPr>
          <p:cNvPr id="7" name="TextBox 6"/>
          <p:cNvSpPr txBox="1"/>
          <p:nvPr/>
        </p:nvSpPr>
        <p:spPr>
          <a:xfrm>
            <a:off x="548640" y="3657600"/>
            <a:ext cx="7315200" cy="365760"/>
          </a:xfrm>
          <a:prstGeom prst="rect">
            <a:avLst/>
          </a:prstGeom>
          <a:noFill/>
        </p:spPr>
        <p:txBody>
          <a:bodyPr wrap="square" lIns="45720" tIns="27432" rIns="45720" bIns="27432" anchor="t">
            <a:spAutoFit/>
          </a:bodyPr>
          <a:lstStyle/>
          <a:p>
            <a:pPr algn="l">
              <a:spcBef>
                <a:spcPts val="0"/>
              </a:spcBef>
              <a:spcAft>
                <a:spcPts val="0"/>
              </a:spcAft>
            </a:pPr>
            <a:r>
              <a:rPr sz="1800" b="1" i="0">
                <a:solidFill>
                  <a:srgbClr val="DFBE27"/>
                </a:solidFill>
                <a:latin typeface="Calibri"/>
              </a:rPr>
              <a:t>How an LLM is built and used</a:t>
            </a:r>
          </a:p>
        </p:txBody>
      </p:sp>
      <p:sp>
        <p:nvSpPr>
          <p:cNvPr id="8" name="Rounded Rectangle 7"/>
          <p:cNvSpPr/>
          <p:nvPr/>
        </p:nvSpPr>
        <p:spPr>
          <a:xfrm>
            <a:off x="548640" y="4114800"/>
            <a:ext cx="2377440" cy="2103120"/>
          </a:xfrm>
          <a:prstGeom prst="roundRect">
            <a:avLst>
              <a:gd name="adj" fmla="val 5217"/>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Pre-training</a:t>
            </a:r>
          </a:p>
          <a:p>
            <a:pPr algn="l">
              <a:spcBef>
                <a:spcPts val="0"/>
              </a:spcBef>
              <a:spcAft>
                <a:spcPts val="300"/>
              </a:spcAft>
            </a:pPr>
            <a:r>
              <a:rPr sz="1400" b="0" i="0">
                <a:solidFill>
                  <a:srgbClr val="FFFFFF"/>
                </a:solidFill>
                <a:latin typeface="Calibri"/>
              </a:rPr>
              <a:t>Learns language patterns from huge text collections</a:t>
            </a:r>
          </a:p>
        </p:txBody>
      </p:sp>
      <p:sp>
        <p:nvSpPr>
          <p:cNvPr id="9" name="Right Arrow 8"/>
          <p:cNvSpPr/>
          <p:nvPr/>
        </p:nvSpPr>
        <p:spPr>
          <a:xfrm>
            <a:off x="2999232" y="4937760"/>
            <a:ext cx="374904" cy="365760"/>
          </a:xfrm>
          <a:prstGeom prst="rightArrow">
            <a:avLst/>
          </a:prstGeom>
          <a:solidFill>
            <a:srgbClr val="DFBE27"/>
          </a:solidFill>
          <a:ln>
            <a:noFill/>
          </a:ln>
        </p:spPr>
        <p:txBody>
          <a:bodyPr wrap="square" lIns="164592" tIns="109728" rIns="164592" bIns="109728" rtlCol="0" anchor="t"/>
          <a:lstStyle/>
          <a:p>
            <a:pPr algn="ctr"/>
            <a:endParaRPr/>
          </a:p>
        </p:txBody>
      </p:sp>
      <p:sp>
        <p:nvSpPr>
          <p:cNvPr id="10" name="Rounded Rectangle 9"/>
          <p:cNvSpPr/>
          <p:nvPr/>
        </p:nvSpPr>
        <p:spPr>
          <a:xfrm>
            <a:off x="3447288" y="4114800"/>
            <a:ext cx="2377440" cy="2103120"/>
          </a:xfrm>
          <a:prstGeom prst="roundRect">
            <a:avLst>
              <a:gd name="adj" fmla="val 5217"/>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Fine-tuning</a:t>
            </a:r>
          </a:p>
          <a:p>
            <a:pPr algn="l">
              <a:spcBef>
                <a:spcPts val="0"/>
              </a:spcBef>
              <a:spcAft>
                <a:spcPts val="300"/>
              </a:spcAft>
            </a:pPr>
            <a:r>
              <a:rPr sz="1400" b="0" i="0">
                <a:solidFill>
                  <a:srgbClr val="FFFFFF"/>
                </a:solidFill>
                <a:latin typeface="Calibri"/>
              </a:rPr>
              <a:t>Specialises on instructions, dialogue and tasks</a:t>
            </a:r>
          </a:p>
        </p:txBody>
      </p:sp>
      <p:sp>
        <p:nvSpPr>
          <p:cNvPr id="11" name="Right Arrow 10"/>
          <p:cNvSpPr/>
          <p:nvPr/>
        </p:nvSpPr>
        <p:spPr>
          <a:xfrm>
            <a:off x="5897880" y="4937760"/>
            <a:ext cx="374904" cy="365760"/>
          </a:xfrm>
          <a:prstGeom prst="rightArrow">
            <a:avLst/>
          </a:prstGeom>
          <a:solidFill>
            <a:srgbClr val="DFBE27"/>
          </a:solidFill>
          <a:ln>
            <a:noFill/>
          </a:ln>
        </p:spPr>
        <p:txBody>
          <a:bodyPr wrap="square" lIns="164592" tIns="109728" rIns="164592" bIns="109728" rtlCol="0" anchor="t"/>
          <a:lstStyle/>
          <a:p>
            <a:pPr algn="ctr"/>
            <a:endParaRPr/>
          </a:p>
        </p:txBody>
      </p:sp>
      <p:sp>
        <p:nvSpPr>
          <p:cNvPr id="12" name="Rounded Rectangle 11"/>
          <p:cNvSpPr/>
          <p:nvPr/>
        </p:nvSpPr>
        <p:spPr>
          <a:xfrm>
            <a:off x="6345936" y="4114800"/>
            <a:ext cx="2377440" cy="2103120"/>
          </a:xfrm>
          <a:prstGeom prst="roundRect">
            <a:avLst>
              <a:gd name="adj" fmla="val 5217"/>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Alignment</a:t>
            </a:r>
          </a:p>
          <a:p>
            <a:pPr algn="l">
              <a:spcBef>
                <a:spcPts val="0"/>
              </a:spcBef>
              <a:spcAft>
                <a:spcPts val="300"/>
              </a:spcAft>
            </a:pPr>
            <a:r>
              <a:rPr sz="1400" b="0" i="0">
                <a:solidFill>
                  <a:srgbClr val="FFFFFF"/>
                </a:solidFill>
                <a:latin typeface="Calibri"/>
              </a:rPr>
              <a:t>Human feedback (RLHF) makes answers helpful and safe</a:t>
            </a:r>
          </a:p>
        </p:txBody>
      </p:sp>
      <p:sp>
        <p:nvSpPr>
          <p:cNvPr id="13" name="Right Arrow 12"/>
          <p:cNvSpPr/>
          <p:nvPr/>
        </p:nvSpPr>
        <p:spPr>
          <a:xfrm>
            <a:off x="8796528" y="4937760"/>
            <a:ext cx="374904" cy="365760"/>
          </a:xfrm>
          <a:prstGeom prst="rightArrow">
            <a:avLst/>
          </a:prstGeom>
          <a:solidFill>
            <a:srgbClr val="DFBE27"/>
          </a:solidFill>
          <a:ln>
            <a:noFill/>
          </a:ln>
        </p:spPr>
        <p:txBody>
          <a:bodyPr wrap="square" lIns="164592" tIns="109728" rIns="164592" bIns="109728" rtlCol="0" anchor="t"/>
          <a:lstStyle/>
          <a:p>
            <a:pPr algn="ctr"/>
            <a:endParaRPr/>
          </a:p>
        </p:txBody>
      </p:sp>
      <p:sp>
        <p:nvSpPr>
          <p:cNvPr id="14" name="Rounded Rectangle 13"/>
          <p:cNvSpPr/>
          <p:nvPr/>
        </p:nvSpPr>
        <p:spPr>
          <a:xfrm>
            <a:off x="9244584" y="4114800"/>
            <a:ext cx="2377440" cy="2103120"/>
          </a:xfrm>
          <a:prstGeom prst="roundRect">
            <a:avLst>
              <a:gd name="adj" fmla="val 5217"/>
            </a:avLst>
          </a:prstGeom>
          <a:solidFill>
            <a:srgbClr val="3B2D74"/>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Inference</a:t>
            </a:r>
          </a:p>
          <a:p>
            <a:pPr algn="l">
              <a:spcBef>
                <a:spcPts val="0"/>
              </a:spcBef>
              <a:spcAft>
                <a:spcPts val="300"/>
              </a:spcAft>
            </a:pPr>
            <a:r>
              <a:rPr sz="1400" b="0" i="0">
                <a:solidFill>
                  <a:srgbClr val="FFFFFF"/>
                </a:solidFill>
                <a:latin typeface="Calibri"/>
              </a:rPr>
              <a:t>You send a prompt and the model generates tokens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How an LLM Generates a Response</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234440"/>
            <a:ext cx="2468880" cy="1645920"/>
          </a:xfrm>
          <a:prstGeom prst="roundRect">
            <a:avLst>
              <a:gd name="adj" fmla="val 6666"/>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1  Prompt</a:t>
            </a:r>
          </a:p>
          <a:p>
            <a:pPr algn="l">
              <a:spcBef>
                <a:spcPts val="0"/>
              </a:spcBef>
              <a:spcAft>
                <a:spcPts val="300"/>
              </a:spcAft>
            </a:pPr>
            <a:r>
              <a:rPr sz="1400" b="0" i="0">
                <a:solidFill>
                  <a:srgbClr val="FFFFFF"/>
                </a:solidFill>
                <a:latin typeface="Calibri"/>
              </a:rPr>
              <a:t>The capital of India is</a:t>
            </a:r>
          </a:p>
        </p:txBody>
      </p:sp>
      <p:sp>
        <p:nvSpPr>
          <p:cNvPr id="6" name="Right Arrow 5"/>
          <p:cNvSpPr/>
          <p:nvPr/>
        </p:nvSpPr>
        <p:spPr>
          <a:xfrm>
            <a:off x="3072384" y="1920240"/>
            <a:ext cx="292608" cy="292608"/>
          </a:xfrm>
          <a:prstGeom prst="rightArrow">
            <a:avLst/>
          </a:prstGeom>
          <a:solidFill>
            <a:srgbClr val="DFBE27"/>
          </a:solidFill>
          <a:ln>
            <a:noFill/>
          </a:ln>
        </p:spPr>
        <p:txBody>
          <a:bodyPr wrap="square" lIns="164592" tIns="109728" rIns="164592" bIns="109728" rtlCol="0" anchor="t"/>
          <a:lstStyle/>
          <a:p>
            <a:pPr algn="ctr"/>
            <a:endParaRPr/>
          </a:p>
        </p:txBody>
      </p:sp>
      <p:sp>
        <p:nvSpPr>
          <p:cNvPr id="7" name="Rounded Rectangle 6"/>
          <p:cNvSpPr/>
          <p:nvPr/>
        </p:nvSpPr>
        <p:spPr>
          <a:xfrm>
            <a:off x="3419856" y="1234440"/>
            <a:ext cx="2468880" cy="1645920"/>
          </a:xfrm>
          <a:prstGeom prst="roundRect">
            <a:avLst>
              <a:gd name="adj" fmla="val 6666"/>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2  Tokenize</a:t>
            </a:r>
          </a:p>
          <a:p>
            <a:pPr algn="l">
              <a:spcBef>
                <a:spcPts val="0"/>
              </a:spcBef>
              <a:spcAft>
                <a:spcPts val="300"/>
              </a:spcAft>
            </a:pPr>
            <a:r>
              <a:rPr sz="1400" b="0" i="0">
                <a:solidFill>
                  <a:srgbClr val="FFFFFF"/>
                </a:solidFill>
                <a:latin typeface="Calibri"/>
              </a:rPr>
              <a:t>Text is split into tokens and mapped to IDs</a:t>
            </a:r>
          </a:p>
        </p:txBody>
      </p:sp>
      <p:sp>
        <p:nvSpPr>
          <p:cNvPr id="8" name="Right Arrow 7"/>
          <p:cNvSpPr/>
          <p:nvPr/>
        </p:nvSpPr>
        <p:spPr>
          <a:xfrm>
            <a:off x="5943600" y="1920240"/>
            <a:ext cx="292608" cy="292608"/>
          </a:xfrm>
          <a:prstGeom prst="rightArrow">
            <a:avLst/>
          </a:prstGeom>
          <a:solidFill>
            <a:srgbClr val="DFBE27"/>
          </a:solidFill>
          <a:ln>
            <a:noFill/>
          </a:ln>
        </p:spPr>
        <p:txBody>
          <a:bodyPr wrap="square" lIns="164592" tIns="109728" rIns="164592" bIns="109728" rtlCol="0" anchor="t"/>
          <a:lstStyle/>
          <a:p>
            <a:pPr algn="ctr"/>
            <a:endParaRPr/>
          </a:p>
        </p:txBody>
      </p:sp>
      <p:sp>
        <p:nvSpPr>
          <p:cNvPr id="9" name="Rounded Rectangle 8"/>
          <p:cNvSpPr/>
          <p:nvPr/>
        </p:nvSpPr>
        <p:spPr>
          <a:xfrm>
            <a:off x="6291072" y="1234440"/>
            <a:ext cx="2468880" cy="1645920"/>
          </a:xfrm>
          <a:prstGeom prst="roundRect">
            <a:avLst>
              <a:gd name="adj" fmla="val 6666"/>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3  Transformer</a:t>
            </a:r>
          </a:p>
          <a:p>
            <a:pPr algn="l">
              <a:spcBef>
                <a:spcPts val="0"/>
              </a:spcBef>
              <a:spcAft>
                <a:spcPts val="300"/>
              </a:spcAft>
            </a:pPr>
            <a:r>
              <a:rPr sz="1400" b="0" i="0">
                <a:solidFill>
                  <a:srgbClr val="FFFFFF"/>
                </a:solidFill>
                <a:latin typeface="Calibri"/>
              </a:rPr>
              <a:t>Attention weighs every token against the rest of the context</a:t>
            </a:r>
          </a:p>
        </p:txBody>
      </p:sp>
      <p:sp>
        <p:nvSpPr>
          <p:cNvPr id="10" name="Right Arrow 9"/>
          <p:cNvSpPr/>
          <p:nvPr/>
        </p:nvSpPr>
        <p:spPr>
          <a:xfrm>
            <a:off x="8814816" y="1920240"/>
            <a:ext cx="292608" cy="292608"/>
          </a:xfrm>
          <a:prstGeom prst="rightArrow">
            <a:avLst/>
          </a:prstGeom>
          <a:solidFill>
            <a:srgbClr val="DFBE27"/>
          </a:solidFill>
          <a:ln>
            <a:noFill/>
          </a:ln>
        </p:spPr>
        <p:txBody>
          <a:bodyPr wrap="square" lIns="164592" tIns="109728" rIns="164592" bIns="109728" rtlCol="0" anchor="t"/>
          <a:lstStyle/>
          <a:p>
            <a:pPr algn="ctr"/>
            <a:endParaRPr/>
          </a:p>
        </p:txBody>
      </p:sp>
      <p:sp>
        <p:nvSpPr>
          <p:cNvPr id="11" name="Rounded Rectangle 10"/>
          <p:cNvSpPr/>
          <p:nvPr/>
        </p:nvSpPr>
        <p:spPr>
          <a:xfrm>
            <a:off x="9162288" y="1234440"/>
            <a:ext cx="2468880" cy="1645920"/>
          </a:xfrm>
          <a:prstGeom prst="roundRect">
            <a:avLst>
              <a:gd name="adj" fmla="val 6666"/>
            </a:avLst>
          </a:prstGeom>
          <a:solidFill>
            <a:srgbClr val="3B2D74"/>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4  Scores</a:t>
            </a:r>
          </a:p>
          <a:p>
            <a:pPr algn="l">
              <a:spcBef>
                <a:spcPts val="0"/>
              </a:spcBef>
              <a:spcAft>
                <a:spcPts val="300"/>
              </a:spcAft>
            </a:pPr>
            <a:r>
              <a:rPr sz="1400" b="0" i="0">
                <a:solidFill>
                  <a:srgbClr val="FFFFFF"/>
                </a:solidFill>
                <a:latin typeface="Calibri"/>
              </a:rPr>
              <a:t>Every possible next token gets a probability</a:t>
            </a:r>
          </a:p>
        </p:txBody>
      </p:sp>
      <p:sp>
        <p:nvSpPr>
          <p:cNvPr id="12" name="TextBox 11"/>
          <p:cNvSpPr txBox="1"/>
          <p:nvPr/>
        </p:nvSpPr>
        <p:spPr>
          <a:xfrm>
            <a:off x="548640" y="3154680"/>
            <a:ext cx="5852160" cy="365760"/>
          </a:xfrm>
          <a:prstGeom prst="rect">
            <a:avLst/>
          </a:prstGeom>
          <a:noFill/>
        </p:spPr>
        <p:txBody>
          <a:bodyPr wrap="square" lIns="45720" tIns="27432" rIns="45720" bIns="27432" anchor="t">
            <a:spAutoFit/>
          </a:bodyPr>
          <a:lstStyle/>
          <a:p>
            <a:pPr algn="l">
              <a:spcBef>
                <a:spcPts val="0"/>
              </a:spcBef>
              <a:spcAft>
                <a:spcPts val="0"/>
              </a:spcAft>
            </a:pPr>
            <a:r>
              <a:rPr sz="1800" b="1" i="0">
                <a:solidFill>
                  <a:srgbClr val="DFBE27"/>
                </a:solidFill>
                <a:latin typeface="Calibri"/>
              </a:rPr>
              <a:t>Next-token probabilities (illustrative)</a:t>
            </a:r>
          </a:p>
        </p:txBody>
      </p:sp>
      <p:sp>
        <p:nvSpPr>
          <p:cNvPr id="13" name="TextBox 12"/>
          <p:cNvSpPr txBox="1"/>
          <p:nvPr/>
        </p:nvSpPr>
        <p:spPr>
          <a:xfrm>
            <a:off x="548640" y="3703320"/>
            <a:ext cx="1280160" cy="411480"/>
          </a:xfrm>
          <a:prstGeom prst="rect">
            <a:avLst/>
          </a:prstGeom>
          <a:noFill/>
        </p:spPr>
        <p:txBody>
          <a:bodyPr wrap="square" lIns="45720" tIns="27432" rIns="45720" bIns="27432" anchor="ctr">
            <a:spAutoFit/>
          </a:bodyPr>
          <a:lstStyle/>
          <a:p>
            <a:pPr algn="l">
              <a:spcBef>
                <a:spcPts val="0"/>
              </a:spcBef>
              <a:spcAft>
                <a:spcPts val="0"/>
              </a:spcAft>
            </a:pPr>
            <a:r>
              <a:rPr sz="1600" b="0" i="0">
                <a:solidFill>
                  <a:srgbClr val="FFFFFF"/>
                </a:solidFill>
                <a:latin typeface="Courier New"/>
              </a:rPr>
              <a:t> New</a:t>
            </a:r>
          </a:p>
        </p:txBody>
      </p:sp>
      <p:sp>
        <p:nvSpPr>
          <p:cNvPr id="14" name="Rounded Rectangle 13"/>
          <p:cNvSpPr/>
          <p:nvPr/>
        </p:nvSpPr>
        <p:spPr>
          <a:xfrm>
            <a:off x="1874519" y="3730752"/>
            <a:ext cx="3566160" cy="365760"/>
          </a:xfrm>
          <a:prstGeom prst="roundRect">
            <a:avLst>
              <a:gd name="adj" fmla="val 15000"/>
            </a:avLst>
          </a:prstGeom>
          <a:solidFill>
            <a:srgbClr val="2D2057"/>
          </a:solidFill>
          <a:ln>
            <a:noFill/>
          </a:ln>
        </p:spPr>
        <p:txBody>
          <a:bodyPr wrap="square" lIns="164592" tIns="109728" rIns="164592" bIns="109728" rtlCol="0" anchor="t"/>
          <a:lstStyle/>
          <a:p>
            <a:pPr algn="ctr"/>
            <a:endParaRPr/>
          </a:p>
        </p:txBody>
      </p:sp>
      <p:sp>
        <p:nvSpPr>
          <p:cNvPr id="15" name="Rounded Rectangle 14"/>
          <p:cNvSpPr/>
          <p:nvPr/>
        </p:nvSpPr>
        <p:spPr>
          <a:xfrm>
            <a:off x="1874519" y="3730752"/>
            <a:ext cx="2924251" cy="365760"/>
          </a:xfrm>
          <a:prstGeom prst="roundRect">
            <a:avLst>
              <a:gd name="adj" fmla="val 15000"/>
            </a:avLst>
          </a:prstGeom>
          <a:solidFill>
            <a:srgbClr val="DFBE27"/>
          </a:solidFill>
          <a:ln>
            <a:noFill/>
          </a:ln>
        </p:spPr>
        <p:txBody>
          <a:bodyPr wrap="square" lIns="164592" tIns="109728" rIns="164592" bIns="109728" rtlCol="0" anchor="t"/>
          <a:lstStyle/>
          <a:p>
            <a:pPr algn="ctr"/>
            <a:endParaRPr/>
          </a:p>
        </p:txBody>
      </p:sp>
      <p:sp>
        <p:nvSpPr>
          <p:cNvPr id="16" name="TextBox 15"/>
          <p:cNvSpPr txBox="1"/>
          <p:nvPr/>
        </p:nvSpPr>
        <p:spPr>
          <a:xfrm>
            <a:off x="5532120" y="3703320"/>
            <a:ext cx="822960" cy="411480"/>
          </a:xfrm>
          <a:prstGeom prst="rect">
            <a:avLst/>
          </a:prstGeom>
          <a:noFill/>
        </p:spPr>
        <p:txBody>
          <a:bodyPr wrap="square" lIns="45720" tIns="27432" rIns="45720" bIns="27432" anchor="ctr">
            <a:spAutoFit/>
          </a:bodyPr>
          <a:lstStyle/>
          <a:p>
            <a:pPr algn="l">
              <a:spcBef>
                <a:spcPts val="0"/>
              </a:spcBef>
              <a:spcAft>
                <a:spcPts val="0"/>
              </a:spcAft>
            </a:pPr>
            <a:r>
              <a:rPr sz="1600" b="1" i="0">
                <a:solidFill>
                  <a:srgbClr val="FFFFFF"/>
                </a:solidFill>
                <a:latin typeface="Calibri"/>
              </a:rPr>
              <a:t>82%</a:t>
            </a:r>
          </a:p>
        </p:txBody>
      </p:sp>
      <p:sp>
        <p:nvSpPr>
          <p:cNvPr id="17" name="TextBox 16"/>
          <p:cNvSpPr txBox="1"/>
          <p:nvPr/>
        </p:nvSpPr>
        <p:spPr>
          <a:xfrm>
            <a:off x="548640" y="4325112"/>
            <a:ext cx="1280160" cy="411480"/>
          </a:xfrm>
          <a:prstGeom prst="rect">
            <a:avLst/>
          </a:prstGeom>
          <a:noFill/>
        </p:spPr>
        <p:txBody>
          <a:bodyPr wrap="square" lIns="45720" tIns="27432" rIns="45720" bIns="27432" anchor="ctr">
            <a:spAutoFit/>
          </a:bodyPr>
          <a:lstStyle/>
          <a:p>
            <a:pPr algn="l">
              <a:spcBef>
                <a:spcPts val="0"/>
              </a:spcBef>
              <a:spcAft>
                <a:spcPts val="0"/>
              </a:spcAft>
            </a:pPr>
            <a:r>
              <a:rPr sz="1600" b="0" i="0">
                <a:solidFill>
                  <a:srgbClr val="FFFFFF"/>
                </a:solidFill>
                <a:latin typeface="Courier New"/>
              </a:rPr>
              <a:t> Delhi</a:t>
            </a:r>
          </a:p>
        </p:txBody>
      </p:sp>
      <p:sp>
        <p:nvSpPr>
          <p:cNvPr id="18" name="Rounded Rectangle 17"/>
          <p:cNvSpPr/>
          <p:nvPr/>
        </p:nvSpPr>
        <p:spPr>
          <a:xfrm>
            <a:off x="1874519" y="4352544"/>
            <a:ext cx="3566160" cy="365760"/>
          </a:xfrm>
          <a:prstGeom prst="roundRect">
            <a:avLst>
              <a:gd name="adj" fmla="val 15000"/>
            </a:avLst>
          </a:prstGeom>
          <a:solidFill>
            <a:srgbClr val="2D2057"/>
          </a:solidFill>
          <a:ln>
            <a:noFill/>
          </a:ln>
        </p:spPr>
        <p:txBody>
          <a:bodyPr wrap="square" lIns="164592" tIns="109728" rIns="164592" bIns="109728" rtlCol="0" anchor="t"/>
          <a:lstStyle/>
          <a:p>
            <a:pPr algn="ctr"/>
            <a:endParaRPr/>
          </a:p>
        </p:txBody>
      </p:sp>
      <p:sp>
        <p:nvSpPr>
          <p:cNvPr id="19" name="Rounded Rectangle 18"/>
          <p:cNvSpPr/>
          <p:nvPr/>
        </p:nvSpPr>
        <p:spPr>
          <a:xfrm>
            <a:off x="1874519" y="4352544"/>
            <a:ext cx="320954" cy="365760"/>
          </a:xfrm>
          <a:prstGeom prst="roundRect">
            <a:avLst>
              <a:gd name="adj" fmla="val 17094"/>
            </a:avLst>
          </a:prstGeom>
          <a:solidFill>
            <a:srgbClr val="DFBE27"/>
          </a:solidFill>
          <a:ln>
            <a:noFill/>
          </a:ln>
        </p:spPr>
        <p:txBody>
          <a:bodyPr wrap="square" lIns="164592" tIns="109728" rIns="164592" bIns="109728" rtlCol="0" anchor="t"/>
          <a:lstStyle/>
          <a:p>
            <a:pPr algn="ctr"/>
            <a:endParaRPr/>
          </a:p>
        </p:txBody>
      </p:sp>
      <p:sp>
        <p:nvSpPr>
          <p:cNvPr id="20" name="TextBox 19"/>
          <p:cNvSpPr txBox="1"/>
          <p:nvPr/>
        </p:nvSpPr>
        <p:spPr>
          <a:xfrm>
            <a:off x="5532120" y="4325112"/>
            <a:ext cx="822960" cy="411480"/>
          </a:xfrm>
          <a:prstGeom prst="rect">
            <a:avLst/>
          </a:prstGeom>
          <a:noFill/>
        </p:spPr>
        <p:txBody>
          <a:bodyPr wrap="square" lIns="45720" tIns="27432" rIns="45720" bIns="27432" anchor="ctr">
            <a:spAutoFit/>
          </a:bodyPr>
          <a:lstStyle/>
          <a:p>
            <a:pPr algn="l">
              <a:spcBef>
                <a:spcPts val="0"/>
              </a:spcBef>
              <a:spcAft>
                <a:spcPts val="0"/>
              </a:spcAft>
            </a:pPr>
            <a:r>
              <a:rPr sz="1600" b="1" i="0">
                <a:solidFill>
                  <a:srgbClr val="FFFFFF"/>
                </a:solidFill>
                <a:latin typeface="Calibri"/>
              </a:rPr>
              <a:t>9%</a:t>
            </a:r>
          </a:p>
        </p:txBody>
      </p:sp>
      <p:sp>
        <p:nvSpPr>
          <p:cNvPr id="21" name="TextBox 20"/>
          <p:cNvSpPr txBox="1"/>
          <p:nvPr/>
        </p:nvSpPr>
        <p:spPr>
          <a:xfrm>
            <a:off x="548640" y="4946904"/>
            <a:ext cx="1280160" cy="411480"/>
          </a:xfrm>
          <a:prstGeom prst="rect">
            <a:avLst/>
          </a:prstGeom>
          <a:noFill/>
        </p:spPr>
        <p:txBody>
          <a:bodyPr wrap="square" lIns="45720" tIns="27432" rIns="45720" bIns="27432" anchor="ctr">
            <a:spAutoFit/>
          </a:bodyPr>
          <a:lstStyle/>
          <a:p>
            <a:pPr algn="l">
              <a:spcBef>
                <a:spcPts val="0"/>
              </a:spcBef>
              <a:spcAft>
                <a:spcPts val="0"/>
              </a:spcAft>
            </a:pPr>
            <a:r>
              <a:rPr sz="1600" b="0" i="0">
                <a:solidFill>
                  <a:srgbClr val="FFFFFF"/>
                </a:solidFill>
                <a:latin typeface="Courier New"/>
              </a:rPr>
              <a:t> the</a:t>
            </a:r>
          </a:p>
        </p:txBody>
      </p:sp>
      <p:sp>
        <p:nvSpPr>
          <p:cNvPr id="22" name="Rounded Rectangle 21"/>
          <p:cNvSpPr/>
          <p:nvPr/>
        </p:nvSpPr>
        <p:spPr>
          <a:xfrm>
            <a:off x="1874519" y="4974336"/>
            <a:ext cx="3566160" cy="365760"/>
          </a:xfrm>
          <a:prstGeom prst="roundRect">
            <a:avLst>
              <a:gd name="adj" fmla="val 15000"/>
            </a:avLst>
          </a:prstGeom>
          <a:solidFill>
            <a:srgbClr val="2D2057"/>
          </a:solidFill>
          <a:ln>
            <a:noFill/>
          </a:ln>
        </p:spPr>
        <p:txBody>
          <a:bodyPr wrap="square" lIns="164592" tIns="109728" rIns="164592" bIns="109728" rtlCol="0" anchor="t"/>
          <a:lstStyle/>
          <a:p>
            <a:pPr algn="ctr"/>
            <a:endParaRPr/>
          </a:p>
        </p:txBody>
      </p:sp>
      <p:sp>
        <p:nvSpPr>
          <p:cNvPr id="23" name="Rounded Rectangle 22"/>
          <p:cNvSpPr/>
          <p:nvPr/>
        </p:nvSpPr>
        <p:spPr>
          <a:xfrm>
            <a:off x="1874519" y="4974336"/>
            <a:ext cx="178308" cy="365760"/>
          </a:xfrm>
          <a:prstGeom prst="roundRect">
            <a:avLst>
              <a:gd name="adj" fmla="val 30769"/>
            </a:avLst>
          </a:prstGeom>
          <a:solidFill>
            <a:srgbClr val="DFBE27"/>
          </a:solidFill>
          <a:ln>
            <a:noFill/>
          </a:ln>
        </p:spPr>
        <p:txBody>
          <a:bodyPr wrap="square" lIns="164592" tIns="109728" rIns="164592" bIns="109728" rtlCol="0" anchor="t"/>
          <a:lstStyle/>
          <a:p>
            <a:pPr algn="ctr"/>
            <a:endParaRPr/>
          </a:p>
        </p:txBody>
      </p:sp>
      <p:sp>
        <p:nvSpPr>
          <p:cNvPr id="24" name="TextBox 23"/>
          <p:cNvSpPr txBox="1"/>
          <p:nvPr/>
        </p:nvSpPr>
        <p:spPr>
          <a:xfrm>
            <a:off x="5532120" y="4946904"/>
            <a:ext cx="822960" cy="411480"/>
          </a:xfrm>
          <a:prstGeom prst="rect">
            <a:avLst/>
          </a:prstGeom>
          <a:noFill/>
        </p:spPr>
        <p:txBody>
          <a:bodyPr wrap="square" lIns="45720" tIns="27432" rIns="45720" bIns="27432" anchor="ctr">
            <a:spAutoFit/>
          </a:bodyPr>
          <a:lstStyle/>
          <a:p>
            <a:pPr algn="l">
              <a:spcBef>
                <a:spcPts val="0"/>
              </a:spcBef>
              <a:spcAft>
                <a:spcPts val="0"/>
              </a:spcAft>
            </a:pPr>
            <a:r>
              <a:rPr sz="1600" b="1" i="0">
                <a:solidFill>
                  <a:srgbClr val="FFFFFF"/>
                </a:solidFill>
                <a:latin typeface="Calibri"/>
              </a:rPr>
              <a:t>5%</a:t>
            </a:r>
          </a:p>
        </p:txBody>
      </p:sp>
      <p:sp>
        <p:nvSpPr>
          <p:cNvPr id="25" name="TextBox 24"/>
          <p:cNvSpPr txBox="1"/>
          <p:nvPr/>
        </p:nvSpPr>
        <p:spPr>
          <a:xfrm>
            <a:off x="548640" y="5568696"/>
            <a:ext cx="1280160" cy="411480"/>
          </a:xfrm>
          <a:prstGeom prst="rect">
            <a:avLst/>
          </a:prstGeom>
          <a:noFill/>
        </p:spPr>
        <p:txBody>
          <a:bodyPr wrap="square" lIns="45720" tIns="27432" rIns="45720" bIns="27432" anchor="ctr">
            <a:spAutoFit/>
          </a:bodyPr>
          <a:lstStyle/>
          <a:p>
            <a:pPr algn="l">
              <a:spcBef>
                <a:spcPts val="0"/>
              </a:spcBef>
              <a:spcAft>
                <a:spcPts val="0"/>
              </a:spcAft>
            </a:pPr>
            <a:r>
              <a:rPr sz="1600" b="0" i="0">
                <a:solidFill>
                  <a:srgbClr val="FFFFFF"/>
                </a:solidFill>
                <a:latin typeface="Courier New"/>
              </a:rPr>
              <a:t> Mumbai</a:t>
            </a:r>
          </a:p>
        </p:txBody>
      </p:sp>
      <p:sp>
        <p:nvSpPr>
          <p:cNvPr id="26" name="Rounded Rectangle 25"/>
          <p:cNvSpPr/>
          <p:nvPr/>
        </p:nvSpPr>
        <p:spPr>
          <a:xfrm>
            <a:off x="1874519" y="5596128"/>
            <a:ext cx="3566160" cy="365760"/>
          </a:xfrm>
          <a:prstGeom prst="roundRect">
            <a:avLst>
              <a:gd name="adj" fmla="val 15000"/>
            </a:avLst>
          </a:prstGeom>
          <a:solidFill>
            <a:srgbClr val="2D2057"/>
          </a:solidFill>
          <a:ln>
            <a:noFill/>
          </a:ln>
        </p:spPr>
        <p:txBody>
          <a:bodyPr wrap="square" lIns="164592" tIns="109728" rIns="164592" bIns="109728" rtlCol="0" anchor="t"/>
          <a:lstStyle/>
          <a:p>
            <a:pPr algn="ctr"/>
            <a:endParaRPr/>
          </a:p>
        </p:txBody>
      </p:sp>
      <p:sp>
        <p:nvSpPr>
          <p:cNvPr id="27" name="Rounded Rectangle 26"/>
          <p:cNvSpPr/>
          <p:nvPr/>
        </p:nvSpPr>
        <p:spPr>
          <a:xfrm>
            <a:off x="1874519" y="5596128"/>
            <a:ext cx="109728" cy="365760"/>
          </a:xfrm>
          <a:prstGeom prst="roundRect">
            <a:avLst>
              <a:gd name="adj" fmla="val 50000"/>
            </a:avLst>
          </a:prstGeom>
          <a:solidFill>
            <a:srgbClr val="DFBE27"/>
          </a:solidFill>
          <a:ln>
            <a:noFill/>
          </a:ln>
        </p:spPr>
        <p:txBody>
          <a:bodyPr wrap="square" lIns="164592" tIns="109728" rIns="164592" bIns="109728" rtlCol="0" anchor="t"/>
          <a:lstStyle/>
          <a:p>
            <a:pPr algn="ctr"/>
            <a:endParaRPr/>
          </a:p>
        </p:txBody>
      </p:sp>
      <p:sp>
        <p:nvSpPr>
          <p:cNvPr id="28" name="TextBox 27"/>
          <p:cNvSpPr txBox="1"/>
          <p:nvPr/>
        </p:nvSpPr>
        <p:spPr>
          <a:xfrm>
            <a:off x="5532120" y="5568696"/>
            <a:ext cx="822960" cy="411480"/>
          </a:xfrm>
          <a:prstGeom prst="rect">
            <a:avLst/>
          </a:prstGeom>
          <a:noFill/>
        </p:spPr>
        <p:txBody>
          <a:bodyPr wrap="square" lIns="45720" tIns="27432" rIns="45720" bIns="27432" anchor="ctr">
            <a:spAutoFit/>
          </a:bodyPr>
          <a:lstStyle/>
          <a:p>
            <a:pPr algn="l">
              <a:spcBef>
                <a:spcPts val="0"/>
              </a:spcBef>
              <a:spcAft>
                <a:spcPts val="0"/>
              </a:spcAft>
            </a:pPr>
            <a:r>
              <a:rPr sz="1600" b="1" i="0">
                <a:solidFill>
                  <a:srgbClr val="FFFFFF"/>
                </a:solidFill>
                <a:latin typeface="Calibri"/>
              </a:rPr>
              <a:t>2%</a:t>
            </a:r>
          </a:p>
        </p:txBody>
      </p:sp>
      <p:sp>
        <p:nvSpPr>
          <p:cNvPr id="29" name="Rounded Rectangle 28"/>
          <p:cNvSpPr/>
          <p:nvPr/>
        </p:nvSpPr>
        <p:spPr>
          <a:xfrm>
            <a:off x="6675120" y="3154680"/>
            <a:ext cx="4965192" cy="3063240"/>
          </a:xfrm>
          <a:prstGeom prst="roundRect">
            <a:avLst>
              <a:gd name="adj" fmla="val 3582"/>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Steps 5 and 6: pick and repeat</a:t>
            </a:r>
          </a:p>
          <a:p>
            <a:pPr marL="201168" indent="-201168" algn="l">
              <a:spcBef>
                <a:spcPts val="0"/>
              </a:spcBef>
              <a:spcAft>
                <a:spcPts val="300"/>
              </a:spcAft>
              <a:buClr>
                <a:srgbClr val="DFBE27"/>
              </a:buClr>
              <a:buFont typeface="Arial"/>
              <a:buChar char="•"/>
            </a:pPr>
            <a:r>
              <a:rPr sz="1500" b="0" i="0">
                <a:solidFill>
                  <a:srgbClr val="FFFFFF"/>
                </a:solidFill>
                <a:latin typeface="Calibri"/>
              </a:rPr>
              <a:t>Pick one token. Temperature controls how adventurous the pick is.</a:t>
            </a:r>
          </a:p>
          <a:p>
            <a:pPr marL="201168" indent="-201168" algn="l">
              <a:spcBef>
                <a:spcPts val="0"/>
              </a:spcBef>
              <a:spcAft>
                <a:spcPts val="300"/>
              </a:spcAft>
              <a:buClr>
                <a:srgbClr val="DFBE27"/>
              </a:buClr>
              <a:buFont typeface="Arial"/>
              <a:buChar char="•"/>
            </a:pPr>
            <a:r>
              <a:rPr sz="1500" b="0" i="0">
                <a:solidFill>
                  <a:srgbClr val="FFFFFF"/>
                </a:solidFill>
                <a:latin typeface="Calibri"/>
              </a:rPr>
              <a:t>Append it to the text and run the model again.</a:t>
            </a:r>
          </a:p>
          <a:p>
            <a:pPr marL="201168" indent="-201168" algn="l">
              <a:spcBef>
                <a:spcPts val="0"/>
              </a:spcBef>
              <a:spcAft>
                <a:spcPts val="300"/>
              </a:spcAft>
              <a:buClr>
                <a:srgbClr val="DFBE27"/>
              </a:buClr>
              <a:buFont typeface="Arial"/>
              <a:buChar char="•"/>
            </a:pPr>
            <a:r>
              <a:rPr sz="1500" b="0" i="0">
                <a:solidFill>
                  <a:srgbClr val="FFFFFF"/>
                </a:solidFill>
                <a:latin typeface="Calibri"/>
              </a:rPr>
              <a:t>Stop at the end-of-sequence token or the max-token limit.</a:t>
            </a:r>
          </a:p>
          <a:p>
            <a:pPr marL="201168" indent="-201168" algn="l">
              <a:spcBef>
                <a:spcPts val="0"/>
              </a:spcBef>
              <a:spcAft>
                <a:spcPts val="300"/>
              </a:spcAft>
              <a:buClr>
                <a:srgbClr val="DFBE27"/>
              </a:buClr>
              <a:buFont typeface="Arial"/>
              <a:buChar char="•"/>
            </a:pPr>
            <a:r>
              <a:rPr sz="1500" b="0" i="0">
                <a:solidFill>
                  <a:srgbClr val="FFFFFF"/>
                </a:solidFill>
                <a:latin typeface="Calibri"/>
              </a:rPr>
              <a:t>Result: “The capital of India is New Delhi.”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Key LLM Concepts for Developers</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234440"/>
            <a:ext cx="3593592" cy="2331720"/>
          </a:xfrm>
          <a:prstGeom prst="roundRect">
            <a:avLst>
              <a:gd name="adj" fmla="val 4705"/>
            </a:avLst>
          </a:prstGeom>
          <a:solidFill>
            <a:srgbClr val="2D2057"/>
          </a:solidFill>
          <a:ln>
            <a:noFill/>
          </a:ln>
        </p:spPr>
        <p:txBody>
          <a:bodyPr wrap="square" lIns="164592" tIns="109728" rIns="164592" bIns="109728" rtlCol="0" anchor="t"/>
          <a:lstStyle/>
          <a:p>
            <a:pPr algn="ctr"/>
            <a:endParaRPr/>
          </a:p>
        </p:txBody>
      </p:sp>
      <p:sp>
        <p:nvSpPr>
          <p:cNvPr id="6" name="Oval 5"/>
          <p:cNvSpPr/>
          <p:nvPr/>
        </p:nvSpPr>
        <p:spPr>
          <a:xfrm>
            <a:off x="731520" y="1399032"/>
            <a:ext cx="457200" cy="457200"/>
          </a:xfrm>
          <a:prstGeom prst="ellipse">
            <a:avLst/>
          </a:prstGeom>
          <a:solidFill>
            <a:srgbClr val="DFBE27"/>
          </a:solidFill>
          <a:ln>
            <a:noFill/>
          </a:ln>
        </p:spPr>
        <p:txBody>
          <a:bodyPr wrap="square" lIns="0" tIns="0" rIns="0" bIns="0" rtlCol="0" anchor="ctr"/>
          <a:lstStyle/>
          <a:p>
            <a:pPr algn="ctr">
              <a:spcBef>
                <a:spcPts val="0"/>
              </a:spcBef>
              <a:spcAft>
                <a:spcPts val="0"/>
              </a:spcAft>
            </a:pPr>
            <a:r>
              <a:rPr sz="1600" b="1" i="0">
                <a:solidFill>
                  <a:srgbClr val="1E1139"/>
                </a:solidFill>
                <a:latin typeface="Calibri"/>
              </a:rPr>
              <a:t>1</a:t>
            </a:r>
          </a:p>
        </p:txBody>
      </p:sp>
      <p:sp>
        <p:nvSpPr>
          <p:cNvPr id="7" name="TextBox 6"/>
          <p:cNvSpPr txBox="1"/>
          <p:nvPr/>
        </p:nvSpPr>
        <p:spPr>
          <a:xfrm>
            <a:off x="1325880" y="1399032"/>
            <a:ext cx="2697480" cy="457200"/>
          </a:xfrm>
          <a:prstGeom prst="rect">
            <a:avLst/>
          </a:prstGeom>
          <a:noFill/>
        </p:spPr>
        <p:txBody>
          <a:bodyPr wrap="square" lIns="45720" tIns="27432" rIns="45720" bIns="27432" anchor="ctr">
            <a:spAutoFit/>
          </a:bodyPr>
          <a:lstStyle/>
          <a:p>
            <a:pPr algn="l">
              <a:spcBef>
                <a:spcPts val="0"/>
              </a:spcBef>
              <a:spcAft>
                <a:spcPts val="0"/>
              </a:spcAft>
            </a:pPr>
            <a:r>
              <a:rPr sz="2000" b="1" i="0">
                <a:solidFill>
                  <a:srgbClr val="DFBE27"/>
                </a:solidFill>
                <a:latin typeface="Calibri"/>
              </a:rPr>
              <a:t>Token</a:t>
            </a:r>
          </a:p>
        </p:txBody>
      </p:sp>
      <p:sp>
        <p:nvSpPr>
          <p:cNvPr id="8" name="TextBox 7"/>
          <p:cNvSpPr txBox="1"/>
          <p:nvPr/>
        </p:nvSpPr>
        <p:spPr>
          <a:xfrm>
            <a:off x="731520" y="2011680"/>
            <a:ext cx="3246120" cy="150876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A chunk of text the model reads and writes: roughly 4 characters or ¾ of an English word. Limits and billing are counted in tokens.</a:t>
            </a:r>
          </a:p>
        </p:txBody>
      </p:sp>
      <p:sp>
        <p:nvSpPr>
          <p:cNvPr id="9" name="Rounded Rectangle 8"/>
          <p:cNvSpPr/>
          <p:nvPr/>
        </p:nvSpPr>
        <p:spPr>
          <a:xfrm>
            <a:off x="4297679" y="1234440"/>
            <a:ext cx="3593592" cy="2331720"/>
          </a:xfrm>
          <a:prstGeom prst="roundRect">
            <a:avLst>
              <a:gd name="adj" fmla="val 4705"/>
            </a:avLst>
          </a:prstGeom>
          <a:solidFill>
            <a:srgbClr val="2D2057"/>
          </a:solidFill>
          <a:ln>
            <a:noFill/>
          </a:ln>
        </p:spPr>
        <p:txBody>
          <a:bodyPr wrap="square" lIns="164592" tIns="109728" rIns="164592" bIns="109728" rtlCol="0" anchor="t"/>
          <a:lstStyle/>
          <a:p>
            <a:pPr algn="ctr"/>
            <a:endParaRPr/>
          </a:p>
        </p:txBody>
      </p:sp>
      <p:sp>
        <p:nvSpPr>
          <p:cNvPr id="10" name="Oval 9"/>
          <p:cNvSpPr/>
          <p:nvPr/>
        </p:nvSpPr>
        <p:spPr>
          <a:xfrm>
            <a:off x="4480559" y="1399032"/>
            <a:ext cx="457200" cy="457200"/>
          </a:xfrm>
          <a:prstGeom prst="ellipse">
            <a:avLst/>
          </a:prstGeom>
          <a:solidFill>
            <a:srgbClr val="DFBE27"/>
          </a:solidFill>
          <a:ln>
            <a:noFill/>
          </a:ln>
        </p:spPr>
        <p:txBody>
          <a:bodyPr wrap="square" lIns="0" tIns="0" rIns="0" bIns="0" rtlCol="0" anchor="ctr"/>
          <a:lstStyle/>
          <a:p>
            <a:pPr algn="ctr">
              <a:spcBef>
                <a:spcPts val="0"/>
              </a:spcBef>
              <a:spcAft>
                <a:spcPts val="0"/>
              </a:spcAft>
            </a:pPr>
            <a:r>
              <a:rPr sz="1600" b="1" i="0">
                <a:solidFill>
                  <a:srgbClr val="1E1139"/>
                </a:solidFill>
                <a:latin typeface="Calibri"/>
              </a:rPr>
              <a:t>2</a:t>
            </a:r>
          </a:p>
        </p:txBody>
      </p:sp>
      <p:sp>
        <p:nvSpPr>
          <p:cNvPr id="11" name="TextBox 10"/>
          <p:cNvSpPr txBox="1"/>
          <p:nvPr/>
        </p:nvSpPr>
        <p:spPr>
          <a:xfrm>
            <a:off x="5074919" y="1399032"/>
            <a:ext cx="2697480" cy="457200"/>
          </a:xfrm>
          <a:prstGeom prst="rect">
            <a:avLst/>
          </a:prstGeom>
          <a:noFill/>
        </p:spPr>
        <p:txBody>
          <a:bodyPr wrap="square" lIns="45720" tIns="27432" rIns="45720" bIns="27432" anchor="ctr">
            <a:spAutoFit/>
          </a:bodyPr>
          <a:lstStyle/>
          <a:p>
            <a:pPr algn="l">
              <a:spcBef>
                <a:spcPts val="0"/>
              </a:spcBef>
              <a:spcAft>
                <a:spcPts val="0"/>
              </a:spcAft>
            </a:pPr>
            <a:r>
              <a:rPr sz="2000" b="1" i="0">
                <a:solidFill>
                  <a:srgbClr val="DFBE27"/>
                </a:solidFill>
                <a:latin typeface="Calibri"/>
              </a:rPr>
              <a:t>Context window</a:t>
            </a:r>
          </a:p>
        </p:txBody>
      </p:sp>
      <p:sp>
        <p:nvSpPr>
          <p:cNvPr id="12" name="TextBox 11"/>
          <p:cNvSpPr txBox="1"/>
          <p:nvPr/>
        </p:nvSpPr>
        <p:spPr>
          <a:xfrm>
            <a:off x="4480559" y="2011680"/>
            <a:ext cx="3246120" cy="150876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The maximum tokens (prompt plus response) the model can handle at once. Go over it and old content is cut or the call fails.</a:t>
            </a:r>
          </a:p>
        </p:txBody>
      </p:sp>
      <p:sp>
        <p:nvSpPr>
          <p:cNvPr id="13" name="Rounded Rectangle 12"/>
          <p:cNvSpPr/>
          <p:nvPr/>
        </p:nvSpPr>
        <p:spPr>
          <a:xfrm>
            <a:off x="8046719" y="1234440"/>
            <a:ext cx="3593592" cy="2331720"/>
          </a:xfrm>
          <a:prstGeom prst="roundRect">
            <a:avLst>
              <a:gd name="adj" fmla="val 4705"/>
            </a:avLst>
          </a:prstGeom>
          <a:solidFill>
            <a:srgbClr val="2D2057"/>
          </a:solidFill>
          <a:ln>
            <a:noFill/>
          </a:ln>
        </p:spPr>
        <p:txBody>
          <a:bodyPr wrap="square" lIns="164592" tIns="109728" rIns="164592" bIns="109728" rtlCol="0" anchor="t"/>
          <a:lstStyle/>
          <a:p>
            <a:pPr algn="ctr"/>
            <a:endParaRPr/>
          </a:p>
        </p:txBody>
      </p:sp>
      <p:sp>
        <p:nvSpPr>
          <p:cNvPr id="14" name="Oval 13"/>
          <p:cNvSpPr/>
          <p:nvPr/>
        </p:nvSpPr>
        <p:spPr>
          <a:xfrm>
            <a:off x="8229599" y="1399032"/>
            <a:ext cx="457200" cy="457200"/>
          </a:xfrm>
          <a:prstGeom prst="ellipse">
            <a:avLst/>
          </a:prstGeom>
          <a:solidFill>
            <a:srgbClr val="DFBE27"/>
          </a:solidFill>
          <a:ln>
            <a:noFill/>
          </a:ln>
        </p:spPr>
        <p:txBody>
          <a:bodyPr wrap="square" lIns="0" tIns="0" rIns="0" bIns="0" rtlCol="0" anchor="ctr"/>
          <a:lstStyle/>
          <a:p>
            <a:pPr algn="ctr">
              <a:spcBef>
                <a:spcPts val="0"/>
              </a:spcBef>
              <a:spcAft>
                <a:spcPts val="0"/>
              </a:spcAft>
            </a:pPr>
            <a:r>
              <a:rPr sz="1600" b="1" i="0">
                <a:solidFill>
                  <a:srgbClr val="1E1139"/>
                </a:solidFill>
                <a:latin typeface="Calibri"/>
              </a:rPr>
              <a:t>3</a:t>
            </a:r>
          </a:p>
        </p:txBody>
      </p:sp>
      <p:sp>
        <p:nvSpPr>
          <p:cNvPr id="15" name="TextBox 14"/>
          <p:cNvSpPr txBox="1"/>
          <p:nvPr/>
        </p:nvSpPr>
        <p:spPr>
          <a:xfrm>
            <a:off x="8823959" y="1399032"/>
            <a:ext cx="2697480" cy="457200"/>
          </a:xfrm>
          <a:prstGeom prst="rect">
            <a:avLst/>
          </a:prstGeom>
          <a:noFill/>
        </p:spPr>
        <p:txBody>
          <a:bodyPr wrap="square" lIns="45720" tIns="27432" rIns="45720" bIns="27432" anchor="ctr">
            <a:spAutoFit/>
          </a:bodyPr>
          <a:lstStyle/>
          <a:p>
            <a:pPr algn="l">
              <a:spcBef>
                <a:spcPts val="0"/>
              </a:spcBef>
              <a:spcAft>
                <a:spcPts val="0"/>
              </a:spcAft>
            </a:pPr>
            <a:r>
              <a:rPr sz="2000" b="1" i="0">
                <a:solidFill>
                  <a:srgbClr val="DFBE27"/>
                </a:solidFill>
                <a:latin typeface="Calibri"/>
              </a:rPr>
              <a:t>Temperature</a:t>
            </a:r>
          </a:p>
        </p:txBody>
      </p:sp>
      <p:sp>
        <p:nvSpPr>
          <p:cNvPr id="16" name="TextBox 15"/>
          <p:cNvSpPr txBox="1"/>
          <p:nvPr/>
        </p:nvSpPr>
        <p:spPr>
          <a:xfrm>
            <a:off x="8229599" y="2011680"/>
            <a:ext cx="3246120" cy="150876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Controls randomness. Low (0 to 0.3) gives focused, repeatable answers. High (0.8+) gives creative, varied ones.</a:t>
            </a:r>
          </a:p>
        </p:txBody>
      </p:sp>
      <p:sp>
        <p:nvSpPr>
          <p:cNvPr id="17" name="Rounded Rectangle 16"/>
          <p:cNvSpPr/>
          <p:nvPr/>
        </p:nvSpPr>
        <p:spPr>
          <a:xfrm>
            <a:off x="548640" y="3749039"/>
            <a:ext cx="3593592" cy="2331720"/>
          </a:xfrm>
          <a:prstGeom prst="roundRect">
            <a:avLst>
              <a:gd name="adj" fmla="val 4705"/>
            </a:avLst>
          </a:prstGeom>
          <a:solidFill>
            <a:srgbClr val="2D2057"/>
          </a:solidFill>
          <a:ln>
            <a:noFill/>
          </a:ln>
        </p:spPr>
        <p:txBody>
          <a:bodyPr wrap="square" lIns="164592" tIns="109728" rIns="164592" bIns="109728" rtlCol="0" anchor="t"/>
          <a:lstStyle/>
          <a:p>
            <a:pPr algn="ctr"/>
            <a:endParaRPr/>
          </a:p>
        </p:txBody>
      </p:sp>
      <p:sp>
        <p:nvSpPr>
          <p:cNvPr id="18" name="Oval 17"/>
          <p:cNvSpPr/>
          <p:nvPr/>
        </p:nvSpPr>
        <p:spPr>
          <a:xfrm>
            <a:off x="731520" y="3913631"/>
            <a:ext cx="457200" cy="457200"/>
          </a:xfrm>
          <a:prstGeom prst="ellipse">
            <a:avLst/>
          </a:prstGeom>
          <a:solidFill>
            <a:srgbClr val="DFBE27"/>
          </a:solidFill>
          <a:ln>
            <a:noFill/>
          </a:ln>
        </p:spPr>
        <p:txBody>
          <a:bodyPr wrap="square" lIns="0" tIns="0" rIns="0" bIns="0" rtlCol="0" anchor="ctr"/>
          <a:lstStyle/>
          <a:p>
            <a:pPr algn="ctr">
              <a:spcBef>
                <a:spcPts val="0"/>
              </a:spcBef>
              <a:spcAft>
                <a:spcPts val="0"/>
              </a:spcAft>
            </a:pPr>
            <a:r>
              <a:rPr sz="1600" b="1" i="0">
                <a:solidFill>
                  <a:srgbClr val="1E1139"/>
                </a:solidFill>
                <a:latin typeface="Calibri"/>
              </a:rPr>
              <a:t>4</a:t>
            </a:r>
          </a:p>
        </p:txBody>
      </p:sp>
      <p:sp>
        <p:nvSpPr>
          <p:cNvPr id="19" name="TextBox 18"/>
          <p:cNvSpPr txBox="1"/>
          <p:nvPr/>
        </p:nvSpPr>
        <p:spPr>
          <a:xfrm>
            <a:off x="1325880" y="3913631"/>
            <a:ext cx="2697480" cy="457200"/>
          </a:xfrm>
          <a:prstGeom prst="rect">
            <a:avLst/>
          </a:prstGeom>
          <a:noFill/>
        </p:spPr>
        <p:txBody>
          <a:bodyPr wrap="square" lIns="45720" tIns="27432" rIns="45720" bIns="27432" anchor="ctr">
            <a:spAutoFit/>
          </a:bodyPr>
          <a:lstStyle/>
          <a:p>
            <a:pPr algn="l">
              <a:spcBef>
                <a:spcPts val="0"/>
              </a:spcBef>
              <a:spcAft>
                <a:spcPts val="0"/>
              </a:spcAft>
            </a:pPr>
            <a:r>
              <a:rPr sz="2000" b="1" i="0">
                <a:solidFill>
                  <a:srgbClr val="DFBE27"/>
                </a:solidFill>
                <a:latin typeface="Calibri"/>
              </a:rPr>
              <a:t>Top-p</a:t>
            </a:r>
          </a:p>
        </p:txBody>
      </p:sp>
      <p:sp>
        <p:nvSpPr>
          <p:cNvPr id="20" name="TextBox 19"/>
          <p:cNvSpPr txBox="1"/>
          <p:nvPr/>
        </p:nvSpPr>
        <p:spPr>
          <a:xfrm>
            <a:off x="731520" y="4526279"/>
            <a:ext cx="3246120" cy="150876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Nucleus sampling: choose only from the smallest set of tokens whose probabilities add up to p. Tune this or temperature, not both.</a:t>
            </a:r>
          </a:p>
        </p:txBody>
      </p:sp>
      <p:sp>
        <p:nvSpPr>
          <p:cNvPr id="21" name="Rounded Rectangle 20"/>
          <p:cNvSpPr/>
          <p:nvPr/>
        </p:nvSpPr>
        <p:spPr>
          <a:xfrm>
            <a:off x="4297679" y="3749039"/>
            <a:ext cx="3593592" cy="2331720"/>
          </a:xfrm>
          <a:prstGeom prst="roundRect">
            <a:avLst>
              <a:gd name="adj" fmla="val 4705"/>
            </a:avLst>
          </a:prstGeom>
          <a:solidFill>
            <a:srgbClr val="2D2057"/>
          </a:solidFill>
          <a:ln>
            <a:noFill/>
          </a:ln>
        </p:spPr>
        <p:txBody>
          <a:bodyPr wrap="square" lIns="164592" tIns="109728" rIns="164592" bIns="109728" rtlCol="0" anchor="t"/>
          <a:lstStyle/>
          <a:p>
            <a:pPr algn="ctr"/>
            <a:endParaRPr/>
          </a:p>
        </p:txBody>
      </p:sp>
      <p:sp>
        <p:nvSpPr>
          <p:cNvPr id="22" name="Oval 21"/>
          <p:cNvSpPr/>
          <p:nvPr/>
        </p:nvSpPr>
        <p:spPr>
          <a:xfrm>
            <a:off x="4480559" y="3913631"/>
            <a:ext cx="457200" cy="457200"/>
          </a:xfrm>
          <a:prstGeom prst="ellipse">
            <a:avLst/>
          </a:prstGeom>
          <a:solidFill>
            <a:srgbClr val="DFBE27"/>
          </a:solidFill>
          <a:ln>
            <a:noFill/>
          </a:ln>
        </p:spPr>
        <p:txBody>
          <a:bodyPr wrap="square" lIns="0" tIns="0" rIns="0" bIns="0" rtlCol="0" anchor="ctr"/>
          <a:lstStyle/>
          <a:p>
            <a:pPr algn="ctr">
              <a:spcBef>
                <a:spcPts val="0"/>
              </a:spcBef>
              <a:spcAft>
                <a:spcPts val="0"/>
              </a:spcAft>
            </a:pPr>
            <a:r>
              <a:rPr sz="1600" b="1" i="0">
                <a:solidFill>
                  <a:srgbClr val="1E1139"/>
                </a:solidFill>
                <a:latin typeface="Calibri"/>
              </a:rPr>
              <a:t>5</a:t>
            </a:r>
          </a:p>
        </p:txBody>
      </p:sp>
      <p:sp>
        <p:nvSpPr>
          <p:cNvPr id="23" name="TextBox 22"/>
          <p:cNvSpPr txBox="1"/>
          <p:nvPr/>
        </p:nvSpPr>
        <p:spPr>
          <a:xfrm>
            <a:off x="5074919" y="3913631"/>
            <a:ext cx="2697480" cy="457200"/>
          </a:xfrm>
          <a:prstGeom prst="rect">
            <a:avLst/>
          </a:prstGeom>
          <a:noFill/>
        </p:spPr>
        <p:txBody>
          <a:bodyPr wrap="square" lIns="45720" tIns="27432" rIns="45720" bIns="27432" anchor="ctr">
            <a:spAutoFit/>
          </a:bodyPr>
          <a:lstStyle/>
          <a:p>
            <a:pPr algn="l">
              <a:spcBef>
                <a:spcPts val="0"/>
              </a:spcBef>
              <a:spcAft>
                <a:spcPts val="0"/>
              </a:spcAft>
            </a:pPr>
            <a:r>
              <a:rPr sz="2000" b="1" i="0">
                <a:solidFill>
                  <a:srgbClr val="DFBE27"/>
                </a:solidFill>
                <a:latin typeface="Calibri"/>
              </a:rPr>
              <a:t>Max tokens</a:t>
            </a:r>
          </a:p>
        </p:txBody>
      </p:sp>
      <p:sp>
        <p:nvSpPr>
          <p:cNvPr id="24" name="TextBox 23"/>
          <p:cNvSpPr txBox="1"/>
          <p:nvPr/>
        </p:nvSpPr>
        <p:spPr>
          <a:xfrm>
            <a:off x="4480559" y="4526279"/>
            <a:ext cx="3246120" cy="150876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Upper limit on response length. It protects cost and latency.</a:t>
            </a:r>
          </a:p>
        </p:txBody>
      </p:sp>
      <p:sp>
        <p:nvSpPr>
          <p:cNvPr id="25" name="Rounded Rectangle 24"/>
          <p:cNvSpPr/>
          <p:nvPr/>
        </p:nvSpPr>
        <p:spPr>
          <a:xfrm>
            <a:off x="8046719" y="3749039"/>
            <a:ext cx="3593592" cy="2331720"/>
          </a:xfrm>
          <a:prstGeom prst="roundRect">
            <a:avLst>
              <a:gd name="adj" fmla="val 4705"/>
            </a:avLst>
          </a:prstGeom>
          <a:solidFill>
            <a:srgbClr val="2D2057"/>
          </a:solidFill>
          <a:ln>
            <a:noFill/>
          </a:ln>
        </p:spPr>
        <p:txBody>
          <a:bodyPr wrap="square" lIns="164592" tIns="109728" rIns="164592" bIns="109728" rtlCol="0" anchor="t"/>
          <a:lstStyle/>
          <a:p>
            <a:pPr algn="ctr"/>
            <a:endParaRPr/>
          </a:p>
        </p:txBody>
      </p:sp>
      <p:sp>
        <p:nvSpPr>
          <p:cNvPr id="26" name="Oval 25"/>
          <p:cNvSpPr/>
          <p:nvPr/>
        </p:nvSpPr>
        <p:spPr>
          <a:xfrm>
            <a:off x="8229599" y="3913631"/>
            <a:ext cx="457200" cy="457200"/>
          </a:xfrm>
          <a:prstGeom prst="ellipse">
            <a:avLst/>
          </a:prstGeom>
          <a:solidFill>
            <a:srgbClr val="DFBE27"/>
          </a:solidFill>
          <a:ln>
            <a:noFill/>
          </a:ln>
        </p:spPr>
        <p:txBody>
          <a:bodyPr wrap="square" lIns="0" tIns="0" rIns="0" bIns="0" rtlCol="0" anchor="ctr"/>
          <a:lstStyle/>
          <a:p>
            <a:pPr algn="ctr">
              <a:spcBef>
                <a:spcPts val="0"/>
              </a:spcBef>
              <a:spcAft>
                <a:spcPts val="0"/>
              </a:spcAft>
            </a:pPr>
            <a:r>
              <a:rPr sz="1600" b="1" i="0">
                <a:solidFill>
                  <a:srgbClr val="1E1139"/>
                </a:solidFill>
                <a:latin typeface="Calibri"/>
              </a:rPr>
              <a:t>6</a:t>
            </a:r>
          </a:p>
        </p:txBody>
      </p:sp>
      <p:sp>
        <p:nvSpPr>
          <p:cNvPr id="27" name="TextBox 26"/>
          <p:cNvSpPr txBox="1"/>
          <p:nvPr/>
        </p:nvSpPr>
        <p:spPr>
          <a:xfrm>
            <a:off x="8823959" y="3913631"/>
            <a:ext cx="2697480" cy="457200"/>
          </a:xfrm>
          <a:prstGeom prst="rect">
            <a:avLst/>
          </a:prstGeom>
          <a:noFill/>
        </p:spPr>
        <p:txBody>
          <a:bodyPr wrap="square" lIns="45720" tIns="27432" rIns="45720" bIns="27432" anchor="ctr">
            <a:spAutoFit/>
          </a:bodyPr>
          <a:lstStyle/>
          <a:p>
            <a:pPr algn="l">
              <a:spcBef>
                <a:spcPts val="0"/>
              </a:spcBef>
              <a:spcAft>
                <a:spcPts val="0"/>
              </a:spcAft>
            </a:pPr>
            <a:r>
              <a:rPr sz="2000" b="1" i="0">
                <a:solidFill>
                  <a:srgbClr val="DFBE27"/>
                </a:solidFill>
                <a:latin typeface="Calibri"/>
              </a:rPr>
              <a:t>Hallucination</a:t>
            </a:r>
          </a:p>
        </p:txBody>
      </p:sp>
      <p:sp>
        <p:nvSpPr>
          <p:cNvPr id="28" name="TextBox 27"/>
          <p:cNvSpPr txBox="1"/>
          <p:nvPr/>
        </p:nvSpPr>
        <p:spPr>
          <a:xfrm>
            <a:off x="8229599" y="4526279"/>
            <a:ext cx="3246120" cy="150876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A fluent answer that is wrong or invented. Ground the model with your own data (RAG) and validate outputs.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Prompt Engineering Basics</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234440"/>
            <a:ext cx="5486400" cy="1554480"/>
          </a:xfrm>
          <a:prstGeom prst="roundRect">
            <a:avLst>
              <a:gd name="adj" fmla="val 7058"/>
            </a:avLst>
          </a:prstGeom>
          <a:solidFill>
            <a:srgbClr val="3B2D74"/>
          </a:solidFill>
          <a:ln>
            <a:noFill/>
          </a:ln>
        </p:spPr>
        <p:txBody>
          <a:bodyPr wrap="square" lIns="164592" tIns="109728" rIns="164592" bIns="109728" rtlCol="0" anchor="t"/>
          <a:lstStyle/>
          <a:p>
            <a:pPr algn="l">
              <a:spcBef>
                <a:spcPts val="0"/>
              </a:spcBef>
              <a:spcAft>
                <a:spcPts val="400"/>
              </a:spcAft>
            </a:pPr>
            <a:r>
              <a:rPr sz="1400" b="1" i="0">
                <a:solidFill>
                  <a:srgbClr val="DFBE27"/>
                </a:solidFill>
                <a:latin typeface="Calibri"/>
              </a:rPr>
              <a:t>SYSTEM</a:t>
            </a:r>
          </a:p>
          <a:p>
            <a:pPr algn="l">
              <a:spcBef>
                <a:spcPts val="0"/>
              </a:spcBef>
              <a:spcAft>
                <a:spcPts val="0"/>
              </a:spcAft>
            </a:pPr>
            <a:r>
              <a:rPr sz="1600" b="0" i="0">
                <a:solidFill>
                  <a:srgbClr val="FFFFFF"/>
                </a:solidFill>
                <a:latin typeface="Calibri"/>
              </a:rPr>
              <a:t>You are a patient Java tutor. Answer in at most 3 bullet points.</a:t>
            </a:r>
          </a:p>
        </p:txBody>
      </p:sp>
      <p:sp>
        <p:nvSpPr>
          <p:cNvPr id="6" name="Rounded Rectangle 5"/>
          <p:cNvSpPr/>
          <p:nvPr/>
        </p:nvSpPr>
        <p:spPr>
          <a:xfrm>
            <a:off x="548640" y="2971800"/>
            <a:ext cx="5486400" cy="1554480"/>
          </a:xfrm>
          <a:prstGeom prst="roundRect">
            <a:avLst>
              <a:gd name="adj" fmla="val 7058"/>
            </a:avLst>
          </a:prstGeom>
          <a:solidFill>
            <a:srgbClr val="2D2057"/>
          </a:solidFill>
          <a:ln>
            <a:noFill/>
          </a:ln>
        </p:spPr>
        <p:txBody>
          <a:bodyPr wrap="square" lIns="164592" tIns="109728" rIns="164592" bIns="109728" rtlCol="0" anchor="t"/>
          <a:lstStyle/>
          <a:p>
            <a:pPr algn="l">
              <a:spcBef>
                <a:spcPts val="0"/>
              </a:spcBef>
              <a:spcAft>
                <a:spcPts val="400"/>
              </a:spcAft>
            </a:pPr>
            <a:r>
              <a:rPr sz="1400" b="1" i="0">
                <a:solidFill>
                  <a:srgbClr val="DFBE27"/>
                </a:solidFill>
                <a:latin typeface="Calibri"/>
              </a:rPr>
              <a:t>USER</a:t>
            </a:r>
          </a:p>
          <a:p>
            <a:pPr algn="l">
              <a:spcBef>
                <a:spcPts val="0"/>
              </a:spcBef>
              <a:spcAft>
                <a:spcPts val="0"/>
              </a:spcAft>
            </a:pPr>
            <a:r>
              <a:rPr sz="1600" b="0" i="0">
                <a:solidFill>
                  <a:srgbClr val="FFFFFF"/>
                </a:solidFill>
                <a:latin typeface="Calibri"/>
              </a:rPr>
              <a:t>What is dependency injection?</a:t>
            </a:r>
          </a:p>
        </p:txBody>
      </p:sp>
      <p:sp>
        <p:nvSpPr>
          <p:cNvPr id="7" name="Rounded Rectangle 6"/>
          <p:cNvSpPr/>
          <p:nvPr/>
        </p:nvSpPr>
        <p:spPr>
          <a:xfrm>
            <a:off x="548640" y="4709160"/>
            <a:ext cx="5486400" cy="1554480"/>
          </a:xfrm>
          <a:prstGeom prst="roundRect">
            <a:avLst>
              <a:gd name="adj" fmla="val 7058"/>
            </a:avLst>
          </a:prstGeom>
          <a:solidFill>
            <a:srgbClr val="24476B"/>
          </a:solidFill>
          <a:ln>
            <a:noFill/>
          </a:ln>
        </p:spPr>
        <p:txBody>
          <a:bodyPr wrap="square" lIns="164592" tIns="109728" rIns="164592" bIns="109728" rtlCol="0" anchor="t"/>
          <a:lstStyle/>
          <a:p>
            <a:pPr algn="l">
              <a:spcBef>
                <a:spcPts val="0"/>
              </a:spcBef>
              <a:spcAft>
                <a:spcPts val="400"/>
              </a:spcAft>
            </a:pPr>
            <a:r>
              <a:rPr sz="1400" b="1" i="0">
                <a:solidFill>
                  <a:srgbClr val="DFBE27"/>
                </a:solidFill>
                <a:latin typeface="Calibri"/>
              </a:rPr>
              <a:t>ASSISTANT</a:t>
            </a:r>
          </a:p>
          <a:p>
            <a:pPr algn="l">
              <a:spcBef>
                <a:spcPts val="0"/>
              </a:spcBef>
              <a:spcAft>
                <a:spcPts val="0"/>
              </a:spcAft>
            </a:pPr>
            <a:r>
              <a:rPr sz="1600" b="0" i="0">
                <a:solidFill>
                  <a:srgbClr val="FFFFFF"/>
                </a:solidFill>
                <a:latin typeface="Calibri"/>
              </a:rPr>
              <a:t>Objects receive the things they need instead of creating them. This makes code easier to test and swap.</a:t>
            </a:r>
          </a:p>
        </p:txBody>
      </p:sp>
      <p:sp>
        <p:nvSpPr>
          <p:cNvPr id="8" name="Rounded Rectangle 7"/>
          <p:cNvSpPr/>
          <p:nvPr/>
        </p:nvSpPr>
        <p:spPr>
          <a:xfrm>
            <a:off x="6355080" y="1234440"/>
            <a:ext cx="5285232" cy="1143000"/>
          </a:xfrm>
          <a:prstGeom prst="roundRect">
            <a:avLst>
              <a:gd name="adj" fmla="val 9600"/>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Be specific</a:t>
            </a:r>
          </a:p>
          <a:p>
            <a:pPr algn="l">
              <a:spcBef>
                <a:spcPts val="0"/>
              </a:spcBef>
              <a:spcAft>
                <a:spcPts val="300"/>
              </a:spcAft>
            </a:pPr>
            <a:r>
              <a:rPr sz="1400" b="0" i="0">
                <a:solidFill>
                  <a:srgbClr val="FFFFFF"/>
                </a:solidFill>
                <a:latin typeface="Calibri"/>
              </a:rPr>
              <a:t>State the role, task, format, length and constraints.</a:t>
            </a:r>
          </a:p>
        </p:txBody>
      </p:sp>
      <p:sp>
        <p:nvSpPr>
          <p:cNvPr id="9" name="Rounded Rectangle 8"/>
          <p:cNvSpPr/>
          <p:nvPr/>
        </p:nvSpPr>
        <p:spPr>
          <a:xfrm>
            <a:off x="6355080" y="2514600"/>
            <a:ext cx="5285232" cy="1143000"/>
          </a:xfrm>
          <a:prstGeom prst="roundRect">
            <a:avLst>
              <a:gd name="adj" fmla="val 9600"/>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Zero-shot</a:t>
            </a:r>
          </a:p>
          <a:p>
            <a:pPr algn="l">
              <a:spcBef>
                <a:spcPts val="0"/>
              </a:spcBef>
              <a:spcAft>
                <a:spcPts val="300"/>
              </a:spcAft>
            </a:pPr>
            <a:r>
              <a:rPr sz="1400" b="0" i="0">
                <a:solidFill>
                  <a:srgbClr val="FFFFFF"/>
                </a:solidFill>
                <a:latin typeface="Calibri"/>
              </a:rPr>
              <a:t>Ask directly, with no examples.</a:t>
            </a:r>
          </a:p>
        </p:txBody>
      </p:sp>
      <p:sp>
        <p:nvSpPr>
          <p:cNvPr id="10" name="Rounded Rectangle 9"/>
          <p:cNvSpPr/>
          <p:nvPr/>
        </p:nvSpPr>
        <p:spPr>
          <a:xfrm>
            <a:off x="6355080" y="3794760"/>
            <a:ext cx="5285232" cy="1143000"/>
          </a:xfrm>
          <a:prstGeom prst="roundRect">
            <a:avLst>
              <a:gd name="adj" fmla="val 9600"/>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Few-shot</a:t>
            </a:r>
          </a:p>
          <a:p>
            <a:pPr algn="l">
              <a:spcBef>
                <a:spcPts val="0"/>
              </a:spcBef>
              <a:spcAft>
                <a:spcPts val="300"/>
              </a:spcAft>
            </a:pPr>
            <a:r>
              <a:rPr sz="1400" b="0" i="0">
                <a:solidFill>
                  <a:srgbClr val="FFFFFF"/>
                </a:solidFill>
                <a:latin typeface="Calibri"/>
              </a:rPr>
              <a:t>Show 2 or 3 examples of the output you want.</a:t>
            </a:r>
          </a:p>
        </p:txBody>
      </p:sp>
      <p:sp>
        <p:nvSpPr>
          <p:cNvPr id="11" name="Rounded Rectangle 10"/>
          <p:cNvSpPr/>
          <p:nvPr/>
        </p:nvSpPr>
        <p:spPr>
          <a:xfrm>
            <a:off x="6355080" y="5074919"/>
            <a:ext cx="5285232" cy="1143000"/>
          </a:xfrm>
          <a:prstGeom prst="roundRect">
            <a:avLst>
              <a:gd name="adj" fmla="val 9600"/>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Chain-of-thought</a:t>
            </a:r>
          </a:p>
          <a:p>
            <a:pPr algn="l">
              <a:spcBef>
                <a:spcPts val="0"/>
              </a:spcBef>
              <a:spcAft>
                <a:spcPts val="300"/>
              </a:spcAft>
            </a:pPr>
            <a:r>
              <a:rPr sz="1400" b="0" i="0">
                <a:solidFill>
                  <a:srgbClr val="FFFFFF"/>
                </a:solidFill>
                <a:latin typeface="Calibri"/>
              </a:rPr>
              <a:t>Ask the model to reason step by step before it answers.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Two Ways to Run an LLM: Cloud vs Local</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graphicFrame>
        <p:nvGraphicFramePr>
          <p:cNvPr id="5" name="Comparison table"/>
          <p:cNvGraphicFramePr>
            <a:graphicFrameLocks noGrp="1"/>
          </p:cNvGraphicFramePr>
          <p:nvPr/>
        </p:nvGraphicFramePr>
        <p:xfrm>
          <a:off x="548640" y="1188720"/>
          <a:ext cx="11091672" cy="4773168"/>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443984">
                  <a:extLst>
                    <a:ext uri="{9D8B030D-6E8A-4147-A177-3AD203B41FA5}">
                      <a16:colId xmlns:a16="http://schemas.microsoft.com/office/drawing/2014/main" val="20001"/>
                    </a:ext>
                  </a:extLst>
                </a:gridCol>
                <a:gridCol w="4453128">
                  <a:extLst>
                    <a:ext uri="{9D8B030D-6E8A-4147-A177-3AD203B41FA5}">
                      <a16:colId xmlns:a16="http://schemas.microsoft.com/office/drawing/2014/main" val="20002"/>
                    </a:ext>
                  </a:extLst>
                </a:gridCol>
              </a:tblGrid>
              <a:tr h="530352">
                <a:tc>
                  <a:txBody>
                    <a:bodyPr/>
                    <a:lstStyle/>
                    <a:p>
                      <a:pPr algn="l">
                        <a:spcBef>
                          <a:spcPts val="0"/>
                        </a:spcBef>
                        <a:spcAft>
                          <a:spcPts val="0"/>
                        </a:spcAft>
                      </a:pPr>
                      <a:endParaRP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DFBE27"/>
                    </a:solidFill>
                  </a:tcPr>
                </a:tc>
                <a:tc>
                  <a:txBody>
                    <a:bodyPr/>
                    <a:lstStyle/>
                    <a:p>
                      <a:pPr algn="l">
                        <a:spcBef>
                          <a:spcPts val="0"/>
                        </a:spcBef>
                        <a:spcAft>
                          <a:spcPts val="0"/>
                        </a:spcAft>
                      </a:pPr>
                      <a:r>
                        <a:rPr sz="1600" b="1" i="0">
                          <a:solidFill>
                            <a:srgbClr val="1E1139"/>
                          </a:solidFill>
                          <a:latin typeface="Calibri"/>
                        </a:rPr>
                        <a:t>OpenAI (cloud API)</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DFBE27"/>
                    </a:solidFill>
                  </a:tcPr>
                </a:tc>
                <a:tc>
                  <a:txBody>
                    <a:bodyPr/>
                    <a:lstStyle/>
                    <a:p>
                      <a:pPr algn="l">
                        <a:spcBef>
                          <a:spcPts val="0"/>
                        </a:spcBef>
                        <a:spcAft>
                          <a:spcPts val="0"/>
                        </a:spcAft>
                      </a:pPr>
                      <a:r>
                        <a:rPr sz="1600" b="1" i="0">
                          <a:solidFill>
                            <a:srgbClr val="1E1139"/>
                          </a:solidFill>
                          <a:latin typeface="Calibri"/>
                        </a:rPr>
                        <a:t>Ollama (local)</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DFBE27"/>
                    </a:solidFill>
                  </a:tcPr>
                </a:tc>
                <a:extLst>
                  <a:ext uri="{0D108BD9-81ED-4DB2-BD59-A6C34878D82A}">
                    <a16:rowId xmlns:a16="http://schemas.microsoft.com/office/drawing/2014/main" val="10000"/>
                  </a:ext>
                </a:extLst>
              </a:tr>
              <a:tr h="530352">
                <a:tc>
                  <a:txBody>
                    <a:bodyPr/>
                    <a:lstStyle/>
                    <a:p>
                      <a:pPr algn="l">
                        <a:spcBef>
                          <a:spcPts val="0"/>
                        </a:spcBef>
                        <a:spcAft>
                          <a:spcPts val="0"/>
                        </a:spcAft>
                      </a:pPr>
                      <a:r>
                        <a:rPr sz="1500" b="1" i="0">
                          <a:solidFill>
                            <a:srgbClr val="DFBE27"/>
                          </a:solidFill>
                          <a:latin typeface="Calibri"/>
                        </a:rPr>
                        <a:t>Where it runs</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3B2D74"/>
                    </a:solidFill>
                  </a:tcPr>
                </a:tc>
                <a:tc>
                  <a:txBody>
                    <a:bodyPr/>
                    <a:lstStyle/>
                    <a:p>
                      <a:pPr algn="l">
                        <a:spcBef>
                          <a:spcPts val="0"/>
                        </a:spcBef>
                        <a:spcAft>
                          <a:spcPts val="0"/>
                        </a:spcAft>
                      </a:pPr>
                      <a:r>
                        <a:rPr sz="1500" b="0" i="0">
                          <a:solidFill>
                            <a:srgbClr val="FFFFFF"/>
                          </a:solidFill>
                          <a:latin typeface="Calibri"/>
                        </a:rPr>
                        <a:t>OpenAI servers, over HTTPS</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D2057"/>
                    </a:solidFill>
                  </a:tcPr>
                </a:tc>
                <a:tc>
                  <a:txBody>
                    <a:bodyPr/>
                    <a:lstStyle/>
                    <a:p>
                      <a:pPr algn="l">
                        <a:spcBef>
                          <a:spcPts val="0"/>
                        </a:spcBef>
                        <a:spcAft>
                          <a:spcPts val="0"/>
                        </a:spcAft>
                      </a:pPr>
                      <a:r>
                        <a:rPr sz="1500" b="0" i="0">
                          <a:solidFill>
                            <a:srgbClr val="FFFFFF"/>
                          </a:solidFill>
                          <a:latin typeface="Calibri"/>
                        </a:rPr>
                        <a:t>Your laptop or server</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D2057"/>
                    </a:solidFill>
                  </a:tcPr>
                </a:tc>
                <a:extLst>
                  <a:ext uri="{0D108BD9-81ED-4DB2-BD59-A6C34878D82A}">
                    <a16:rowId xmlns:a16="http://schemas.microsoft.com/office/drawing/2014/main" val="10001"/>
                  </a:ext>
                </a:extLst>
              </a:tr>
              <a:tr h="530352">
                <a:tc>
                  <a:txBody>
                    <a:bodyPr/>
                    <a:lstStyle/>
                    <a:p>
                      <a:pPr algn="l">
                        <a:spcBef>
                          <a:spcPts val="0"/>
                        </a:spcBef>
                        <a:spcAft>
                          <a:spcPts val="0"/>
                        </a:spcAft>
                      </a:pPr>
                      <a:r>
                        <a:rPr sz="1500" b="1" i="0">
                          <a:solidFill>
                            <a:srgbClr val="DFBE27"/>
                          </a:solidFill>
                          <a:latin typeface="Calibri"/>
                        </a:rPr>
                        <a:t>Cost</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3B2D74"/>
                    </a:solidFill>
                  </a:tcPr>
                </a:tc>
                <a:tc>
                  <a:txBody>
                    <a:bodyPr/>
                    <a:lstStyle/>
                    <a:p>
                      <a:pPr algn="l">
                        <a:spcBef>
                          <a:spcPts val="0"/>
                        </a:spcBef>
                        <a:spcAft>
                          <a:spcPts val="0"/>
                        </a:spcAft>
                      </a:pPr>
                      <a:r>
                        <a:rPr sz="1500" b="0" i="0">
                          <a:solidFill>
                            <a:srgbClr val="FFFFFF"/>
                          </a:solidFill>
                          <a:latin typeface="Calibri"/>
                        </a:rPr>
                        <a:t>Pay per token</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71B4C"/>
                    </a:solidFill>
                  </a:tcPr>
                </a:tc>
                <a:tc>
                  <a:txBody>
                    <a:bodyPr/>
                    <a:lstStyle/>
                    <a:p>
                      <a:pPr algn="l">
                        <a:spcBef>
                          <a:spcPts val="0"/>
                        </a:spcBef>
                        <a:spcAft>
                          <a:spcPts val="0"/>
                        </a:spcAft>
                      </a:pPr>
                      <a:r>
                        <a:rPr sz="1500" b="0" i="0">
                          <a:solidFill>
                            <a:srgbClr val="FFFFFF"/>
                          </a:solidFill>
                          <a:latin typeface="Calibri"/>
                        </a:rPr>
                        <a:t>Free software; you pay for hardware</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71B4C"/>
                    </a:solidFill>
                  </a:tcPr>
                </a:tc>
                <a:extLst>
                  <a:ext uri="{0D108BD9-81ED-4DB2-BD59-A6C34878D82A}">
                    <a16:rowId xmlns:a16="http://schemas.microsoft.com/office/drawing/2014/main" val="10002"/>
                  </a:ext>
                </a:extLst>
              </a:tr>
              <a:tr h="530352">
                <a:tc>
                  <a:txBody>
                    <a:bodyPr/>
                    <a:lstStyle/>
                    <a:p>
                      <a:pPr algn="l">
                        <a:spcBef>
                          <a:spcPts val="0"/>
                        </a:spcBef>
                        <a:spcAft>
                          <a:spcPts val="0"/>
                        </a:spcAft>
                      </a:pPr>
                      <a:r>
                        <a:rPr sz="1500" b="1" i="0">
                          <a:solidFill>
                            <a:srgbClr val="DFBE27"/>
                          </a:solidFill>
                          <a:latin typeface="Calibri"/>
                        </a:rPr>
                        <a:t>Privacy</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3B2D74"/>
                    </a:solidFill>
                  </a:tcPr>
                </a:tc>
                <a:tc>
                  <a:txBody>
                    <a:bodyPr/>
                    <a:lstStyle/>
                    <a:p>
                      <a:pPr algn="l">
                        <a:spcBef>
                          <a:spcPts val="0"/>
                        </a:spcBef>
                        <a:spcAft>
                          <a:spcPts val="0"/>
                        </a:spcAft>
                      </a:pPr>
                      <a:r>
                        <a:rPr sz="1500" b="0" i="0">
                          <a:solidFill>
                            <a:srgbClr val="FFFFFF"/>
                          </a:solidFill>
                          <a:latin typeface="Calibri"/>
                        </a:rPr>
                        <a:t>Prompts leave your network</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D2057"/>
                    </a:solidFill>
                  </a:tcPr>
                </a:tc>
                <a:tc>
                  <a:txBody>
                    <a:bodyPr/>
                    <a:lstStyle/>
                    <a:p>
                      <a:pPr algn="l">
                        <a:spcBef>
                          <a:spcPts val="0"/>
                        </a:spcBef>
                        <a:spcAft>
                          <a:spcPts val="0"/>
                        </a:spcAft>
                      </a:pPr>
                      <a:r>
                        <a:rPr sz="1500" b="0" i="0">
                          <a:solidFill>
                            <a:srgbClr val="FFFFFF"/>
                          </a:solidFill>
                          <a:latin typeface="Calibri"/>
                        </a:rPr>
                        <a:t>Data stays on your machine</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D2057"/>
                    </a:solidFill>
                  </a:tcPr>
                </a:tc>
                <a:extLst>
                  <a:ext uri="{0D108BD9-81ED-4DB2-BD59-A6C34878D82A}">
                    <a16:rowId xmlns:a16="http://schemas.microsoft.com/office/drawing/2014/main" val="10003"/>
                  </a:ext>
                </a:extLst>
              </a:tr>
              <a:tr h="530352">
                <a:tc>
                  <a:txBody>
                    <a:bodyPr/>
                    <a:lstStyle/>
                    <a:p>
                      <a:pPr algn="l">
                        <a:spcBef>
                          <a:spcPts val="0"/>
                        </a:spcBef>
                        <a:spcAft>
                          <a:spcPts val="0"/>
                        </a:spcAft>
                      </a:pPr>
                      <a:r>
                        <a:rPr sz="1500" b="1" i="0">
                          <a:solidFill>
                            <a:srgbClr val="DFBE27"/>
                          </a:solidFill>
                          <a:latin typeface="Calibri"/>
                        </a:rPr>
                        <a:t>Setup</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3B2D74"/>
                    </a:solidFill>
                  </a:tcPr>
                </a:tc>
                <a:tc>
                  <a:txBody>
                    <a:bodyPr/>
                    <a:lstStyle/>
                    <a:p>
                      <a:pPr algn="l">
                        <a:spcBef>
                          <a:spcPts val="0"/>
                        </a:spcBef>
                        <a:spcAft>
                          <a:spcPts val="0"/>
                        </a:spcAft>
                      </a:pPr>
                      <a:r>
                        <a:rPr sz="1500" b="0" i="0">
                          <a:solidFill>
                            <a:srgbClr val="FFFFFF"/>
                          </a:solidFill>
                          <a:latin typeface="Calibri"/>
                        </a:rPr>
                        <a:t>API key and a billing account</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71B4C"/>
                    </a:solidFill>
                  </a:tcPr>
                </a:tc>
                <a:tc>
                  <a:txBody>
                    <a:bodyPr/>
                    <a:lstStyle/>
                    <a:p>
                      <a:pPr algn="l">
                        <a:spcBef>
                          <a:spcPts val="0"/>
                        </a:spcBef>
                        <a:spcAft>
                          <a:spcPts val="0"/>
                        </a:spcAft>
                      </a:pPr>
                      <a:r>
                        <a:rPr sz="1500" b="0" i="0">
                          <a:solidFill>
                            <a:srgbClr val="FFFFFF"/>
                          </a:solidFill>
                          <a:latin typeface="Calibri"/>
                        </a:rPr>
                        <a:t>Install the app and pull a model</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71B4C"/>
                    </a:solidFill>
                  </a:tcPr>
                </a:tc>
                <a:extLst>
                  <a:ext uri="{0D108BD9-81ED-4DB2-BD59-A6C34878D82A}">
                    <a16:rowId xmlns:a16="http://schemas.microsoft.com/office/drawing/2014/main" val="10004"/>
                  </a:ext>
                </a:extLst>
              </a:tr>
              <a:tr h="530352">
                <a:tc>
                  <a:txBody>
                    <a:bodyPr/>
                    <a:lstStyle/>
                    <a:p>
                      <a:pPr algn="l">
                        <a:spcBef>
                          <a:spcPts val="0"/>
                        </a:spcBef>
                        <a:spcAft>
                          <a:spcPts val="0"/>
                        </a:spcAft>
                      </a:pPr>
                      <a:r>
                        <a:rPr sz="1500" b="1" i="0">
                          <a:solidFill>
                            <a:srgbClr val="DFBE27"/>
                          </a:solidFill>
                          <a:latin typeface="Calibri"/>
                        </a:rPr>
                        <a:t>Model power</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3B2D74"/>
                    </a:solidFill>
                  </a:tcPr>
                </a:tc>
                <a:tc>
                  <a:txBody>
                    <a:bodyPr/>
                    <a:lstStyle/>
                    <a:p>
                      <a:pPr algn="l">
                        <a:spcBef>
                          <a:spcPts val="0"/>
                        </a:spcBef>
                        <a:spcAft>
                          <a:spcPts val="0"/>
                        </a:spcAft>
                      </a:pPr>
                      <a:r>
                        <a:rPr sz="1500" b="0" i="0">
                          <a:solidFill>
                            <a:srgbClr val="FFFFFF"/>
                          </a:solidFill>
                          <a:latin typeface="Calibri"/>
                        </a:rPr>
                        <a:t>Largest frontier models</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D2057"/>
                    </a:solidFill>
                  </a:tcPr>
                </a:tc>
                <a:tc>
                  <a:txBody>
                    <a:bodyPr/>
                    <a:lstStyle/>
                    <a:p>
                      <a:pPr algn="l">
                        <a:spcBef>
                          <a:spcPts val="0"/>
                        </a:spcBef>
                        <a:spcAft>
                          <a:spcPts val="0"/>
                        </a:spcAft>
                      </a:pPr>
                      <a:r>
                        <a:rPr sz="1500" b="0" i="0">
                          <a:solidFill>
                            <a:srgbClr val="FFFFFF"/>
                          </a:solidFill>
                          <a:latin typeface="Calibri"/>
                        </a:rPr>
                        <a:t>Smaller open models (1B to 70B)</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D2057"/>
                    </a:solidFill>
                  </a:tcPr>
                </a:tc>
                <a:extLst>
                  <a:ext uri="{0D108BD9-81ED-4DB2-BD59-A6C34878D82A}">
                    <a16:rowId xmlns:a16="http://schemas.microsoft.com/office/drawing/2014/main" val="10005"/>
                  </a:ext>
                </a:extLst>
              </a:tr>
              <a:tr h="530352">
                <a:tc>
                  <a:txBody>
                    <a:bodyPr/>
                    <a:lstStyle/>
                    <a:p>
                      <a:pPr algn="l">
                        <a:spcBef>
                          <a:spcPts val="0"/>
                        </a:spcBef>
                        <a:spcAft>
                          <a:spcPts val="0"/>
                        </a:spcAft>
                      </a:pPr>
                      <a:r>
                        <a:rPr sz="1500" b="1" i="0">
                          <a:solidFill>
                            <a:srgbClr val="DFBE27"/>
                          </a:solidFill>
                          <a:latin typeface="Calibri"/>
                        </a:rPr>
                        <a:t>Internet</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3B2D74"/>
                    </a:solidFill>
                  </a:tcPr>
                </a:tc>
                <a:tc>
                  <a:txBody>
                    <a:bodyPr/>
                    <a:lstStyle/>
                    <a:p>
                      <a:pPr algn="l">
                        <a:spcBef>
                          <a:spcPts val="0"/>
                        </a:spcBef>
                        <a:spcAft>
                          <a:spcPts val="0"/>
                        </a:spcAft>
                      </a:pPr>
                      <a:r>
                        <a:rPr sz="1500" b="0" i="0">
                          <a:solidFill>
                            <a:srgbClr val="FFFFFF"/>
                          </a:solidFill>
                          <a:latin typeface="Calibri"/>
                        </a:rPr>
                        <a:t>Required</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71B4C"/>
                    </a:solidFill>
                  </a:tcPr>
                </a:tc>
                <a:tc>
                  <a:txBody>
                    <a:bodyPr/>
                    <a:lstStyle/>
                    <a:p>
                      <a:pPr algn="l">
                        <a:spcBef>
                          <a:spcPts val="0"/>
                        </a:spcBef>
                        <a:spcAft>
                          <a:spcPts val="0"/>
                        </a:spcAft>
                      </a:pPr>
                      <a:r>
                        <a:rPr sz="1500" b="0" i="0">
                          <a:solidFill>
                            <a:srgbClr val="FFFFFF"/>
                          </a:solidFill>
                          <a:latin typeface="Calibri"/>
                        </a:rPr>
                        <a:t>Works offline after the download</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71B4C"/>
                    </a:solidFill>
                  </a:tcPr>
                </a:tc>
                <a:extLst>
                  <a:ext uri="{0D108BD9-81ED-4DB2-BD59-A6C34878D82A}">
                    <a16:rowId xmlns:a16="http://schemas.microsoft.com/office/drawing/2014/main" val="10006"/>
                  </a:ext>
                </a:extLst>
              </a:tr>
              <a:tr h="530352">
                <a:tc>
                  <a:txBody>
                    <a:bodyPr/>
                    <a:lstStyle/>
                    <a:p>
                      <a:pPr algn="l">
                        <a:spcBef>
                          <a:spcPts val="0"/>
                        </a:spcBef>
                        <a:spcAft>
                          <a:spcPts val="0"/>
                        </a:spcAft>
                      </a:pPr>
                      <a:r>
                        <a:rPr sz="1500" b="1" i="0">
                          <a:solidFill>
                            <a:srgbClr val="DFBE27"/>
                          </a:solidFill>
                          <a:latin typeface="Calibri"/>
                        </a:rPr>
                        <a:t>Scaling</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3B2D74"/>
                    </a:solidFill>
                  </a:tcPr>
                </a:tc>
                <a:tc>
                  <a:txBody>
                    <a:bodyPr/>
                    <a:lstStyle/>
                    <a:p>
                      <a:pPr algn="l">
                        <a:spcBef>
                          <a:spcPts val="0"/>
                        </a:spcBef>
                        <a:spcAft>
                          <a:spcPts val="0"/>
                        </a:spcAft>
                      </a:pPr>
                      <a:r>
                        <a:rPr sz="1500" b="0" i="0">
                          <a:solidFill>
                            <a:srgbClr val="FFFFFF"/>
                          </a:solidFill>
                          <a:latin typeface="Calibri"/>
                        </a:rPr>
                        <a:t>Handled for you</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D2057"/>
                    </a:solidFill>
                  </a:tcPr>
                </a:tc>
                <a:tc>
                  <a:txBody>
                    <a:bodyPr/>
                    <a:lstStyle/>
                    <a:p>
                      <a:pPr algn="l">
                        <a:spcBef>
                          <a:spcPts val="0"/>
                        </a:spcBef>
                        <a:spcAft>
                          <a:spcPts val="0"/>
                        </a:spcAft>
                      </a:pPr>
                      <a:r>
                        <a:rPr sz="1500" b="0" i="0">
                          <a:solidFill>
                            <a:srgbClr val="FFFFFF"/>
                          </a:solidFill>
                          <a:latin typeface="Calibri"/>
                        </a:rPr>
                        <a:t>You manage the capacity</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D2057"/>
                    </a:solidFill>
                  </a:tcPr>
                </a:tc>
                <a:extLst>
                  <a:ext uri="{0D108BD9-81ED-4DB2-BD59-A6C34878D82A}">
                    <a16:rowId xmlns:a16="http://schemas.microsoft.com/office/drawing/2014/main" val="10007"/>
                  </a:ext>
                </a:extLst>
              </a:tr>
              <a:tr h="530352">
                <a:tc>
                  <a:txBody>
                    <a:bodyPr/>
                    <a:lstStyle/>
                    <a:p>
                      <a:pPr algn="l">
                        <a:spcBef>
                          <a:spcPts val="0"/>
                        </a:spcBef>
                        <a:spcAft>
                          <a:spcPts val="0"/>
                        </a:spcAft>
                      </a:pPr>
                      <a:r>
                        <a:rPr sz="1500" b="1" i="0">
                          <a:solidFill>
                            <a:srgbClr val="DFBE27"/>
                          </a:solidFill>
                          <a:latin typeface="Calibri"/>
                        </a:rPr>
                        <a:t>Best for</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3B2D74"/>
                    </a:solidFill>
                  </a:tcPr>
                </a:tc>
                <a:tc>
                  <a:txBody>
                    <a:bodyPr/>
                    <a:lstStyle/>
                    <a:p>
                      <a:pPr algn="l">
                        <a:spcBef>
                          <a:spcPts val="0"/>
                        </a:spcBef>
                        <a:spcAft>
                          <a:spcPts val="0"/>
                        </a:spcAft>
                      </a:pPr>
                      <a:r>
                        <a:rPr sz="1500" b="0" i="0">
                          <a:solidFill>
                            <a:srgbClr val="FFFFFF"/>
                          </a:solidFill>
                          <a:latin typeface="Calibri"/>
                        </a:rPr>
                        <a:t>Production quality and hard tasks</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71B4C"/>
                    </a:solidFill>
                  </a:tcPr>
                </a:tc>
                <a:tc>
                  <a:txBody>
                    <a:bodyPr/>
                    <a:lstStyle/>
                    <a:p>
                      <a:pPr algn="l">
                        <a:spcBef>
                          <a:spcPts val="0"/>
                        </a:spcBef>
                        <a:spcAft>
                          <a:spcPts val="0"/>
                        </a:spcAft>
                      </a:pPr>
                      <a:r>
                        <a:rPr sz="1500" b="0" i="0">
                          <a:solidFill>
                            <a:srgbClr val="FFFFFF"/>
                          </a:solidFill>
                          <a:latin typeface="Calibri"/>
                        </a:rPr>
                        <a:t>Learning, prototypes, private data</a:t>
                      </a:r>
                    </a:p>
                  </a:txBody>
                  <a:tcPr marL="137160" marR="137160" anchor="ctr">
                    <a:lnL w="12700">
                      <a:solidFill>
                        <a:srgbClr val="1E1139"/>
                      </a:solidFill>
                    </a:lnL>
                    <a:lnR w="12700">
                      <a:solidFill>
                        <a:srgbClr val="1E1139"/>
                      </a:solidFill>
                    </a:lnR>
                    <a:lnT w="12700">
                      <a:solidFill>
                        <a:srgbClr val="1E1139"/>
                      </a:solidFill>
                    </a:lnT>
                    <a:lnB w="12700">
                      <a:solidFill>
                        <a:srgbClr val="1E1139"/>
                      </a:solidFill>
                    </a:lnB>
                    <a:solidFill>
                      <a:srgbClr val="271B4C"/>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548640" y="6126480"/>
            <a:ext cx="11091672" cy="365760"/>
          </a:xfrm>
          <a:prstGeom prst="rect">
            <a:avLst/>
          </a:prstGeom>
          <a:noFill/>
        </p:spPr>
        <p:txBody>
          <a:bodyPr wrap="square" lIns="45720" tIns="27432" rIns="45720" bIns="27432" anchor="t">
            <a:spAutoFit/>
          </a:bodyPr>
          <a:lstStyle/>
          <a:p>
            <a:pPr algn="l">
              <a:spcBef>
                <a:spcPts val="0"/>
              </a:spcBef>
              <a:spcAft>
                <a:spcPts val="0"/>
              </a:spcAft>
            </a:pPr>
            <a:r>
              <a:rPr sz="1600" b="1" i="0">
                <a:solidFill>
                  <a:srgbClr val="DFBE27"/>
                </a:solidFill>
                <a:latin typeface="Calibri"/>
              </a:rPr>
              <a:t>Good news: </a:t>
            </a:r>
            <a:r>
              <a:rPr sz="1600" b="0" i="0">
                <a:solidFill>
                  <a:srgbClr val="FFFFFF"/>
                </a:solidFill>
                <a:latin typeface="Calibri"/>
              </a:rPr>
              <a:t>Spring AI’s ChatClient lets you use either one with the same application code.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6C8592-9817-F7F0-D920-04B9BE0D3E43}"/>
              </a:ext>
            </a:extLst>
          </p:cNvPr>
          <p:cNvPicPr>
            <a:picLocks noChangeAspect="1"/>
          </p:cNvPicPr>
          <p:nvPr/>
        </p:nvPicPr>
        <p:blipFill>
          <a:blip r:embed="rId2"/>
          <a:stretch>
            <a:fillRect/>
          </a:stretch>
        </p:blipFill>
        <p:spPr>
          <a:xfrm>
            <a:off x="0" y="179072"/>
            <a:ext cx="12192000" cy="6499856"/>
          </a:xfrm>
          <a:prstGeom prst="rect">
            <a:avLst/>
          </a:prstGeom>
        </p:spPr>
      </p:pic>
    </p:spTree>
    <p:extLst>
      <p:ext uri="{BB962C8B-B14F-4D97-AF65-F5344CB8AC3E}">
        <p14:creationId xmlns:p14="http://schemas.microsoft.com/office/powerpoint/2010/main" val="873875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1AB9B-FD80-D066-6CFD-30E349231B8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3B7D83-A764-CFE1-D774-0CF00159A102}"/>
              </a:ext>
            </a:extLst>
          </p:cNvPr>
          <p:cNvPicPr>
            <a:picLocks noChangeAspect="1"/>
          </p:cNvPicPr>
          <p:nvPr/>
        </p:nvPicPr>
        <p:blipFill>
          <a:blip r:embed="rId2"/>
          <a:stretch>
            <a:fillRect/>
          </a:stretch>
        </p:blipFill>
        <p:spPr>
          <a:xfrm>
            <a:off x="0" y="169532"/>
            <a:ext cx="12192000" cy="6518936"/>
          </a:xfrm>
          <a:prstGeom prst="rect">
            <a:avLst/>
          </a:prstGeom>
        </p:spPr>
      </p:pic>
    </p:spTree>
    <p:extLst>
      <p:ext uri="{BB962C8B-B14F-4D97-AF65-F5344CB8AC3E}">
        <p14:creationId xmlns:p14="http://schemas.microsoft.com/office/powerpoint/2010/main" val="1287574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OpenAI Platform: What You Can Build</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234440"/>
            <a:ext cx="3593592" cy="2103120"/>
          </a:xfrm>
          <a:prstGeom prst="roundRect">
            <a:avLst>
              <a:gd name="adj" fmla="val 5217"/>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Chat and reasoning</a:t>
            </a:r>
          </a:p>
          <a:p>
            <a:pPr algn="l">
              <a:spcBef>
                <a:spcPts val="0"/>
              </a:spcBef>
              <a:spcAft>
                <a:spcPts val="800"/>
              </a:spcAft>
            </a:pPr>
            <a:r>
              <a:rPr sz="1400" b="0" i="0">
                <a:solidFill>
                  <a:srgbClr val="FFFFFF"/>
                </a:solidFill>
                <a:latin typeface="Calibri"/>
              </a:rPr>
              <a:t>GPT models for conversation, writing and code</a:t>
            </a:r>
          </a:p>
          <a:p>
            <a:pPr algn="l">
              <a:spcBef>
                <a:spcPts val="0"/>
              </a:spcBef>
              <a:spcAft>
                <a:spcPts val="0"/>
              </a:spcAft>
            </a:pPr>
            <a:r>
              <a:rPr sz="1200" b="0" i="0">
                <a:solidFill>
                  <a:srgbClr val="C4BAE3"/>
                </a:solidFill>
                <a:latin typeface="Calibri"/>
              </a:rPr>
              <a:t>Spring AI class</a:t>
            </a:r>
          </a:p>
          <a:p>
            <a:pPr algn="l">
              <a:spcBef>
                <a:spcPts val="0"/>
              </a:spcBef>
              <a:spcAft>
                <a:spcPts val="0"/>
              </a:spcAft>
            </a:pPr>
            <a:r>
              <a:rPr sz="1400" b="0" i="0">
                <a:solidFill>
                  <a:srgbClr val="8EE6A0"/>
                </a:solidFill>
                <a:latin typeface="Courier New"/>
              </a:rPr>
              <a:t>OpenAiChatModel</a:t>
            </a:r>
          </a:p>
        </p:txBody>
      </p:sp>
      <p:sp>
        <p:nvSpPr>
          <p:cNvPr id="6" name="Rounded Rectangle 5"/>
          <p:cNvSpPr/>
          <p:nvPr/>
        </p:nvSpPr>
        <p:spPr>
          <a:xfrm>
            <a:off x="4297679" y="1234440"/>
            <a:ext cx="3593592" cy="2103120"/>
          </a:xfrm>
          <a:prstGeom prst="roundRect">
            <a:avLst>
              <a:gd name="adj" fmla="val 5217"/>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Embeddings</a:t>
            </a:r>
          </a:p>
          <a:p>
            <a:pPr algn="l">
              <a:spcBef>
                <a:spcPts val="0"/>
              </a:spcBef>
              <a:spcAft>
                <a:spcPts val="800"/>
              </a:spcAft>
            </a:pPr>
            <a:r>
              <a:rPr sz="1400" b="0" i="0">
                <a:solidFill>
                  <a:srgbClr val="FFFFFF"/>
                </a:solidFill>
                <a:latin typeface="Calibri"/>
              </a:rPr>
              <a:t>Turn text into vectors for search and RAG</a:t>
            </a:r>
          </a:p>
          <a:p>
            <a:pPr algn="l">
              <a:spcBef>
                <a:spcPts val="0"/>
              </a:spcBef>
              <a:spcAft>
                <a:spcPts val="0"/>
              </a:spcAft>
            </a:pPr>
            <a:r>
              <a:rPr sz="1200" b="0" i="0">
                <a:solidFill>
                  <a:srgbClr val="C4BAE3"/>
                </a:solidFill>
                <a:latin typeface="Calibri"/>
              </a:rPr>
              <a:t>Spring AI class</a:t>
            </a:r>
          </a:p>
          <a:p>
            <a:pPr algn="l">
              <a:spcBef>
                <a:spcPts val="0"/>
              </a:spcBef>
              <a:spcAft>
                <a:spcPts val="0"/>
              </a:spcAft>
            </a:pPr>
            <a:r>
              <a:rPr sz="1400" b="0" i="0">
                <a:solidFill>
                  <a:srgbClr val="8EE6A0"/>
                </a:solidFill>
                <a:latin typeface="Courier New"/>
              </a:rPr>
              <a:t>OpenAiEmbeddingModel</a:t>
            </a:r>
          </a:p>
        </p:txBody>
      </p:sp>
      <p:sp>
        <p:nvSpPr>
          <p:cNvPr id="7" name="Rounded Rectangle 6"/>
          <p:cNvSpPr/>
          <p:nvPr/>
        </p:nvSpPr>
        <p:spPr>
          <a:xfrm>
            <a:off x="8046719" y="1234440"/>
            <a:ext cx="3593592" cy="2103120"/>
          </a:xfrm>
          <a:prstGeom prst="roundRect">
            <a:avLst>
              <a:gd name="adj" fmla="val 5217"/>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Image generation</a:t>
            </a:r>
          </a:p>
          <a:p>
            <a:pPr algn="l">
              <a:spcBef>
                <a:spcPts val="0"/>
              </a:spcBef>
              <a:spcAft>
                <a:spcPts val="800"/>
              </a:spcAft>
            </a:pPr>
            <a:r>
              <a:rPr sz="1400" b="0" i="0">
                <a:solidFill>
                  <a:srgbClr val="FFFFFF"/>
                </a:solidFill>
                <a:latin typeface="Calibri"/>
              </a:rPr>
              <a:t>Create images from a text description</a:t>
            </a:r>
          </a:p>
          <a:p>
            <a:pPr algn="l">
              <a:spcBef>
                <a:spcPts val="0"/>
              </a:spcBef>
              <a:spcAft>
                <a:spcPts val="0"/>
              </a:spcAft>
            </a:pPr>
            <a:r>
              <a:rPr sz="1200" b="0" i="0">
                <a:solidFill>
                  <a:srgbClr val="C4BAE3"/>
                </a:solidFill>
                <a:latin typeface="Calibri"/>
              </a:rPr>
              <a:t>Spring AI class</a:t>
            </a:r>
          </a:p>
          <a:p>
            <a:pPr algn="l">
              <a:spcBef>
                <a:spcPts val="0"/>
              </a:spcBef>
              <a:spcAft>
                <a:spcPts val="0"/>
              </a:spcAft>
            </a:pPr>
            <a:r>
              <a:rPr sz="1400" b="0" i="0">
                <a:solidFill>
                  <a:srgbClr val="8EE6A0"/>
                </a:solidFill>
                <a:latin typeface="Courier New"/>
              </a:rPr>
              <a:t>OpenAiImageModel</a:t>
            </a:r>
          </a:p>
        </p:txBody>
      </p:sp>
      <p:sp>
        <p:nvSpPr>
          <p:cNvPr id="8" name="Rounded Rectangle 7"/>
          <p:cNvSpPr/>
          <p:nvPr/>
        </p:nvSpPr>
        <p:spPr>
          <a:xfrm>
            <a:off x="548640" y="3474720"/>
            <a:ext cx="3593592" cy="2103120"/>
          </a:xfrm>
          <a:prstGeom prst="roundRect">
            <a:avLst>
              <a:gd name="adj" fmla="val 5217"/>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Speech to text</a:t>
            </a:r>
          </a:p>
          <a:p>
            <a:pPr algn="l">
              <a:spcBef>
                <a:spcPts val="0"/>
              </a:spcBef>
              <a:spcAft>
                <a:spcPts val="800"/>
              </a:spcAft>
            </a:pPr>
            <a:r>
              <a:rPr sz="1400" b="0" i="0">
                <a:solidFill>
                  <a:srgbClr val="FFFFFF"/>
                </a:solidFill>
                <a:latin typeface="Calibri"/>
              </a:rPr>
              <a:t>Transcribe audio recordings</a:t>
            </a:r>
          </a:p>
          <a:p>
            <a:pPr algn="l">
              <a:spcBef>
                <a:spcPts val="0"/>
              </a:spcBef>
              <a:spcAft>
                <a:spcPts val="0"/>
              </a:spcAft>
            </a:pPr>
            <a:r>
              <a:rPr sz="1200" b="0" i="0">
                <a:solidFill>
                  <a:srgbClr val="C4BAE3"/>
                </a:solidFill>
                <a:latin typeface="Calibri"/>
              </a:rPr>
              <a:t>Spring AI class</a:t>
            </a:r>
          </a:p>
          <a:p>
            <a:pPr algn="l">
              <a:spcBef>
                <a:spcPts val="0"/>
              </a:spcBef>
              <a:spcAft>
                <a:spcPts val="0"/>
              </a:spcAft>
            </a:pPr>
            <a:r>
              <a:rPr sz="1400" b="0" i="0">
                <a:solidFill>
                  <a:srgbClr val="8EE6A0"/>
                </a:solidFill>
                <a:latin typeface="Courier New"/>
              </a:rPr>
              <a:t>OpenAiAudioTranscriptionModel</a:t>
            </a:r>
          </a:p>
        </p:txBody>
      </p:sp>
      <p:sp>
        <p:nvSpPr>
          <p:cNvPr id="9" name="Rounded Rectangle 8"/>
          <p:cNvSpPr/>
          <p:nvPr/>
        </p:nvSpPr>
        <p:spPr>
          <a:xfrm>
            <a:off x="4297679" y="3474720"/>
            <a:ext cx="3593592" cy="2103120"/>
          </a:xfrm>
          <a:prstGeom prst="roundRect">
            <a:avLst>
              <a:gd name="adj" fmla="val 5217"/>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Text to speech</a:t>
            </a:r>
          </a:p>
          <a:p>
            <a:pPr algn="l">
              <a:spcBef>
                <a:spcPts val="0"/>
              </a:spcBef>
              <a:spcAft>
                <a:spcPts val="800"/>
              </a:spcAft>
            </a:pPr>
            <a:r>
              <a:rPr sz="1400" b="0" i="0">
                <a:solidFill>
                  <a:srgbClr val="FFFFFF"/>
                </a:solidFill>
                <a:latin typeface="Calibri"/>
              </a:rPr>
              <a:t>Generate natural-sounding voice</a:t>
            </a:r>
          </a:p>
          <a:p>
            <a:pPr algn="l">
              <a:spcBef>
                <a:spcPts val="0"/>
              </a:spcBef>
              <a:spcAft>
                <a:spcPts val="0"/>
              </a:spcAft>
            </a:pPr>
            <a:r>
              <a:rPr sz="1200" b="0" i="0">
                <a:solidFill>
                  <a:srgbClr val="C4BAE3"/>
                </a:solidFill>
                <a:latin typeface="Calibri"/>
              </a:rPr>
              <a:t>Spring AI class</a:t>
            </a:r>
          </a:p>
          <a:p>
            <a:pPr algn="l">
              <a:spcBef>
                <a:spcPts val="0"/>
              </a:spcBef>
              <a:spcAft>
                <a:spcPts val="0"/>
              </a:spcAft>
            </a:pPr>
            <a:r>
              <a:rPr sz="1400" b="0" i="0">
                <a:solidFill>
                  <a:srgbClr val="8EE6A0"/>
                </a:solidFill>
                <a:latin typeface="Courier New"/>
              </a:rPr>
              <a:t>OpenAiAudioSpeechModel</a:t>
            </a:r>
          </a:p>
        </p:txBody>
      </p:sp>
      <p:sp>
        <p:nvSpPr>
          <p:cNvPr id="10" name="Rounded Rectangle 9"/>
          <p:cNvSpPr/>
          <p:nvPr/>
        </p:nvSpPr>
        <p:spPr>
          <a:xfrm>
            <a:off x="8046719" y="3474720"/>
            <a:ext cx="3593592" cy="2103120"/>
          </a:xfrm>
          <a:prstGeom prst="roundRect">
            <a:avLst>
              <a:gd name="adj" fmla="val 5217"/>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Moderation</a:t>
            </a:r>
          </a:p>
          <a:p>
            <a:pPr algn="l">
              <a:spcBef>
                <a:spcPts val="0"/>
              </a:spcBef>
              <a:spcAft>
                <a:spcPts val="800"/>
              </a:spcAft>
            </a:pPr>
            <a:r>
              <a:rPr sz="1400" b="0" i="0">
                <a:solidFill>
                  <a:srgbClr val="FFFFFF"/>
                </a:solidFill>
                <a:latin typeface="Calibri"/>
              </a:rPr>
              <a:t>Flag unsafe or policy-breaking content</a:t>
            </a:r>
          </a:p>
          <a:p>
            <a:pPr algn="l">
              <a:spcBef>
                <a:spcPts val="0"/>
              </a:spcBef>
              <a:spcAft>
                <a:spcPts val="0"/>
              </a:spcAft>
            </a:pPr>
            <a:r>
              <a:rPr sz="1200" b="0" i="0">
                <a:solidFill>
                  <a:srgbClr val="C4BAE3"/>
                </a:solidFill>
                <a:latin typeface="Calibri"/>
              </a:rPr>
              <a:t>Spring AI class</a:t>
            </a:r>
          </a:p>
          <a:p>
            <a:pPr algn="l">
              <a:spcBef>
                <a:spcPts val="0"/>
              </a:spcBef>
              <a:spcAft>
                <a:spcPts val="0"/>
              </a:spcAft>
            </a:pPr>
            <a:r>
              <a:rPr sz="1400" b="0" i="0">
                <a:solidFill>
                  <a:srgbClr val="8EE6A0"/>
                </a:solidFill>
                <a:latin typeface="Courier New"/>
              </a:rPr>
              <a:t>OpenAiModerationModel</a:t>
            </a:r>
          </a:p>
        </p:txBody>
      </p:sp>
      <p:sp>
        <p:nvSpPr>
          <p:cNvPr id="11" name="Rounded Rectangle 10"/>
          <p:cNvSpPr/>
          <p:nvPr/>
        </p:nvSpPr>
        <p:spPr>
          <a:xfrm>
            <a:off x="548640" y="5806440"/>
            <a:ext cx="11091672" cy="548640"/>
          </a:xfrm>
          <a:prstGeom prst="roundRect">
            <a:avLst>
              <a:gd name="adj" fmla="val 20000"/>
            </a:avLst>
          </a:prstGeom>
          <a:solidFill>
            <a:srgbClr val="3B2D74"/>
          </a:solidFill>
          <a:ln>
            <a:noFill/>
          </a:ln>
        </p:spPr>
        <p:txBody>
          <a:bodyPr wrap="square" lIns="164592" tIns="109728" rIns="164592" bIns="109728" rtlCol="0" anchor="ctr"/>
          <a:lstStyle/>
          <a:p>
            <a:pPr algn="l">
              <a:spcBef>
                <a:spcPts val="0"/>
              </a:spcBef>
              <a:spcAft>
                <a:spcPts val="0"/>
              </a:spcAft>
            </a:pPr>
            <a:r>
              <a:rPr sz="1500" b="1" i="0">
                <a:solidFill>
                  <a:srgbClr val="DFBE27"/>
                </a:solidFill>
                <a:latin typeface="Calibri"/>
              </a:rPr>
              <a:t>Tip: </a:t>
            </a:r>
            <a:r>
              <a:rPr sz="1500" b="0" i="0">
                <a:solidFill>
                  <a:srgbClr val="FFFFFF"/>
                </a:solidFill>
                <a:latin typeface="Calibri"/>
              </a:rPr>
              <a:t>model names and prices change often. Check platform.openai.com/docs for the current list.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Getting Started with the OpenAI API</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Oval 4"/>
          <p:cNvSpPr/>
          <p:nvPr/>
        </p:nvSpPr>
        <p:spPr>
          <a:xfrm>
            <a:off x="548640" y="1344168"/>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1</a:t>
            </a:r>
          </a:p>
        </p:txBody>
      </p:sp>
      <p:sp>
        <p:nvSpPr>
          <p:cNvPr id="6" name="Rounded Rectangle 5"/>
          <p:cNvSpPr/>
          <p:nvPr/>
        </p:nvSpPr>
        <p:spPr>
          <a:xfrm>
            <a:off x="1280160" y="1234440"/>
            <a:ext cx="4389120" cy="822960"/>
          </a:xfrm>
          <a:prstGeom prst="roundRect">
            <a:avLst>
              <a:gd name="adj" fmla="val 13333"/>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Create an account at platform.openai.com</a:t>
            </a:r>
          </a:p>
        </p:txBody>
      </p:sp>
      <p:sp>
        <p:nvSpPr>
          <p:cNvPr id="7" name="Oval 6"/>
          <p:cNvSpPr/>
          <p:nvPr/>
        </p:nvSpPr>
        <p:spPr>
          <a:xfrm>
            <a:off x="548640" y="2304288"/>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2</a:t>
            </a:r>
          </a:p>
        </p:txBody>
      </p:sp>
      <p:sp>
        <p:nvSpPr>
          <p:cNvPr id="8" name="Rounded Rectangle 7"/>
          <p:cNvSpPr/>
          <p:nvPr/>
        </p:nvSpPr>
        <p:spPr>
          <a:xfrm>
            <a:off x="1280160" y="2194560"/>
            <a:ext cx="4389120" cy="822960"/>
          </a:xfrm>
          <a:prstGeom prst="roundRect">
            <a:avLst>
              <a:gd name="adj" fmla="val 13333"/>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Add billing credit and set a monthly usage limit</a:t>
            </a:r>
          </a:p>
        </p:txBody>
      </p:sp>
      <p:sp>
        <p:nvSpPr>
          <p:cNvPr id="9" name="Oval 8"/>
          <p:cNvSpPr/>
          <p:nvPr/>
        </p:nvSpPr>
        <p:spPr>
          <a:xfrm>
            <a:off x="548640" y="3264408"/>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3</a:t>
            </a:r>
          </a:p>
        </p:txBody>
      </p:sp>
      <p:sp>
        <p:nvSpPr>
          <p:cNvPr id="10" name="Rounded Rectangle 9"/>
          <p:cNvSpPr/>
          <p:nvPr/>
        </p:nvSpPr>
        <p:spPr>
          <a:xfrm>
            <a:off x="1280160" y="3154680"/>
            <a:ext cx="4389120" cy="822960"/>
          </a:xfrm>
          <a:prstGeom prst="roundRect">
            <a:avLst>
              <a:gd name="adj" fmla="val 13333"/>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Create an API key (it is shown only once, so copy it)</a:t>
            </a:r>
          </a:p>
        </p:txBody>
      </p:sp>
      <p:sp>
        <p:nvSpPr>
          <p:cNvPr id="11" name="Oval 10"/>
          <p:cNvSpPr/>
          <p:nvPr/>
        </p:nvSpPr>
        <p:spPr>
          <a:xfrm>
            <a:off x="548640" y="4224528"/>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4</a:t>
            </a:r>
          </a:p>
        </p:txBody>
      </p:sp>
      <p:sp>
        <p:nvSpPr>
          <p:cNvPr id="12" name="Rounded Rectangle 11"/>
          <p:cNvSpPr/>
          <p:nvPr/>
        </p:nvSpPr>
        <p:spPr>
          <a:xfrm>
            <a:off x="1280160" y="4114800"/>
            <a:ext cx="4389120" cy="822960"/>
          </a:xfrm>
          <a:prstGeom prst="roundRect">
            <a:avLst>
              <a:gd name="adj" fmla="val 13333"/>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Store it in the environment variable OPENAI_API_KEY</a:t>
            </a:r>
          </a:p>
        </p:txBody>
      </p:sp>
      <p:sp>
        <p:nvSpPr>
          <p:cNvPr id="13" name="Oval 12"/>
          <p:cNvSpPr/>
          <p:nvPr/>
        </p:nvSpPr>
        <p:spPr>
          <a:xfrm>
            <a:off x="548640" y="5184648"/>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5</a:t>
            </a:r>
          </a:p>
        </p:txBody>
      </p:sp>
      <p:sp>
        <p:nvSpPr>
          <p:cNvPr id="14" name="Rounded Rectangle 13"/>
          <p:cNvSpPr/>
          <p:nvPr/>
        </p:nvSpPr>
        <p:spPr>
          <a:xfrm>
            <a:off x="1280160" y="5074920"/>
            <a:ext cx="4389120" cy="822960"/>
          </a:xfrm>
          <a:prstGeom prst="roundRect">
            <a:avLst>
              <a:gd name="adj" fmla="val 13333"/>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Reference the variable in application.properties</a:t>
            </a:r>
          </a:p>
        </p:txBody>
      </p:sp>
      <p:sp>
        <p:nvSpPr>
          <p:cNvPr id="15" name="Rounded Rectangle 14"/>
          <p:cNvSpPr/>
          <p:nvPr/>
        </p:nvSpPr>
        <p:spPr>
          <a:xfrm>
            <a:off x="5943600" y="1234440"/>
            <a:ext cx="5696712" cy="1965960"/>
          </a:xfrm>
          <a:prstGeom prst="roundRect">
            <a:avLst>
              <a:gd name="adj" fmla="val 4651"/>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16" name="TextBox 15"/>
          <p:cNvSpPr txBox="1"/>
          <p:nvPr/>
        </p:nvSpPr>
        <p:spPr>
          <a:xfrm>
            <a:off x="6126480" y="1325880"/>
            <a:ext cx="5330952"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Set the variable</a:t>
            </a:r>
          </a:p>
        </p:txBody>
      </p:sp>
      <p:sp>
        <p:nvSpPr>
          <p:cNvPr id="17" name="TextBox 16"/>
          <p:cNvSpPr txBox="1"/>
          <p:nvPr/>
        </p:nvSpPr>
        <p:spPr>
          <a:xfrm>
            <a:off x="6126480" y="1709928"/>
            <a:ext cx="5330952" cy="1399031"/>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400" b="0" i="1">
                <a:solidFill>
                  <a:srgbClr val="9E92CF"/>
                </a:solidFill>
                <a:latin typeface="Courier New"/>
              </a:rPr>
              <a:t># macOS / Linux</a:t>
            </a:r>
          </a:p>
          <a:p>
            <a:pPr algn="l">
              <a:lnSpc>
                <a:spcPct val="115000"/>
              </a:lnSpc>
              <a:spcBef>
                <a:spcPts val="0"/>
              </a:spcBef>
              <a:spcAft>
                <a:spcPts val="0"/>
              </a:spcAft>
            </a:pPr>
            <a:r>
              <a:rPr sz="1400" b="0" i="0">
                <a:solidFill>
                  <a:srgbClr val="EDEAF7"/>
                </a:solidFill>
                <a:latin typeface="Courier New"/>
              </a:rPr>
              <a:t>export OPENAI_API_KEY=</a:t>
            </a:r>
            <a:r>
              <a:rPr sz="1400" b="0" i="0">
                <a:solidFill>
                  <a:srgbClr val="8EE6A0"/>
                </a:solidFill>
                <a:latin typeface="Courier New"/>
              </a:rPr>
              <a:t>"sk-..."</a:t>
            </a:r>
          </a:p>
          <a:p>
            <a:pPr algn="l">
              <a:lnSpc>
                <a:spcPct val="115000"/>
              </a:lnSpc>
              <a:spcBef>
                <a:spcPts val="0"/>
              </a:spcBef>
              <a:spcAft>
                <a:spcPts val="0"/>
              </a:spcAft>
            </a:pPr>
            <a:r>
              <a:rPr sz="1400" b="0" i="0">
                <a:solidFill>
                  <a:srgbClr val="EDEAF7"/>
                </a:solidFill>
                <a:latin typeface="Courier New"/>
              </a:rPr>
              <a:t> </a:t>
            </a:r>
          </a:p>
          <a:p>
            <a:pPr algn="l">
              <a:lnSpc>
                <a:spcPct val="115000"/>
              </a:lnSpc>
              <a:spcBef>
                <a:spcPts val="0"/>
              </a:spcBef>
              <a:spcAft>
                <a:spcPts val="0"/>
              </a:spcAft>
            </a:pPr>
            <a:r>
              <a:rPr sz="1400" b="0" i="1">
                <a:solidFill>
                  <a:srgbClr val="9E92CF"/>
                </a:solidFill>
                <a:latin typeface="Courier New"/>
              </a:rPr>
              <a:t># Windows (PowerShell)</a:t>
            </a:r>
          </a:p>
          <a:p>
            <a:pPr algn="l">
              <a:lnSpc>
                <a:spcPct val="115000"/>
              </a:lnSpc>
              <a:spcBef>
                <a:spcPts val="0"/>
              </a:spcBef>
              <a:spcAft>
                <a:spcPts val="0"/>
              </a:spcAft>
            </a:pPr>
            <a:r>
              <a:rPr sz="1400" b="0" i="0">
                <a:solidFill>
                  <a:srgbClr val="EDEAF7"/>
                </a:solidFill>
                <a:latin typeface="Courier New"/>
              </a:rPr>
              <a:t>setx OPENAI_API_KEY </a:t>
            </a:r>
            <a:r>
              <a:rPr sz="1400" b="0" i="0">
                <a:solidFill>
                  <a:srgbClr val="8EE6A0"/>
                </a:solidFill>
                <a:latin typeface="Courier New"/>
              </a:rPr>
              <a:t>"sk-..."</a:t>
            </a:r>
          </a:p>
        </p:txBody>
      </p:sp>
      <p:sp>
        <p:nvSpPr>
          <p:cNvPr id="18" name="Rounded Rectangle 17"/>
          <p:cNvSpPr/>
          <p:nvPr/>
        </p:nvSpPr>
        <p:spPr>
          <a:xfrm>
            <a:off x="5943600" y="3337560"/>
            <a:ext cx="5696712" cy="1691640"/>
          </a:xfrm>
          <a:prstGeom prst="roundRect">
            <a:avLst>
              <a:gd name="adj" fmla="val 5405"/>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19" name="TextBox 18"/>
          <p:cNvSpPr txBox="1"/>
          <p:nvPr/>
        </p:nvSpPr>
        <p:spPr>
          <a:xfrm>
            <a:off x="6126480" y="3429000"/>
            <a:ext cx="5330952"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application.properties</a:t>
            </a:r>
          </a:p>
        </p:txBody>
      </p:sp>
      <p:sp>
        <p:nvSpPr>
          <p:cNvPr id="20" name="TextBox 19"/>
          <p:cNvSpPr txBox="1"/>
          <p:nvPr/>
        </p:nvSpPr>
        <p:spPr>
          <a:xfrm>
            <a:off x="6126480" y="3813048"/>
            <a:ext cx="5330952" cy="1124712"/>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400" b="0" i="0">
                <a:solidFill>
                  <a:srgbClr val="EDEAF7"/>
                </a:solidFill>
                <a:latin typeface="Courier New"/>
              </a:rPr>
              <a:t>spring.ai.openai.api-key=${OPENAI_API_KEY}</a:t>
            </a:r>
          </a:p>
          <a:p>
            <a:pPr algn="l">
              <a:lnSpc>
                <a:spcPct val="115000"/>
              </a:lnSpc>
              <a:spcBef>
                <a:spcPts val="0"/>
              </a:spcBef>
              <a:spcAft>
                <a:spcPts val="0"/>
              </a:spcAft>
            </a:pPr>
            <a:r>
              <a:rPr sz="1400" b="0" i="0">
                <a:solidFill>
                  <a:srgbClr val="EDEAF7"/>
                </a:solidFill>
                <a:latin typeface="Courier New"/>
              </a:rPr>
              <a:t>spring.ai.openai.chat.options.model=gpt-4o-mini</a:t>
            </a:r>
          </a:p>
          <a:p>
            <a:pPr algn="l">
              <a:lnSpc>
                <a:spcPct val="115000"/>
              </a:lnSpc>
              <a:spcBef>
                <a:spcPts val="0"/>
              </a:spcBef>
              <a:spcAft>
                <a:spcPts val="0"/>
              </a:spcAft>
            </a:pPr>
            <a:r>
              <a:rPr sz="1400" b="0" i="0">
                <a:solidFill>
                  <a:srgbClr val="EDEAF7"/>
                </a:solidFill>
                <a:latin typeface="Courier New"/>
              </a:rPr>
              <a:t>spring.ai.openai.chat.options.temperature=</a:t>
            </a:r>
            <a:r>
              <a:rPr sz="1400" b="0" i="0">
                <a:solidFill>
                  <a:srgbClr val="7FD4FF"/>
                </a:solidFill>
                <a:latin typeface="Courier New"/>
              </a:rPr>
              <a:t>0.7</a:t>
            </a:r>
          </a:p>
        </p:txBody>
      </p:sp>
      <p:sp>
        <p:nvSpPr>
          <p:cNvPr id="21" name="Rounded Rectangle 20"/>
          <p:cNvSpPr/>
          <p:nvPr/>
        </p:nvSpPr>
        <p:spPr>
          <a:xfrm>
            <a:off x="5943600" y="5166360"/>
            <a:ext cx="5696712" cy="1097280"/>
          </a:xfrm>
          <a:prstGeom prst="roundRect">
            <a:avLst>
              <a:gd name="adj" fmla="val 10000"/>
            </a:avLst>
          </a:prstGeom>
          <a:solidFill>
            <a:srgbClr val="4A1F45"/>
          </a:solidFill>
          <a:ln>
            <a:noFill/>
          </a:ln>
        </p:spPr>
        <p:txBody>
          <a:bodyPr wrap="square" lIns="164592" tIns="109728" rIns="164592" bIns="109728" rtlCol="0" anchor="t"/>
          <a:lstStyle/>
          <a:p>
            <a:pPr algn="l">
              <a:spcBef>
                <a:spcPts val="0"/>
              </a:spcBef>
              <a:spcAft>
                <a:spcPts val="300"/>
              </a:spcAft>
            </a:pPr>
            <a:r>
              <a:rPr sz="1800" b="1" i="0">
                <a:solidFill>
                  <a:srgbClr val="DFBE27"/>
                </a:solidFill>
                <a:latin typeface="Calibri"/>
              </a:rPr>
              <a:t>Security rule</a:t>
            </a:r>
          </a:p>
          <a:p>
            <a:pPr algn="l">
              <a:spcBef>
                <a:spcPts val="0"/>
              </a:spcBef>
              <a:spcAft>
                <a:spcPts val="0"/>
              </a:spcAft>
            </a:pPr>
            <a:r>
              <a:rPr sz="1500" b="0" i="0">
                <a:solidFill>
                  <a:srgbClr val="FFFFFF"/>
                </a:solidFill>
                <a:latin typeface="Calibri"/>
              </a:rPr>
              <a:t>Never hard-code API keys or commit them to Git. Rotate any key that leaks.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Anatomy of an OpenAI Chat Request</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188720"/>
            <a:ext cx="6583680" cy="3611880"/>
          </a:xfrm>
          <a:prstGeom prst="roundRect">
            <a:avLst>
              <a:gd name="adj" fmla="val 2531"/>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6" name="TextBox 5"/>
          <p:cNvSpPr txBox="1"/>
          <p:nvPr/>
        </p:nvSpPr>
        <p:spPr>
          <a:xfrm>
            <a:off x="731520" y="1280160"/>
            <a:ext cx="6217920"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Request</a:t>
            </a:r>
          </a:p>
        </p:txBody>
      </p:sp>
      <p:sp>
        <p:nvSpPr>
          <p:cNvPr id="7" name="TextBox 6"/>
          <p:cNvSpPr txBox="1"/>
          <p:nvPr/>
        </p:nvSpPr>
        <p:spPr>
          <a:xfrm>
            <a:off x="731520" y="1664208"/>
            <a:ext cx="6217920" cy="3044952"/>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300" b="0" i="0">
                <a:solidFill>
                  <a:srgbClr val="EDEAF7"/>
                </a:solidFill>
                <a:latin typeface="Courier New"/>
              </a:rPr>
              <a:t>POST https://api.openai.com/v1/chat/completions</a:t>
            </a:r>
          </a:p>
          <a:p>
            <a:pPr algn="l">
              <a:lnSpc>
                <a:spcPct val="115000"/>
              </a:lnSpc>
              <a:spcBef>
                <a:spcPts val="0"/>
              </a:spcBef>
              <a:spcAft>
                <a:spcPts val="0"/>
              </a:spcAft>
            </a:pPr>
            <a:r>
              <a:rPr sz="1300" b="0" i="0">
                <a:solidFill>
                  <a:srgbClr val="EDEAF7"/>
                </a:solidFill>
                <a:latin typeface="Courier New"/>
              </a:rPr>
              <a:t>Authorization: Bearer $OPENAI_API_KEY</a:t>
            </a:r>
          </a:p>
          <a:p>
            <a:pPr algn="l">
              <a:lnSpc>
                <a:spcPct val="115000"/>
              </a:lnSpc>
              <a:spcBef>
                <a:spcPts val="0"/>
              </a:spcBef>
              <a:spcAft>
                <a:spcPts val="0"/>
              </a:spcAft>
            </a:pPr>
            <a:r>
              <a:rPr sz="1300" b="0" i="0">
                <a:solidFill>
                  <a:srgbClr val="EDEAF7"/>
                </a:solidFill>
                <a:latin typeface="Courier New"/>
              </a:rPr>
              <a:t> </a:t>
            </a:r>
          </a:p>
          <a:p>
            <a:pPr algn="l">
              <a:lnSpc>
                <a:spcPct val="115000"/>
              </a:lnSpc>
              <a:spcBef>
                <a:spcPts val="0"/>
              </a:spcBef>
              <a:spcAft>
                <a:spcPts val="0"/>
              </a:spcAft>
            </a:pP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"model"</a:t>
            </a:r>
            <a:r>
              <a:rPr sz="1300" b="0" i="0">
                <a:solidFill>
                  <a:srgbClr val="EDEAF7"/>
                </a:solidFill>
                <a:latin typeface="Courier New"/>
              </a:rPr>
              <a:t>: </a:t>
            </a:r>
            <a:r>
              <a:rPr sz="1300" b="0" i="0">
                <a:solidFill>
                  <a:srgbClr val="8EE6A0"/>
                </a:solidFill>
                <a:latin typeface="Courier New"/>
              </a:rPr>
              <a:t>"gpt-4o-mini"</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"temperature"</a:t>
            </a:r>
            <a:r>
              <a:rPr sz="1300" b="0" i="0">
                <a:solidFill>
                  <a:srgbClr val="EDEAF7"/>
                </a:solidFill>
                <a:latin typeface="Courier New"/>
              </a:rPr>
              <a:t>: </a:t>
            </a:r>
            <a:r>
              <a:rPr sz="1300" b="0" i="0">
                <a:solidFill>
                  <a:srgbClr val="7FD4FF"/>
                </a:solidFill>
                <a:latin typeface="Courier New"/>
              </a:rPr>
              <a:t>0.7</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"max_tokens"</a:t>
            </a:r>
            <a:r>
              <a:rPr sz="1300" b="0" i="0">
                <a:solidFill>
                  <a:srgbClr val="EDEAF7"/>
                </a:solidFill>
                <a:latin typeface="Courier New"/>
              </a:rPr>
              <a:t>: </a:t>
            </a:r>
            <a:r>
              <a:rPr sz="1300" b="0" i="0">
                <a:solidFill>
                  <a:srgbClr val="7FD4FF"/>
                </a:solidFill>
                <a:latin typeface="Courier New"/>
              </a:rPr>
              <a:t>200</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"messages"</a:t>
            </a:r>
            <a:r>
              <a:rPr sz="1300" b="0" i="0">
                <a:solidFill>
                  <a:srgbClr val="EDEAF7"/>
                </a:solidFill>
                <a:latin typeface="Courier New"/>
              </a:rPr>
              <a:t>: [</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"role"</a:t>
            </a:r>
            <a:r>
              <a:rPr sz="1300" b="0" i="0">
                <a:solidFill>
                  <a:srgbClr val="EDEAF7"/>
                </a:solidFill>
                <a:latin typeface="Courier New"/>
              </a:rPr>
              <a:t>: </a:t>
            </a:r>
            <a:r>
              <a:rPr sz="1300" b="0" i="0">
                <a:solidFill>
                  <a:srgbClr val="8EE6A0"/>
                </a:solidFill>
                <a:latin typeface="Courier New"/>
              </a:rPr>
              <a:t>"system"</a:t>
            </a:r>
            <a:r>
              <a:rPr sz="1300" b="0" i="0">
                <a:solidFill>
                  <a:srgbClr val="EDEAF7"/>
                </a:solidFill>
                <a:latin typeface="Courier New"/>
              </a:rPr>
              <a:t>, </a:t>
            </a:r>
            <a:r>
              <a:rPr sz="1300" b="0" i="0">
                <a:solidFill>
                  <a:srgbClr val="8EE6A0"/>
                </a:solidFill>
                <a:latin typeface="Courier New"/>
              </a:rPr>
              <a:t>"content"</a:t>
            </a:r>
            <a:r>
              <a:rPr sz="1300" b="0" i="0">
                <a:solidFill>
                  <a:srgbClr val="EDEAF7"/>
                </a:solidFill>
                <a:latin typeface="Courier New"/>
              </a:rPr>
              <a:t>: </a:t>
            </a:r>
            <a:r>
              <a:rPr sz="1300" b="0" i="0">
                <a:solidFill>
                  <a:srgbClr val="8EE6A0"/>
                </a:solidFill>
                <a:latin typeface="Courier New"/>
              </a:rPr>
              <a:t>"You are a Java tutor."</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"role"</a:t>
            </a:r>
            <a:r>
              <a:rPr sz="1300" b="0" i="0">
                <a:solidFill>
                  <a:srgbClr val="EDEAF7"/>
                </a:solidFill>
                <a:latin typeface="Courier New"/>
              </a:rPr>
              <a:t>: </a:t>
            </a:r>
            <a:r>
              <a:rPr sz="1300" b="0" i="0">
                <a:solidFill>
                  <a:srgbClr val="8EE6A0"/>
                </a:solidFill>
                <a:latin typeface="Courier New"/>
              </a:rPr>
              <a:t>"user"</a:t>
            </a:r>
            <a:r>
              <a:rPr sz="1300" b="0" i="0">
                <a:solidFill>
                  <a:srgbClr val="EDEAF7"/>
                </a:solidFill>
                <a:latin typeface="Courier New"/>
              </a:rPr>
              <a:t>, </a:t>
            </a:r>
            <a:r>
              <a:rPr sz="1300" b="0" i="0">
                <a:solidFill>
                  <a:srgbClr val="8EE6A0"/>
                </a:solidFill>
                <a:latin typeface="Courier New"/>
              </a:rPr>
              <a:t>"content"</a:t>
            </a:r>
            <a:r>
              <a:rPr sz="1300" b="0" i="0">
                <a:solidFill>
                  <a:srgbClr val="EDEAF7"/>
                </a:solidFill>
                <a:latin typeface="Courier New"/>
              </a:rPr>
              <a:t>: </a:t>
            </a:r>
            <a:r>
              <a:rPr sz="1300" b="0" i="0">
                <a:solidFill>
                  <a:srgbClr val="8EE6A0"/>
                </a:solidFill>
                <a:latin typeface="Courier New"/>
              </a:rPr>
              <a:t>"What is a bean?"</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p>
          <a:p>
            <a:pPr algn="l">
              <a:lnSpc>
                <a:spcPct val="115000"/>
              </a:lnSpc>
              <a:spcBef>
                <a:spcPts val="0"/>
              </a:spcBef>
              <a:spcAft>
                <a:spcPts val="0"/>
              </a:spcAft>
            </a:pPr>
            <a:r>
              <a:rPr sz="1300" b="0" i="0">
                <a:solidFill>
                  <a:srgbClr val="EDEAF7"/>
                </a:solidFill>
                <a:latin typeface="Courier New"/>
              </a:rPr>
              <a:t>}</a:t>
            </a:r>
          </a:p>
        </p:txBody>
      </p:sp>
      <p:sp>
        <p:nvSpPr>
          <p:cNvPr id="8" name="Rounded Rectangle 7"/>
          <p:cNvSpPr/>
          <p:nvPr/>
        </p:nvSpPr>
        <p:spPr>
          <a:xfrm>
            <a:off x="7360920" y="1188720"/>
            <a:ext cx="4279392" cy="3611880"/>
          </a:xfrm>
          <a:prstGeom prst="roundRect">
            <a:avLst>
              <a:gd name="adj" fmla="val 2531"/>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9" name="TextBox 8"/>
          <p:cNvSpPr txBox="1"/>
          <p:nvPr/>
        </p:nvSpPr>
        <p:spPr>
          <a:xfrm>
            <a:off x="7543800" y="1280160"/>
            <a:ext cx="3913631"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Response (trimmed)</a:t>
            </a:r>
          </a:p>
        </p:txBody>
      </p:sp>
      <p:sp>
        <p:nvSpPr>
          <p:cNvPr id="10" name="TextBox 9"/>
          <p:cNvSpPr txBox="1"/>
          <p:nvPr/>
        </p:nvSpPr>
        <p:spPr>
          <a:xfrm>
            <a:off x="7543800" y="1664208"/>
            <a:ext cx="3913631" cy="3044952"/>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"choices"</a:t>
            </a:r>
            <a:r>
              <a:rPr sz="1300" b="0" i="0">
                <a:solidFill>
                  <a:srgbClr val="EDEAF7"/>
                </a:solidFill>
                <a:latin typeface="Courier New"/>
              </a:rPr>
              <a:t>: [{</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"message"</a:t>
            </a:r>
            <a:r>
              <a:rPr sz="1300" b="0" i="0">
                <a:solidFill>
                  <a:srgbClr val="EDEAF7"/>
                </a:solidFill>
                <a:latin typeface="Courier New"/>
              </a:rPr>
              <a:t>: {</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"role"</a:t>
            </a:r>
            <a:r>
              <a:rPr sz="1300" b="0" i="0">
                <a:solidFill>
                  <a:srgbClr val="EDEAF7"/>
                </a:solidFill>
                <a:latin typeface="Courier New"/>
              </a:rPr>
              <a:t>: </a:t>
            </a:r>
            <a:r>
              <a:rPr sz="1300" b="0" i="0">
                <a:solidFill>
                  <a:srgbClr val="8EE6A0"/>
                </a:solidFill>
                <a:latin typeface="Courier New"/>
              </a:rPr>
              <a:t>"assistant"</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"content"</a:t>
            </a:r>
            <a:r>
              <a:rPr sz="1300" b="0" i="0">
                <a:solidFill>
                  <a:srgbClr val="EDEAF7"/>
                </a:solidFill>
                <a:latin typeface="Courier New"/>
              </a:rPr>
              <a:t>: </a:t>
            </a:r>
            <a:r>
              <a:rPr sz="1300" b="0" i="0">
                <a:solidFill>
                  <a:srgbClr val="8EE6A0"/>
                </a:solidFill>
                <a:latin typeface="Courier New"/>
              </a:rPr>
              <a:t>"A bean is..."</a:t>
            </a:r>
          </a:p>
          <a:p>
            <a:pPr algn="l">
              <a:lnSpc>
                <a:spcPct val="115000"/>
              </a:lnSpc>
              <a:spcBef>
                <a:spcPts val="0"/>
              </a:spcBef>
              <a:spcAft>
                <a:spcPts val="0"/>
              </a:spcAft>
            </a:pPr>
            <a:r>
              <a:rPr sz="1300" b="0" i="0">
                <a:solidFill>
                  <a:srgbClr val="EDEAF7"/>
                </a:solidFill>
                <a:latin typeface="Courier New"/>
              </a:rPr>
              <a:t>    }</a:t>
            </a:r>
          </a:p>
          <a:p>
            <a:pPr algn="l">
              <a:lnSpc>
                <a:spcPct val="115000"/>
              </a:lnSpc>
              <a:spcBef>
                <a:spcPts val="0"/>
              </a:spcBef>
              <a:spcAft>
                <a:spcPts val="0"/>
              </a:spcAft>
            </a:pPr>
            <a:r>
              <a:rPr sz="1300" b="0" i="0">
                <a:solidFill>
                  <a:srgbClr val="EDEAF7"/>
                </a:solidFill>
                <a:latin typeface="Courier New"/>
              </a:rPr>
              <a:t>  }],</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"usage"</a:t>
            </a:r>
            <a:r>
              <a:rPr sz="1300" b="0" i="0">
                <a:solidFill>
                  <a:srgbClr val="EDEAF7"/>
                </a:solidFill>
                <a:latin typeface="Courier New"/>
              </a:rPr>
              <a:t>: {</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"prompt_tokens"</a:t>
            </a:r>
            <a:r>
              <a:rPr sz="1300" b="0" i="0">
                <a:solidFill>
                  <a:srgbClr val="EDEAF7"/>
                </a:solidFill>
                <a:latin typeface="Courier New"/>
              </a:rPr>
              <a:t>: </a:t>
            </a:r>
            <a:r>
              <a:rPr sz="1300" b="0" i="0">
                <a:solidFill>
                  <a:srgbClr val="7FD4FF"/>
                </a:solidFill>
                <a:latin typeface="Courier New"/>
              </a:rPr>
              <a:t>28</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"completion_tokens"</a:t>
            </a:r>
            <a:r>
              <a:rPr sz="1300" b="0" i="0">
                <a:solidFill>
                  <a:srgbClr val="EDEAF7"/>
                </a:solidFill>
                <a:latin typeface="Courier New"/>
              </a:rPr>
              <a:t>: </a:t>
            </a:r>
            <a:r>
              <a:rPr sz="1300" b="0" i="0">
                <a:solidFill>
                  <a:srgbClr val="7FD4FF"/>
                </a:solidFill>
                <a:latin typeface="Courier New"/>
              </a:rPr>
              <a:t>45</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"total_tokens"</a:t>
            </a:r>
            <a:r>
              <a:rPr sz="1300" b="0" i="0">
                <a:solidFill>
                  <a:srgbClr val="EDEAF7"/>
                </a:solidFill>
                <a:latin typeface="Courier New"/>
              </a:rPr>
              <a:t>: </a:t>
            </a:r>
            <a:r>
              <a:rPr sz="1300" b="0" i="0">
                <a:solidFill>
                  <a:srgbClr val="7FD4FF"/>
                </a:solidFill>
                <a:latin typeface="Courier New"/>
              </a:rPr>
              <a:t>73</a:t>
            </a:r>
          </a:p>
          <a:p>
            <a:pPr algn="l">
              <a:lnSpc>
                <a:spcPct val="115000"/>
              </a:lnSpc>
              <a:spcBef>
                <a:spcPts val="0"/>
              </a:spcBef>
              <a:spcAft>
                <a:spcPts val="0"/>
              </a:spcAft>
            </a:pPr>
            <a:r>
              <a:rPr sz="1300" b="0" i="0">
                <a:solidFill>
                  <a:srgbClr val="EDEAF7"/>
                </a:solidFill>
                <a:latin typeface="Courier New"/>
              </a:rPr>
              <a:t>  }</a:t>
            </a:r>
          </a:p>
          <a:p>
            <a:pPr algn="l">
              <a:lnSpc>
                <a:spcPct val="115000"/>
              </a:lnSpc>
              <a:spcBef>
                <a:spcPts val="0"/>
              </a:spcBef>
              <a:spcAft>
                <a:spcPts val="0"/>
              </a:spcAft>
            </a:pPr>
            <a:r>
              <a:rPr sz="1300" b="0" i="0">
                <a:solidFill>
                  <a:srgbClr val="EDEAF7"/>
                </a:solidFill>
                <a:latin typeface="Courier New"/>
              </a:rPr>
              <a:t>}</a:t>
            </a:r>
          </a:p>
        </p:txBody>
      </p:sp>
      <p:sp>
        <p:nvSpPr>
          <p:cNvPr id="11" name="Rounded Rectangle 10"/>
          <p:cNvSpPr/>
          <p:nvPr/>
        </p:nvSpPr>
        <p:spPr>
          <a:xfrm>
            <a:off x="548640" y="5029200"/>
            <a:ext cx="3593592" cy="1280160"/>
          </a:xfrm>
          <a:prstGeom prst="roundRect">
            <a:avLst>
              <a:gd name="adj" fmla="val 8571"/>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messages</a:t>
            </a:r>
          </a:p>
          <a:p>
            <a:pPr algn="l">
              <a:spcBef>
                <a:spcPts val="0"/>
              </a:spcBef>
              <a:spcAft>
                <a:spcPts val="300"/>
              </a:spcAft>
            </a:pPr>
            <a:r>
              <a:rPr sz="1400" b="0" i="0">
                <a:solidFill>
                  <a:srgbClr val="FFFFFF"/>
                </a:solidFill>
                <a:latin typeface="Calibri"/>
              </a:rPr>
              <a:t>The whole conversation. The API is stateless, so resend the history each time.</a:t>
            </a:r>
          </a:p>
        </p:txBody>
      </p:sp>
      <p:sp>
        <p:nvSpPr>
          <p:cNvPr id="12" name="Rounded Rectangle 11"/>
          <p:cNvSpPr/>
          <p:nvPr/>
        </p:nvSpPr>
        <p:spPr>
          <a:xfrm>
            <a:off x="4297679" y="5029200"/>
            <a:ext cx="3593592" cy="1280160"/>
          </a:xfrm>
          <a:prstGeom prst="roundRect">
            <a:avLst>
              <a:gd name="adj" fmla="val 8571"/>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usage</a:t>
            </a:r>
          </a:p>
          <a:p>
            <a:pPr algn="l">
              <a:spcBef>
                <a:spcPts val="0"/>
              </a:spcBef>
              <a:spcAft>
                <a:spcPts val="300"/>
              </a:spcAft>
            </a:pPr>
            <a:r>
              <a:rPr sz="1400" b="0" i="0">
                <a:solidFill>
                  <a:srgbClr val="FFFFFF"/>
                </a:solidFill>
                <a:latin typeface="Calibri"/>
              </a:rPr>
              <a:t>Prompt plus completion tokens: this is what you are billed for.</a:t>
            </a:r>
          </a:p>
        </p:txBody>
      </p:sp>
      <p:sp>
        <p:nvSpPr>
          <p:cNvPr id="13" name="Rounded Rectangle 12"/>
          <p:cNvSpPr/>
          <p:nvPr/>
        </p:nvSpPr>
        <p:spPr>
          <a:xfrm>
            <a:off x="8046719" y="5029200"/>
            <a:ext cx="3593592" cy="1280160"/>
          </a:xfrm>
          <a:prstGeom prst="roundRect">
            <a:avLst>
              <a:gd name="adj" fmla="val 8571"/>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Spring AI</a:t>
            </a:r>
          </a:p>
          <a:p>
            <a:pPr algn="l">
              <a:spcBef>
                <a:spcPts val="0"/>
              </a:spcBef>
              <a:spcAft>
                <a:spcPts val="300"/>
              </a:spcAft>
            </a:pPr>
            <a:r>
              <a:rPr sz="1400" b="0" i="0">
                <a:solidFill>
                  <a:srgbClr val="FFFFFF"/>
                </a:solidFill>
                <a:latin typeface="Calibri"/>
              </a:rPr>
              <a:t>ChatClient builds this request and parses the response for you.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4D663-210C-CBFB-1187-A5217BFBAA5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9F515FE-8BB1-7253-DE23-0EA66BC46928}"/>
              </a:ext>
            </a:extLst>
          </p:cNvPr>
          <p:cNvPicPr>
            <a:picLocks noChangeAspect="1"/>
          </p:cNvPicPr>
          <p:nvPr/>
        </p:nvPicPr>
        <p:blipFill>
          <a:blip r:embed="rId2"/>
          <a:stretch>
            <a:fillRect/>
          </a:stretch>
        </p:blipFill>
        <p:spPr>
          <a:xfrm>
            <a:off x="366039" y="0"/>
            <a:ext cx="11459921" cy="6858000"/>
          </a:xfrm>
          <a:prstGeom prst="rect">
            <a:avLst/>
          </a:prstGeom>
        </p:spPr>
      </p:pic>
    </p:spTree>
    <p:extLst>
      <p:ext uri="{BB962C8B-B14F-4D97-AF65-F5344CB8AC3E}">
        <p14:creationId xmlns:p14="http://schemas.microsoft.com/office/powerpoint/2010/main" val="4049602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75411-93B0-ACCE-4549-302146E6D1A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7A80AE9-88C1-4168-1295-1C68024FECEF}"/>
              </a:ext>
            </a:extLst>
          </p:cNvPr>
          <p:cNvPicPr>
            <a:picLocks noChangeAspect="1"/>
          </p:cNvPicPr>
          <p:nvPr/>
        </p:nvPicPr>
        <p:blipFill>
          <a:blip r:embed="rId2"/>
          <a:stretch>
            <a:fillRect/>
          </a:stretch>
        </p:blipFill>
        <p:spPr>
          <a:xfrm>
            <a:off x="140736" y="0"/>
            <a:ext cx="11910527" cy="6858000"/>
          </a:xfrm>
          <a:prstGeom prst="rect">
            <a:avLst/>
          </a:prstGeom>
        </p:spPr>
      </p:pic>
    </p:spTree>
    <p:extLst>
      <p:ext uri="{BB962C8B-B14F-4D97-AF65-F5344CB8AC3E}">
        <p14:creationId xmlns:p14="http://schemas.microsoft.com/office/powerpoint/2010/main" val="2300776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E044E-2A45-65F0-3FA0-FB4B50005A3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0827740-B465-24FE-DC4D-D30D68C74B68}"/>
              </a:ext>
            </a:extLst>
          </p:cNvPr>
          <p:cNvPicPr>
            <a:picLocks noChangeAspect="1"/>
          </p:cNvPicPr>
          <p:nvPr/>
        </p:nvPicPr>
        <p:blipFill>
          <a:blip r:embed="rId2"/>
          <a:stretch>
            <a:fillRect/>
          </a:stretch>
        </p:blipFill>
        <p:spPr>
          <a:xfrm>
            <a:off x="1952887" y="0"/>
            <a:ext cx="8286226" cy="6858000"/>
          </a:xfrm>
          <a:prstGeom prst="rect">
            <a:avLst/>
          </a:prstGeom>
        </p:spPr>
      </p:pic>
    </p:spTree>
    <p:extLst>
      <p:ext uri="{BB962C8B-B14F-4D97-AF65-F5344CB8AC3E}">
        <p14:creationId xmlns:p14="http://schemas.microsoft.com/office/powerpoint/2010/main" val="2235281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8F05E-8BDA-0497-B3CF-678BE011785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FEFE330-FF35-98FB-AF60-DF4C36C170CE}"/>
              </a:ext>
            </a:extLst>
          </p:cNvPr>
          <p:cNvPicPr>
            <a:picLocks noChangeAspect="1"/>
          </p:cNvPicPr>
          <p:nvPr/>
        </p:nvPicPr>
        <p:blipFill>
          <a:blip r:embed="rId2"/>
          <a:stretch>
            <a:fillRect/>
          </a:stretch>
        </p:blipFill>
        <p:spPr>
          <a:xfrm>
            <a:off x="1107526" y="0"/>
            <a:ext cx="9976947" cy="6858000"/>
          </a:xfrm>
          <a:prstGeom prst="rect">
            <a:avLst/>
          </a:prstGeom>
        </p:spPr>
      </p:pic>
    </p:spTree>
    <p:extLst>
      <p:ext uri="{BB962C8B-B14F-4D97-AF65-F5344CB8AC3E}">
        <p14:creationId xmlns:p14="http://schemas.microsoft.com/office/powerpoint/2010/main" val="689883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E2C1F-4C15-DFE1-ED4C-5F524374D9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152FEBD-D217-77D0-4838-1BE6A29800DF}"/>
              </a:ext>
            </a:extLst>
          </p:cNvPr>
          <p:cNvPicPr>
            <a:picLocks noChangeAspect="1"/>
          </p:cNvPicPr>
          <p:nvPr/>
        </p:nvPicPr>
        <p:blipFill>
          <a:blip r:embed="rId2"/>
          <a:stretch>
            <a:fillRect/>
          </a:stretch>
        </p:blipFill>
        <p:spPr>
          <a:xfrm>
            <a:off x="458441" y="0"/>
            <a:ext cx="11275117" cy="6858000"/>
          </a:xfrm>
          <a:prstGeom prst="rect">
            <a:avLst/>
          </a:prstGeom>
        </p:spPr>
      </p:pic>
    </p:spTree>
    <p:extLst>
      <p:ext uri="{BB962C8B-B14F-4D97-AF65-F5344CB8AC3E}">
        <p14:creationId xmlns:p14="http://schemas.microsoft.com/office/powerpoint/2010/main" val="1239869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F5726-C3B0-B5AE-1CDB-C560716E975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E1EADEA-2BCF-C411-B8BF-6C757FAF087E}"/>
              </a:ext>
            </a:extLst>
          </p:cNvPr>
          <p:cNvPicPr>
            <a:picLocks noChangeAspect="1"/>
          </p:cNvPicPr>
          <p:nvPr/>
        </p:nvPicPr>
        <p:blipFill>
          <a:blip r:embed="rId2"/>
          <a:stretch>
            <a:fillRect/>
          </a:stretch>
        </p:blipFill>
        <p:spPr>
          <a:xfrm>
            <a:off x="641818" y="0"/>
            <a:ext cx="10908363" cy="6858000"/>
          </a:xfrm>
          <a:prstGeom prst="rect">
            <a:avLst/>
          </a:prstGeom>
        </p:spPr>
      </p:pic>
    </p:spTree>
    <p:extLst>
      <p:ext uri="{BB962C8B-B14F-4D97-AF65-F5344CB8AC3E}">
        <p14:creationId xmlns:p14="http://schemas.microsoft.com/office/powerpoint/2010/main" val="77681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8766D-F88D-CEDC-B415-6E19AA14D36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0551B73-0D35-3B3B-9543-88D6EAE9C14B}"/>
              </a:ext>
            </a:extLst>
          </p:cNvPr>
          <p:cNvPicPr>
            <a:picLocks noChangeAspect="1"/>
          </p:cNvPicPr>
          <p:nvPr/>
        </p:nvPicPr>
        <p:blipFill>
          <a:blip r:embed="rId2"/>
          <a:stretch>
            <a:fillRect/>
          </a:stretch>
        </p:blipFill>
        <p:spPr>
          <a:xfrm>
            <a:off x="354977" y="0"/>
            <a:ext cx="11482046" cy="6858000"/>
          </a:xfrm>
          <a:prstGeom prst="rect">
            <a:avLst/>
          </a:prstGeom>
        </p:spPr>
      </p:pic>
    </p:spTree>
    <p:extLst>
      <p:ext uri="{BB962C8B-B14F-4D97-AF65-F5344CB8AC3E}">
        <p14:creationId xmlns:p14="http://schemas.microsoft.com/office/powerpoint/2010/main" val="3983060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57139-4484-71EA-2FC9-41AD0DBC457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FB0DBB8-AF12-AFF9-0FE4-CB49B2A83F4D}"/>
              </a:ext>
            </a:extLst>
          </p:cNvPr>
          <p:cNvPicPr>
            <a:picLocks noChangeAspect="1"/>
          </p:cNvPicPr>
          <p:nvPr/>
        </p:nvPicPr>
        <p:blipFill>
          <a:blip r:embed="rId2"/>
          <a:stretch>
            <a:fillRect/>
          </a:stretch>
        </p:blipFill>
        <p:spPr>
          <a:xfrm>
            <a:off x="609027" y="0"/>
            <a:ext cx="10973945" cy="6858000"/>
          </a:xfrm>
          <a:prstGeom prst="rect">
            <a:avLst/>
          </a:prstGeom>
        </p:spPr>
      </p:pic>
    </p:spTree>
    <p:extLst>
      <p:ext uri="{BB962C8B-B14F-4D97-AF65-F5344CB8AC3E}">
        <p14:creationId xmlns:p14="http://schemas.microsoft.com/office/powerpoint/2010/main" val="198925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How Ollama Works</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280160"/>
            <a:ext cx="2331720" cy="1737360"/>
          </a:xfrm>
          <a:prstGeom prst="roundRect">
            <a:avLst>
              <a:gd name="adj" fmla="val 6315"/>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Your Spring Boot app</a:t>
            </a:r>
          </a:p>
          <a:p>
            <a:pPr algn="l">
              <a:spcBef>
                <a:spcPts val="0"/>
              </a:spcBef>
              <a:spcAft>
                <a:spcPts val="300"/>
              </a:spcAft>
            </a:pPr>
            <a:r>
              <a:rPr sz="1400" b="0" i="0">
                <a:solidFill>
                  <a:srgbClr val="FFFFFF"/>
                </a:solidFill>
                <a:latin typeface="Calibri"/>
              </a:rPr>
              <a:t>ChatClient and the spring-ai-ollama starter</a:t>
            </a:r>
          </a:p>
        </p:txBody>
      </p:sp>
      <p:sp>
        <p:nvSpPr>
          <p:cNvPr id="6" name="Right Arrow 5"/>
          <p:cNvSpPr/>
          <p:nvPr/>
        </p:nvSpPr>
        <p:spPr>
          <a:xfrm>
            <a:off x="2953512" y="1965960"/>
            <a:ext cx="411480" cy="365760"/>
          </a:xfrm>
          <a:prstGeom prst="rightArrow">
            <a:avLst/>
          </a:prstGeom>
          <a:solidFill>
            <a:srgbClr val="DFBE27"/>
          </a:solidFill>
          <a:ln>
            <a:noFill/>
          </a:ln>
        </p:spPr>
        <p:txBody>
          <a:bodyPr wrap="square" lIns="164592" tIns="109728" rIns="164592" bIns="109728" rtlCol="0" anchor="t"/>
          <a:lstStyle/>
          <a:p>
            <a:pPr algn="ctr"/>
            <a:endParaRPr/>
          </a:p>
        </p:txBody>
      </p:sp>
      <p:sp>
        <p:nvSpPr>
          <p:cNvPr id="7" name="Rounded Rectangle 6"/>
          <p:cNvSpPr/>
          <p:nvPr/>
        </p:nvSpPr>
        <p:spPr>
          <a:xfrm>
            <a:off x="3465576" y="1280160"/>
            <a:ext cx="2331720" cy="1737360"/>
          </a:xfrm>
          <a:prstGeom prst="roundRect">
            <a:avLst>
              <a:gd name="adj" fmla="val 6315"/>
            </a:avLst>
          </a:prstGeom>
          <a:solidFill>
            <a:srgbClr val="3B2D74"/>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Ollama server</a:t>
            </a:r>
          </a:p>
          <a:p>
            <a:pPr algn="l">
              <a:spcBef>
                <a:spcPts val="0"/>
              </a:spcBef>
              <a:spcAft>
                <a:spcPts val="300"/>
              </a:spcAft>
            </a:pPr>
            <a:r>
              <a:rPr sz="1400" b="0" i="0">
                <a:solidFill>
                  <a:srgbClr val="FFFFFF"/>
                </a:solidFill>
                <a:latin typeface="Calibri"/>
              </a:rPr>
              <a:t>Local REST API on localhost:11434</a:t>
            </a:r>
          </a:p>
        </p:txBody>
      </p:sp>
      <p:sp>
        <p:nvSpPr>
          <p:cNvPr id="8" name="Right Arrow 7"/>
          <p:cNvSpPr/>
          <p:nvPr/>
        </p:nvSpPr>
        <p:spPr>
          <a:xfrm>
            <a:off x="5870448" y="1965960"/>
            <a:ext cx="411480" cy="365760"/>
          </a:xfrm>
          <a:prstGeom prst="rightArrow">
            <a:avLst/>
          </a:prstGeom>
          <a:solidFill>
            <a:srgbClr val="DFBE27"/>
          </a:solidFill>
          <a:ln>
            <a:noFill/>
          </a:ln>
        </p:spPr>
        <p:txBody>
          <a:bodyPr wrap="square" lIns="164592" tIns="109728" rIns="164592" bIns="109728" rtlCol="0" anchor="t"/>
          <a:lstStyle/>
          <a:p>
            <a:pPr algn="ctr"/>
            <a:endParaRPr/>
          </a:p>
        </p:txBody>
      </p:sp>
      <p:sp>
        <p:nvSpPr>
          <p:cNvPr id="9" name="Rounded Rectangle 8"/>
          <p:cNvSpPr/>
          <p:nvPr/>
        </p:nvSpPr>
        <p:spPr>
          <a:xfrm>
            <a:off x="6382512" y="1280160"/>
            <a:ext cx="2331720" cy="1737360"/>
          </a:xfrm>
          <a:prstGeom prst="roundRect">
            <a:avLst>
              <a:gd name="adj" fmla="val 6315"/>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Model library</a:t>
            </a:r>
          </a:p>
          <a:p>
            <a:pPr algn="l">
              <a:spcBef>
                <a:spcPts val="0"/>
              </a:spcBef>
              <a:spcAft>
                <a:spcPts val="300"/>
              </a:spcAft>
            </a:pPr>
            <a:r>
              <a:rPr sz="1400" b="0" i="0">
                <a:solidFill>
                  <a:srgbClr val="FFFFFF"/>
                </a:solidFill>
                <a:latin typeface="Calibri"/>
              </a:rPr>
              <a:t>llama3.2, mistral, gemma and more, stored locally</a:t>
            </a:r>
          </a:p>
        </p:txBody>
      </p:sp>
      <p:sp>
        <p:nvSpPr>
          <p:cNvPr id="10" name="Right Arrow 9"/>
          <p:cNvSpPr/>
          <p:nvPr/>
        </p:nvSpPr>
        <p:spPr>
          <a:xfrm>
            <a:off x="8787384" y="1965960"/>
            <a:ext cx="411480" cy="365760"/>
          </a:xfrm>
          <a:prstGeom prst="rightArrow">
            <a:avLst/>
          </a:prstGeom>
          <a:solidFill>
            <a:srgbClr val="DFBE27"/>
          </a:solidFill>
          <a:ln>
            <a:noFill/>
          </a:ln>
        </p:spPr>
        <p:txBody>
          <a:bodyPr wrap="square" lIns="164592" tIns="109728" rIns="164592" bIns="109728" rtlCol="0" anchor="t"/>
          <a:lstStyle/>
          <a:p>
            <a:pPr algn="ctr"/>
            <a:endParaRPr/>
          </a:p>
        </p:txBody>
      </p:sp>
      <p:sp>
        <p:nvSpPr>
          <p:cNvPr id="11" name="Rounded Rectangle 10"/>
          <p:cNvSpPr/>
          <p:nvPr/>
        </p:nvSpPr>
        <p:spPr>
          <a:xfrm>
            <a:off x="9299448" y="1280160"/>
            <a:ext cx="2331720" cy="1737360"/>
          </a:xfrm>
          <a:prstGeom prst="roundRect">
            <a:avLst>
              <a:gd name="adj" fmla="val 6315"/>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CPU / GPU</a:t>
            </a:r>
          </a:p>
          <a:p>
            <a:pPr algn="l">
              <a:spcBef>
                <a:spcPts val="0"/>
              </a:spcBef>
              <a:spcAft>
                <a:spcPts val="300"/>
              </a:spcAft>
            </a:pPr>
            <a:r>
              <a:rPr sz="1400" b="0" i="0">
                <a:solidFill>
                  <a:srgbClr val="FFFFFF"/>
                </a:solidFill>
                <a:latin typeface="Calibri"/>
              </a:rPr>
              <a:t>Runs inference on your own hardware</a:t>
            </a:r>
          </a:p>
        </p:txBody>
      </p:sp>
      <p:sp>
        <p:nvSpPr>
          <p:cNvPr id="12" name="TextBox 11"/>
          <p:cNvSpPr txBox="1"/>
          <p:nvPr/>
        </p:nvSpPr>
        <p:spPr>
          <a:xfrm>
            <a:off x="548640" y="3291840"/>
            <a:ext cx="7315200" cy="365760"/>
          </a:xfrm>
          <a:prstGeom prst="rect">
            <a:avLst/>
          </a:prstGeom>
          <a:noFill/>
        </p:spPr>
        <p:txBody>
          <a:bodyPr wrap="square" lIns="45720" tIns="27432" rIns="45720" bIns="27432" anchor="t">
            <a:spAutoFit/>
          </a:bodyPr>
          <a:lstStyle/>
          <a:p>
            <a:pPr algn="l">
              <a:spcBef>
                <a:spcPts val="0"/>
              </a:spcBef>
              <a:spcAft>
                <a:spcPts val="0"/>
              </a:spcAft>
            </a:pPr>
            <a:r>
              <a:rPr sz="2000" b="1" i="0">
                <a:solidFill>
                  <a:srgbClr val="DFBE27"/>
                </a:solidFill>
                <a:latin typeface="Calibri"/>
              </a:rPr>
              <a:t>Why teams choose Ollama</a:t>
            </a:r>
          </a:p>
        </p:txBody>
      </p:sp>
      <p:sp>
        <p:nvSpPr>
          <p:cNvPr id="13" name="Rounded Rectangle 12"/>
          <p:cNvSpPr/>
          <p:nvPr/>
        </p:nvSpPr>
        <p:spPr>
          <a:xfrm>
            <a:off x="548640" y="3749039"/>
            <a:ext cx="2651760" cy="1783080"/>
          </a:xfrm>
          <a:prstGeom prst="roundRect">
            <a:avLst>
              <a:gd name="adj" fmla="val 6153"/>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Private</a:t>
            </a:r>
          </a:p>
          <a:p>
            <a:pPr algn="l">
              <a:spcBef>
                <a:spcPts val="0"/>
              </a:spcBef>
              <a:spcAft>
                <a:spcPts val="300"/>
              </a:spcAft>
            </a:pPr>
            <a:r>
              <a:rPr sz="1400" b="0" i="0">
                <a:solidFill>
                  <a:srgbClr val="FFFFFF"/>
                </a:solidFill>
                <a:latin typeface="Calibri"/>
              </a:rPr>
              <a:t>Prompts and data never leave your machine.</a:t>
            </a:r>
          </a:p>
        </p:txBody>
      </p:sp>
      <p:sp>
        <p:nvSpPr>
          <p:cNvPr id="14" name="Rounded Rectangle 13"/>
          <p:cNvSpPr/>
          <p:nvPr/>
        </p:nvSpPr>
        <p:spPr>
          <a:xfrm>
            <a:off x="3328416" y="3749039"/>
            <a:ext cx="2651760" cy="1783080"/>
          </a:xfrm>
          <a:prstGeom prst="roundRect">
            <a:avLst>
              <a:gd name="adj" fmla="val 6153"/>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Free to run</a:t>
            </a:r>
          </a:p>
          <a:p>
            <a:pPr algn="l">
              <a:spcBef>
                <a:spcPts val="0"/>
              </a:spcBef>
              <a:spcAft>
                <a:spcPts val="300"/>
              </a:spcAft>
            </a:pPr>
            <a:r>
              <a:rPr sz="1400" b="0" i="0">
                <a:solidFill>
                  <a:srgbClr val="FFFFFF"/>
                </a:solidFill>
                <a:latin typeface="Calibri"/>
              </a:rPr>
              <a:t>No per-token fees for local models.</a:t>
            </a:r>
          </a:p>
        </p:txBody>
      </p:sp>
      <p:sp>
        <p:nvSpPr>
          <p:cNvPr id="15" name="Rounded Rectangle 14"/>
          <p:cNvSpPr/>
          <p:nvPr/>
        </p:nvSpPr>
        <p:spPr>
          <a:xfrm>
            <a:off x="6108192" y="3749039"/>
            <a:ext cx="2651760" cy="1783080"/>
          </a:xfrm>
          <a:prstGeom prst="roundRect">
            <a:avLst>
              <a:gd name="adj" fmla="val 6153"/>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Works offline</a:t>
            </a:r>
          </a:p>
          <a:p>
            <a:pPr algn="l">
              <a:spcBef>
                <a:spcPts val="0"/>
              </a:spcBef>
              <a:spcAft>
                <a:spcPts val="300"/>
              </a:spcAft>
            </a:pPr>
            <a:r>
              <a:rPr sz="1400" b="0" i="0">
                <a:solidFill>
                  <a:srgbClr val="FFFFFF"/>
                </a:solidFill>
                <a:latin typeface="Calibri"/>
              </a:rPr>
              <a:t>No internet needed once a model is pulled.</a:t>
            </a:r>
          </a:p>
        </p:txBody>
      </p:sp>
      <p:sp>
        <p:nvSpPr>
          <p:cNvPr id="16" name="Rounded Rectangle 15"/>
          <p:cNvSpPr/>
          <p:nvPr/>
        </p:nvSpPr>
        <p:spPr>
          <a:xfrm>
            <a:off x="8887968" y="3749039"/>
            <a:ext cx="2651760" cy="1783080"/>
          </a:xfrm>
          <a:prstGeom prst="roundRect">
            <a:avLst>
              <a:gd name="adj" fmla="val 6153"/>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Simple</a:t>
            </a:r>
          </a:p>
          <a:p>
            <a:pPr algn="l">
              <a:spcBef>
                <a:spcPts val="0"/>
              </a:spcBef>
              <a:spcAft>
                <a:spcPts val="300"/>
              </a:spcAft>
            </a:pPr>
            <a:r>
              <a:rPr sz="1400" b="0" i="0">
                <a:solidFill>
                  <a:srgbClr val="FFFFFF"/>
                </a:solidFill>
                <a:latin typeface="Calibri"/>
              </a:rPr>
              <a:t>One command to download and run a model.</a:t>
            </a:r>
          </a:p>
        </p:txBody>
      </p:sp>
      <p:sp>
        <p:nvSpPr>
          <p:cNvPr id="17" name="Rounded Rectangle 16"/>
          <p:cNvSpPr/>
          <p:nvPr/>
        </p:nvSpPr>
        <p:spPr>
          <a:xfrm>
            <a:off x="548640" y="5715000"/>
            <a:ext cx="11091672" cy="594360"/>
          </a:xfrm>
          <a:prstGeom prst="roundRect">
            <a:avLst>
              <a:gd name="adj" fmla="val 18461"/>
            </a:avLst>
          </a:prstGeom>
          <a:solidFill>
            <a:srgbClr val="3B2D74"/>
          </a:solidFill>
          <a:ln>
            <a:noFill/>
          </a:ln>
        </p:spPr>
        <p:txBody>
          <a:bodyPr wrap="square" lIns="164592" tIns="109728" rIns="164592" bIns="109728" rtlCol="0" anchor="ctr"/>
          <a:lstStyle/>
          <a:p>
            <a:pPr algn="l">
              <a:spcBef>
                <a:spcPts val="0"/>
              </a:spcBef>
              <a:spcAft>
                <a:spcPts val="0"/>
              </a:spcAft>
            </a:pPr>
            <a:r>
              <a:rPr sz="1600" b="1" i="0">
                <a:solidFill>
                  <a:srgbClr val="DFBE27"/>
                </a:solidFill>
                <a:latin typeface="Calibri"/>
              </a:rPr>
              <a:t>Remember: </a:t>
            </a:r>
            <a:r>
              <a:rPr sz="1600" b="0" i="0">
                <a:solidFill>
                  <a:srgbClr val="FFFFFF"/>
                </a:solidFill>
                <a:latin typeface="Calibri"/>
              </a:rPr>
              <a:t>Ollama is the runtime; the model (Llama, Mistral, Gemma…) is the brain.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Ollama Command Cheat Sheet</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234440"/>
            <a:ext cx="6858000" cy="3611880"/>
          </a:xfrm>
          <a:prstGeom prst="roundRect">
            <a:avLst>
              <a:gd name="adj" fmla="val 2531"/>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6" name="TextBox 5"/>
          <p:cNvSpPr txBox="1"/>
          <p:nvPr/>
        </p:nvSpPr>
        <p:spPr>
          <a:xfrm>
            <a:off x="731520" y="1325880"/>
            <a:ext cx="6492240"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Everyday commands</a:t>
            </a:r>
          </a:p>
        </p:txBody>
      </p:sp>
      <p:sp>
        <p:nvSpPr>
          <p:cNvPr id="7" name="TextBox 6"/>
          <p:cNvSpPr txBox="1"/>
          <p:nvPr/>
        </p:nvSpPr>
        <p:spPr>
          <a:xfrm>
            <a:off x="731520" y="1709928"/>
            <a:ext cx="6492240" cy="3044952"/>
          </a:xfrm>
          <a:prstGeom prst="rect">
            <a:avLst/>
          </a:prstGeom>
          <a:noFill/>
        </p:spPr>
        <p:txBody>
          <a:bodyPr wrap="square" lIns="45720" tIns="27432" rIns="45720" bIns="27432" anchor="t">
            <a:spAutoFit/>
          </a:bodyPr>
          <a:lstStyle/>
          <a:p>
            <a:pPr algn="l">
              <a:lnSpc>
                <a:spcPct val="130000"/>
              </a:lnSpc>
              <a:spcBef>
                <a:spcPts val="0"/>
              </a:spcBef>
              <a:spcAft>
                <a:spcPts val="0"/>
              </a:spcAft>
            </a:pPr>
            <a:r>
              <a:rPr sz="1400" b="0" i="0">
                <a:solidFill>
                  <a:srgbClr val="EDEAF7"/>
                </a:solidFill>
                <a:latin typeface="Courier New"/>
              </a:rPr>
              <a:t>ollama pull llama3.2       </a:t>
            </a:r>
            <a:r>
              <a:rPr sz="1400" b="0" i="1">
                <a:solidFill>
                  <a:srgbClr val="9E92CF"/>
                </a:solidFill>
                <a:latin typeface="Courier New"/>
              </a:rPr>
              <a:t># download a model</a:t>
            </a:r>
          </a:p>
          <a:p>
            <a:pPr algn="l">
              <a:lnSpc>
                <a:spcPct val="130000"/>
              </a:lnSpc>
              <a:spcBef>
                <a:spcPts val="0"/>
              </a:spcBef>
              <a:spcAft>
                <a:spcPts val="0"/>
              </a:spcAft>
            </a:pPr>
            <a:r>
              <a:rPr sz="1400" b="0" i="0">
                <a:solidFill>
                  <a:srgbClr val="EDEAF7"/>
                </a:solidFill>
                <a:latin typeface="Courier New"/>
              </a:rPr>
              <a:t>ollama run llama3.2        </a:t>
            </a:r>
            <a:r>
              <a:rPr sz="1400" b="0" i="1">
                <a:solidFill>
                  <a:srgbClr val="9E92CF"/>
                </a:solidFill>
                <a:latin typeface="Courier New"/>
              </a:rPr>
              <a:t># chat in the terminal</a:t>
            </a:r>
          </a:p>
          <a:p>
            <a:pPr algn="l">
              <a:lnSpc>
                <a:spcPct val="130000"/>
              </a:lnSpc>
              <a:spcBef>
                <a:spcPts val="0"/>
              </a:spcBef>
              <a:spcAft>
                <a:spcPts val="0"/>
              </a:spcAft>
            </a:pPr>
            <a:r>
              <a:rPr sz="1400" b="0" i="0">
                <a:solidFill>
                  <a:srgbClr val="EDEAF7"/>
                </a:solidFill>
                <a:latin typeface="Courier New"/>
              </a:rPr>
              <a:t>ollama list                </a:t>
            </a:r>
            <a:r>
              <a:rPr sz="1400" b="0" i="1">
                <a:solidFill>
                  <a:srgbClr val="9E92CF"/>
                </a:solidFill>
                <a:latin typeface="Courier New"/>
              </a:rPr>
              <a:t># models on this machine</a:t>
            </a:r>
          </a:p>
          <a:p>
            <a:pPr algn="l">
              <a:lnSpc>
                <a:spcPct val="130000"/>
              </a:lnSpc>
              <a:spcBef>
                <a:spcPts val="0"/>
              </a:spcBef>
              <a:spcAft>
                <a:spcPts val="0"/>
              </a:spcAft>
            </a:pPr>
            <a:r>
              <a:rPr sz="1400" b="0" i="0">
                <a:solidFill>
                  <a:srgbClr val="EDEAF7"/>
                </a:solidFill>
                <a:latin typeface="Courier New"/>
              </a:rPr>
              <a:t>ollama ps                  </a:t>
            </a:r>
            <a:r>
              <a:rPr sz="1400" b="0" i="1">
                <a:solidFill>
                  <a:srgbClr val="9E92CF"/>
                </a:solidFill>
                <a:latin typeface="Courier New"/>
              </a:rPr>
              <a:t># models loaded in memory</a:t>
            </a:r>
          </a:p>
          <a:p>
            <a:pPr algn="l">
              <a:lnSpc>
                <a:spcPct val="130000"/>
              </a:lnSpc>
              <a:spcBef>
                <a:spcPts val="0"/>
              </a:spcBef>
              <a:spcAft>
                <a:spcPts val="0"/>
              </a:spcAft>
            </a:pPr>
            <a:r>
              <a:rPr sz="1400" b="0" i="0">
                <a:solidFill>
                  <a:srgbClr val="EDEAF7"/>
                </a:solidFill>
                <a:latin typeface="Courier New"/>
              </a:rPr>
              <a:t>ollama show llama3.2       </a:t>
            </a:r>
            <a:r>
              <a:rPr sz="1400" b="0" i="1">
                <a:solidFill>
                  <a:srgbClr val="9E92CF"/>
                </a:solidFill>
                <a:latin typeface="Courier New"/>
              </a:rPr>
              <a:t># model details</a:t>
            </a:r>
          </a:p>
          <a:p>
            <a:pPr algn="l">
              <a:lnSpc>
                <a:spcPct val="130000"/>
              </a:lnSpc>
              <a:spcBef>
                <a:spcPts val="0"/>
              </a:spcBef>
              <a:spcAft>
                <a:spcPts val="0"/>
              </a:spcAft>
            </a:pPr>
            <a:r>
              <a:rPr sz="1400" b="0" i="0">
                <a:solidFill>
                  <a:srgbClr val="EDEAF7"/>
                </a:solidFill>
                <a:latin typeface="Courier New"/>
              </a:rPr>
              <a:t>ollama rm llama3.2         </a:t>
            </a:r>
            <a:r>
              <a:rPr sz="1400" b="0" i="1">
                <a:solidFill>
                  <a:srgbClr val="9E92CF"/>
                </a:solidFill>
                <a:latin typeface="Courier New"/>
              </a:rPr>
              <a:t># delete a model</a:t>
            </a:r>
          </a:p>
          <a:p>
            <a:pPr algn="l">
              <a:lnSpc>
                <a:spcPct val="130000"/>
              </a:lnSpc>
              <a:spcBef>
                <a:spcPts val="0"/>
              </a:spcBef>
              <a:spcAft>
                <a:spcPts val="0"/>
              </a:spcAft>
            </a:pPr>
            <a:r>
              <a:rPr sz="1400" b="0" i="0">
                <a:solidFill>
                  <a:srgbClr val="EDEAF7"/>
                </a:solidFill>
                <a:latin typeface="Courier New"/>
              </a:rPr>
              <a:t>ollama serve               </a:t>
            </a:r>
            <a:r>
              <a:rPr sz="1400" b="0" i="1">
                <a:solidFill>
                  <a:srgbClr val="9E92CF"/>
                </a:solidFill>
                <a:latin typeface="Courier New"/>
              </a:rPr>
              <a:t># start the API server</a:t>
            </a:r>
          </a:p>
          <a:p>
            <a:pPr algn="l">
              <a:lnSpc>
                <a:spcPct val="130000"/>
              </a:lnSpc>
              <a:spcBef>
                <a:spcPts val="0"/>
              </a:spcBef>
              <a:spcAft>
                <a:spcPts val="0"/>
              </a:spcAft>
            </a:pPr>
            <a:r>
              <a:rPr sz="1400" b="0" i="0">
                <a:solidFill>
                  <a:srgbClr val="EDEAF7"/>
                </a:solidFill>
                <a:latin typeface="Courier New"/>
              </a:rPr>
              <a:t>ollama create my-bot -f Modelfile</a:t>
            </a:r>
          </a:p>
        </p:txBody>
      </p:sp>
      <p:sp>
        <p:nvSpPr>
          <p:cNvPr id="8" name="Rounded Rectangle 7"/>
          <p:cNvSpPr/>
          <p:nvPr/>
        </p:nvSpPr>
        <p:spPr>
          <a:xfrm>
            <a:off x="7635240" y="1234440"/>
            <a:ext cx="4005072" cy="2651760"/>
          </a:xfrm>
          <a:prstGeom prst="roundRect">
            <a:avLst>
              <a:gd name="adj" fmla="val 3448"/>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9" name="TextBox 8"/>
          <p:cNvSpPr txBox="1"/>
          <p:nvPr/>
        </p:nvSpPr>
        <p:spPr>
          <a:xfrm>
            <a:off x="7818119" y="1325880"/>
            <a:ext cx="3639312"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Modelfile (custom model)</a:t>
            </a:r>
          </a:p>
        </p:txBody>
      </p:sp>
      <p:sp>
        <p:nvSpPr>
          <p:cNvPr id="10" name="TextBox 9"/>
          <p:cNvSpPr txBox="1"/>
          <p:nvPr/>
        </p:nvSpPr>
        <p:spPr>
          <a:xfrm>
            <a:off x="7818119" y="1709928"/>
            <a:ext cx="3639312" cy="2084831"/>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300" b="0" i="0">
                <a:solidFill>
                  <a:srgbClr val="EDEAF7"/>
                </a:solidFill>
                <a:latin typeface="Courier New"/>
              </a:rPr>
              <a:t>FROM llama3.2</a:t>
            </a:r>
          </a:p>
          <a:p>
            <a:pPr algn="l">
              <a:lnSpc>
                <a:spcPct val="115000"/>
              </a:lnSpc>
              <a:spcBef>
                <a:spcPts val="0"/>
              </a:spcBef>
              <a:spcAft>
                <a:spcPts val="0"/>
              </a:spcAft>
            </a:pPr>
            <a:r>
              <a:rPr sz="1300" b="0" i="0">
                <a:solidFill>
                  <a:srgbClr val="EDEAF7"/>
                </a:solidFill>
                <a:latin typeface="Courier New"/>
              </a:rPr>
              <a:t>PARAMETER temperature </a:t>
            </a:r>
            <a:r>
              <a:rPr sz="1300" b="0" i="0">
                <a:solidFill>
                  <a:srgbClr val="7FD4FF"/>
                </a:solidFill>
                <a:latin typeface="Courier New"/>
              </a:rPr>
              <a:t>0.3</a:t>
            </a:r>
          </a:p>
          <a:p>
            <a:pPr algn="l">
              <a:lnSpc>
                <a:spcPct val="115000"/>
              </a:lnSpc>
              <a:spcBef>
                <a:spcPts val="0"/>
              </a:spcBef>
              <a:spcAft>
                <a:spcPts val="0"/>
              </a:spcAft>
            </a:pPr>
            <a:r>
              <a:rPr sz="1300" b="0" i="0">
                <a:solidFill>
                  <a:srgbClr val="EDEAF7"/>
                </a:solidFill>
                <a:latin typeface="Courier New"/>
              </a:rPr>
              <a:t>SYSTEM </a:t>
            </a:r>
            <a:r>
              <a:rPr sz="1300" b="0" i="0">
                <a:solidFill>
                  <a:srgbClr val="8EE6A0"/>
                </a:solidFill>
                <a:latin typeface="Courier New"/>
              </a:rPr>
              <a:t>""</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You are a concise Java tutor.</a:t>
            </a:r>
          </a:p>
          <a:p>
            <a:pPr algn="l">
              <a:lnSpc>
                <a:spcPct val="115000"/>
              </a:lnSpc>
              <a:spcBef>
                <a:spcPts val="0"/>
              </a:spcBef>
              <a:spcAft>
                <a:spcPts val="0"/>
              </a:spcAft>
            </a:pPr>
            <a:r>
              <a:rPr sz="1300" b="0" i="0">
                <a:solidFill>
                  <a:srgbClr val="8EE6A0"/>
                </a:solidFill>
                <a:latin typeface="Courier New"/>
              </a:rPr>
              <a:t>""</a:t>
            </a:r>
            <a:r>
              <a:rPr sz="1300" b="0" i="0">
                <a:solidFill>
                  <a:srgbClr val="EDEAF7"/>
                </a:solidFill>
                <a:latin typeface="Courier New"/>
              </a:rPr>
              <a:t>"</a:t>
            </a:r>
          </a:p>
        </p:txBody>
      </p:sp>
      <p:sp>
        <p:nvSpPr>
          <p:cNvPr id="11" name="Rounded Rectangle 10"/>
          <p:cNvSpPr/>
          <p:nvPr/>
        </p:nvSpPr>
        <p:spPr>
          <a:xfrm>
            <a:off x="7635240" y="4069080"/>
            <a:ext cx="4005072" cy="2194560"/>
          </a:xfrm>
          <a:prstGeom prst="roundRect">
            <a:avLst>
              <a:gd name="adj" fmla="val 5000"/>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In the chat prompt</a:t>
            </a:r>
          </a:p>
          <a:p>
            <a:pPr marL="201168" indent="-201168" algn="l">
              <a:spcBef>
                <a:spcPts val="0"/>
              </a:spcBef>
              <a:spcAft>
                <a:spcPts val="300"/>
              </a:spcAft>
              <a:buClr>
                <a:srgbClr val="DFBE27"/>
              </a:buClr>
              <a:buFont typeface="Arial"/>
              <a:buChar char="•"/>
            </a:pPr>
            <a:r>
              <a:rPr sz="1400" b="0" i="0">
                <a:solidFill>
                  <a:srgbClr val="FFFFFF"/>
                </a:solidFill>
                <a:latin typeface="Calibri"/>
              </a:rPr>
              <a:t>Type /bye to exit.</a:t>
            </a:r>
          </a:p>
          <a:p>
            <a:pPr marL="201168" indent="-201168" algn="l">
              <a:spcBef>
                <a:spcPts val="0"/>
              </a:spcBef>
              <a:spcAft>
                <a:spcPts val="300"/>
              </a:spcAft>
              <a:buClr>
                <a:srgbClr val="DFBE27"/>
              </a:buClr>
              <a:buFont typeface="Arial"/>
              <a:buChar char="•"/>
            </a:pPr>
            <a:r>
              <a:rPr sz="1400" b="0" i="0">
                <a:solidFill>
                  <a:srgbClr val="FFFFFF"/>
                </a:solidFill>
                <a:latin typeface="Calibri"/>
              </a:rPr>
              <a:t>Type /? to list commands.</a:t>
            </a:r>
          </a:p>
          <a:p>
            <a:pPr marL="201168" indent="-201168" algn="l">
              <a:spcBef>
                <a:spcPts val="0"/>
              </a:spcBef>
              <a:spcAft>
                <a:spcPts val="300"/>
              </a:spcAft>
              <a:buClr>
                <a:srgbClr val="DFBE27"/>
              </a:buClr>
              <a:buFont typeface="Arial"/>
              <a:buChar char="•"/>
            </a:pPr>
            <a:r>
              <a:rPr sz="1400" b="0" i="0">
                <a:solidFill>
                  <a:srgbClr val="FFFFFF"/>
                </a:solidFill>
                <a:latin typeface="Calibri"/>
              </a:rPr>
              <a:t>The desktop app starts the server for you; use ollama serve if it is not running.</a:t>
            </a:r>
          </a:p>
        </p:txBody>
      </p:sp>
      <p:sp>
        <p:nvSpPr>
          <p:cNvPr id="12" name="Rounded Rectangle 11"/>
          <p:cNvSpPr/>
          <p:nvPr/>
        </p:nvSpPr>
        <p:spPr>
          <a:xfrm>
            <a:off x="548640" y="5029200"/>
            <a:ext cx="6858000" cy="1234440"/>
          </a:xfrm>
          <a:prstGeom prst="roundRect">
            <a:avLst>
              <a:gd name="adj" fmla="val 8888"/>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Model tags</a:t>
            </a:r>
          </a:p>
          <a:p>
            <a:pPr algn="l">
              <a:spcBef>
                <a:spcPts val="0"/>
              </a:spcBef>
              <a:spcAft>
                <a:spcPts val="300"/>
              </a:spcAft>
            </a:pPr>
            <a:r>
              <a:rPr sz="1400" b="0" i="0">
                <a:solidFill>
                  <a:srgbClr val="FFFFFF"/>
                </a:solidFill>
                <a:latin typeface="Calibri"/>
              </a:rPr>
              <a:t>name:tag picks a variant, for example llama3.2:1b (small) or llama3.2:3b. No tag means the default.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Choosing a Model: Size and Hardware</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TextBox 4"/>
          <p:cNvSpPr txBox="1"/>
          <p:nvPr/>
        </p:nvSpPr>
        <p:spPr>
          <a:xfrm>
            <a:off x="548640" y="1143000"/>
            <a:ext cx="10972800" cy="365760"/>
          </a:xfrm>
          <a:prstGeom prst="rect">
            <a:avLst/>
          </a:prstGeom>
          <a:noFill/>
        </p:spPr>
        <p:txBody>
          <a:bodyPr wrap="square" lIns="45720" tIns="27432" rIns="45720" bIns="27432" anchor="t">
            <a:spAutoFit/>
          </a:bodyPr>
          <a:lstStyle/>
          <a:p>
            <a:pPr algn="l">
              <a:spcBef>
                <a:spcPts val="0"/>
              </a:spcBef>
              <a:spcAft>
                <a:spcPts val="0"/>
              </a:spcAft>
            </a:pPr>
            <a:r>
              <a:rPr sz="1800" b="1" i="0">
                <a:solidFill>
                  <a:srgbClr val="DFBE27"/>
                </a:solidFill>
                <a:latin typeface="Calibri"/>
              </a:rPr>
              <a:t>Parameters (B = billions) and a rough hardware guide</a:t>
            </a:r>
          </a:p>
        </p:txBody>
      </p:sp>
      <p:sp>
        <p:nvSpPr>
          <p:cNvPr id="6" name="Rounded Rectangle 5"/>
          <p:cNvSpPr/>
          <p:nvPr/>
        </p:nvSpPr>
        <p:spPr>
          <a:xfrm>
            <a:off x="548640" y="3383280"/>
            <a:ext cx="2560320" cy="914400"/>
          </a:xfrm>
          <a:prstGeom prst="roundRect">
            <a:avLst>
              <a:gd name="adj" fmla="val 10000"/>
            </a:avLst>
          </a:prstGeom>
          <a:solidFill>
            <a:srgbClr val="2D2057"/>
          </a:solidFill>
          <a:ln>
            <a:noFill/>
          </a:ln>
        </p:spPr>
        <p:txBody>
          <a:bodyPr wrap="square" lIns="164592" tIns="109728" rIns="164592" bIns="109728" rtlCol="0" anchor="ctr"/>
          <a:lstStyle/>
          <a:p>
            <a:pPr algn="l">
              <a:spcBef>
                <a:spcPts val="0"/>
              </a:spcBef>
              <a:spcAft>
                <a:spcPts val="0"/>
              </a:spcAft>
            </a:pPr>
            <a:r>
              <a:rPr sz="2400" b="1" i="0">
                <a:solidFill>
                  <a:srgbClr val="DFBE27"/>
                </a:solidFill>
                <a:latin typeface="Calibri"/>
              </a:rPr>
              <a:t>1B to 3B</a:t>
            </a:r>
          </a:p>
          <a:p>
            <a:pPr algn="l">
              <a:spcBef>
                <a:spcPts val="0"/>
              </a:spcBef>
              <a:spcAft>
                <a:spcPts val="0"/>
              </a:spcAft>
            </a:pPr>
            <a:r>
              <a:rPr sz="1400" b="0" i="0">
                <a:solidFill>
                  <a:srgbClr val="FFFFFF"/>
                </a:solidFill>
                <a:latin typeface="Calibri"/>
              </a:rPr>
              <a:t>4 to 8 GB RAM</a:t>
            </a:r>
          </a:p>
        </p:txBody>
      </p:sp>
      <p:sp>
        <p:nvSpPr>
          <p:cNvPr id="7" name="TextBox 6"/>
          <p:cNvSpPr txBox="1"/>
          <p:nvPr/>
        </p:nvSpPr>
        <p:spPr>
          <a:xfrm>
            <a:off x="548640" y="4389120"/>
            <a:ext cx="2560320" cy="91440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Quick Q&amp;A, demos, small devices</a:t>
            </a:r>
          </a:p>
        </p:txBody>
      </p:sp>
      <p:sp>
        <p:nvSpPr>
          <p:cNvPr id="8" name="Rounded Rectangle 7"/>
          <p:cNvSpPr/>
          <p:nvPr/>
        </p:nvSpPr>
        <p:spPr>
          <a:xfrm>
            <a:off x="3392424" y="2834640"/>
            <a:ext cx="2560320" cy="1463040"/>
          </a:xfrm>
          <a:prstGeom prst="roundRect">
            <a:avLst>
              <a:gd name="adj" fmla="val 6250"/>
            </a:avLst>
          </a:prstGeom>
          <a:solidFill>
            <a:srgbClr val="3B2D74"/>
          </a:solidFill>
          <a:ln>
            <a:noFill/>
          </a:ln>
        </p:spPr>
        <p:txBody>
          <a:bodyPr wrap="square" lIns="164592" tIns="109728" rIns="164592" bIns="109728" rtlCol="0" anchor="ctr"/>
          <a:lstStyle/>
          <a:p>
            <a:pPr algn="l">
              <a:spcBef>
                <a:spcPts val="0"/>
              </a:spcBef>
              <a:spcAft>
                <a:spcPts val="0"/>
              </a:spcAft>
            </a:pPr>
            <a:r>
              <a:rPr sz="2400" b="1" i="0">
                <a:solidFill>
                  <a:srgbClr val="DFBE27"/>
                </a:solidFill>
                <a:latin typeface="Calibri"/>
              </a:rPr>
              <a:t>7B to 8B</a:t>
            </a:r>
          </a:p>
          <a:p>
            <a:pPr algn="l">
              <a:spcBef>
                <a:spcPts val="0"/>
              </a:spcBef>
              <a:spcAft>
                <a:spcPts val="0"/>
              </a:spcAft>
            </a:pPr>
            <a:r>
              <a:rPr sz="1400" b="0" i="0">
                <a:solidFill>
                  <a:srgbClr val="FFFFFF"/>
                </a:solidFill>
                <a:latin typeface="Calibri"/>
              </a:rPr>
              <a:t>8 to 16 GB RAM</a:t>
            </a:r>
          </a:p>
        </p:txBody>
      </p:sp>
      <p:sp>
        <p:nvSpPr>
          <p:cNvPr id="9" name="TextBox 8"/>
          <p:cNvSpPr txBox="1"/>
          <p:nvPr/>
        </p:nvSpPr>
        <p:spPr>
          <a:xfrm>
            <a:off x="3392424" y="4389120"/>
            <a:ext cx="2560320" cy="91440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Chat, summaries, coding help</a:t>
            </a:r>
          </a:p>
        </p:txBody>
      </p:sp>
      <p:sp>
        <p:nvSpPr>
          <p:cNvPr id="10" name="Rounded Rectangle 9"/>
          <p:cNvSpPr/>
          <p:nvPr/>
        </p:nvSpPr>
        <p:spPr>
          <a:xfrm>
            <a:off x="6236207" y="2286000"/>
            <a:ext cx="2560320" cy="2011680"/>
          </a:xfrm>
          <a:prstGeom prst="roundRect">
            <a:avLst>
              <a:gd name="adj" fmla="val 4545"/>
            </a:avLst>
          </a:prstGeom>
          <a:solidFill>
            <a:srgbClr val="4A3A8F"/>
          </a:solidFill>
          <a:ln>
            <a:noFill/>
          </a:ln>
        </p:spPr>
        <p:txBody>
          <a:bodyPr wrap="square" lIns="164592" tIns="109728" rIns="164592" bIns="109728" rtlCol="0" anchor="ctr"/>
          <a:lstStyle/>
          <a:p>
            <a:pPr algn="l">
              <a:spcBef>
                <a:spcPts val="0"/>
              </a:spcBef>
              <a:spcAft>
                <a:spcPts val="0"/>
              </a:spcAft>
            </a:pPr>
            <a:r>
              <a:rPr sz="2400" b="1" i="0">
                <a:solidFill>
                  <a:srgbClr val="DFBE27"/>
                </a:solidFill>
                <a:latin typeface="Calibri"/>
              </a:rPr>
              <a:t>13B to 34B</a:t>
            </a:r>
          </a:p>
          <a:p>
            <a:pPr algn="l">
              <a:spcBef>
                <a:spcPts val="0"/>
              </a:spcBef>
              <a:spcAft>
                <a:spcPts val="0"/>
              </a:spcAft>
            </a:pPr>
            <a:r>
              <a:rPr sz="1400" b="0" i="0">
                <a:solidFill>
                  <a:srgbClr val="FFFFFF"/>
                </a:solidFill>
                <a:latin typeface="Calibri"/>
              </a:rPr>
              <a:t>16 to 32 GB RAM or GPU</a:t>
            </a:r>
          </a:p>
        </p:txBody>
      </p:sp>
      <p:sp>
        <p:nvSpPr>
          <p:cNvPr id="11" name="TextBox 10"/>
          <p:cNvSpPr txBox="1"/>
          <p:nvPr/>
        </p:nvSpPr>
        <p:spPr>
          <a:xfrm>
            <a:off x="6236207" y="4389120"/>
            <a:ext cx="2560320" cy="91440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Better reasoning and longer answers</a:t>
            </a:r>
          </a:p>
        </p:txBody>
      </p:sp>
      <p:sp>
        <p:nvSpPr>
          <p:cNvPr id="12" name="Rounded Rectangle 11"/>
          <p:cNvSpPr/>
          <p:nvPr/>
        </p:nvSpPr>
        <p:spPr>
          <a:xfrm>
            <a:off x="9079992" y="1737360"/>
            <a:ext cx="2560320" cy="2560320"/>
          </a:xfrm>
          <a:prstGeom prst="roundRect">
            <a:avLst>
              <a:gd name="adj" fmla="val 3571"/>
            </a:avLst>
          </a:prstGeom>
          <a:solidFill>
            <a:srgbClr val="5C4AA8"/>
          </a:solidFill>
          <a:ln>
            <a:noFill/>
          </a:ln>
        </p:spPr>
        <p:txBody>
          <a:bodyPr wrap="square" lIns="164592" tIns="109728" rIns="164592" bIns="109728" rtlCol="0" anchor="ctr"/>
          <a:lstStyle/>
          <a:p>
            <a:pPr algn="l">
              <a:spcBef>
                <a:spcPts val="0"/>
              </a:spcBef>
              <a:spcAft>
                <a:spcPts val="0"/>
              </a:spcAft>
            </a:pPr>
            <a:r>
              <a:rPr sz="2400" b="1" i="0">
                <a:solidFill>
                  <a:srgbClr val="DFBE27"/>
                </a:solidFill>
                <a:latin typeface="Calibri"/>
              </a:rPr>
              <a:t>70B and up</a:t>
            </a:r>
          </a:p>
          <a:p>
            <a:pPr algn="l">
              <a:spcBef>
                <a:spcPts val="0"/>
              </a:spcBef>
              <a:spcAft>
                <a:spcPts val="0"/>
              </a:spcAft>
            </a:pPr>
            <a:r>
              <a:rPr sz="1400" b="0" i="0">
                <a:solidFill>
                  <a:srgbClr val="FFFFFF"/>
                </a:solidFill>
                <a:latin typeface="Calibri"/>
              </a:rPr>
              <a:t>64 GB+ RAM or a GPU server</a:t>
            </a:r>
          </a:p>
        </p:txBody>
      </p:sp>
      <p:sp>
        <p:nvSpPr>
          <p:cNvPr id="13" name="TextBox 12"/>
          <p:cNvSpPr txBox="1"/>
          <p:nvPr/>
        </p:nvSpPr>
        <p:spPr>
          <a:xfrm>
            <a:off x="9079992" y="4389120"/>
            <a:ext cx="2560320" cy="91440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Near-frontier quality for teams</a:t>
            </a:r>
          </a:p>
        </p:txBody>
      </p:sp>
      <p:sp>
        <p:nvSpPr>
          <p:cNvPr id="14" name="Rounded Rectangle 13"/>
          <p:cNvSpPr/>
          <p:nvPr/>
        </p:nvSpPr>
        <p:spPr>
          <a:xfrm>
            <a:off x="548640" y="5349240"/>
            <a:ext cx="11091672" cy="914400"/>
          </a:xfrm>
          <a:prstGeom prst="roundRect">
            <a:avLst>
              <a:gd name="adj" fmla="val 12000"/>
            </a:avLst>
          </a:prstGeom>
          <a:solidFill>
            <a:srgbClr val="3B2D74"/>
          </a:solidFill>
          <a:ln>
            <a:noFill/>
          </a:ln>
        </p:spPr>
        <p:txBody>
          <a:bodyPr wrap="square" lIns="164592" tIns="109728" rIns="164592" bIns="109728" rtlCol="0" anchor="ctr"/>
          <a:lstStyle/>
          <a:p>
            <a:pPr algn="l">
              <a:spcBef>
                <a:spcPts val="0"/>
              </a:spcBef>
              <a:spcAft>
                <a:spcPts val="0"/>
              </a:spcAft>
            </a:pPr>
            <a:r>
              <a:rPr sz="1600" b="1" i="0">
                <a:solidFill>
                  <a:srgbClr val="DFBE27"/>
                </a:solidFill>
                <a:latin typeface="Calibri"/>
              </a:rPr>
              <a:t>Quantization: </a:t>
            </a:r>
            <a:r>
              <a:rPr sz="1500" b="0" i="0">
                <a:solidFill>
                  <a:srgbClr val="FFFFFF"/>
                </a:solidFill>
                <a:latin typeface="Calibri"/>
              </a:rPr>
              <a:t>stores weights in fewer bits (for example 4-bit). Models become much smaller and faster with a small quality loss. Most default Ollama tags are already quantized.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Ollama REST API and OpenAI Compatibility</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234440"/>
            <a:ext cx="6126480" cy="3017520"/>
          </a:xfrm>
          <a:prstGeom prst="roundRect">
            <a:avLst>
              <a:gd name="adj" fmla="val 3030"/>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6" name="TextBox 5"/>
          <p:cNvSpPr txBox="1"/>
          <p:nvPr/>
        </p:nvSpPr>
        <p:spPr>
          <a:xfrm>
            <a:off x="731520" y="1325880"/>
            <a:ext cx="5760720"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Call Ollama directly</a:t>
            </a:r>
          </a:p>
        </p:txBody>
      </p:sp>
      <p:sp>
        <p:nvSpPr>
          <p:cNvPr id="7" name="TextBox 6"/>
          <p:cNvSpPr txBox="1"/>
          <p:nvPr/>
        </p:nvSpPr>
        <p:spPr>
          <a:xfrm>
            <a:off x="731520" y="1709928"/>
            <a:ext cx="5760720" cy="2450591"/>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300" b="0" i="0">
                <a:solidFill>
                  <a:srgbClr val="EDEAF7"/>
                </a:solidFill>
                <a:latin typeface="Courier New"/>
              </a:rPr>
              <a:t>curl http://localhost:</a:t>
            </a:r>
            <a:r>
              <a:rPr sz="1300" b="0" i="0">
                <a:solidFill>
                  <a:srgbClr val="7FD4FF"/>
                </a:solidFill>
                <a:latin typeface="Courier New"/>
              </a:rPr>
              <a:t>11434</a:t>
            </a:r>
            <a:r>
              <a:rPr sz="1300" b="0" i="0">
                <a:solidFill>
                  <a:srgbClr val="EDEAF7"/>
                </a:solidFill>
                <a:latin typeface="Courier New"/>
              </a:rPr>
              <a:t>/api/chat -d '{</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"model"</a:t>
            </a:r>
            <a:r>
              <a:rPr sz="1300" b="0" i="0">
                <a:solidFill>
                  <a:srgbClr val="EDEAF7"/>
                </a:solidFill>
                <a:latin typeface="Courier New"/>
              </a:rPr>
              <a:t>: </a:t>
            </a:r>
            <a:r>
              <a:rPr sz="1300" b="0" i="0">
                <a:solidFill>
                  <a:srgbClr val="8EE6A0"/>
                </a:solidFill>
                <a:latin typeface="Courier New"/>
              </a:rPr>
              <a:t>"llama3.2"</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"messages"</a:t>
            </a:r>
            <a:r>
              <a:rPr sz="1300" b="0" i="0">
                <a:solidFill>
                  <a:srgbClr val="EDEAF7"/>
                </a:solidFill>
                <a:latin typeface="Courier New"/>
              </a:rPr>
              <a:t>: [</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"role"</a:t>
            </a:r>
            <a:r>
              <a:rPr sz="1300" b="0" i="0">
                <a:solidFill>
                  <a:srgbClr val="EDEAF7"/>
                </a:solidFill>
                <a:latin typeface="Courier New"/>
              </a:rPr>
              <a:t>: </a:t>
            </a:r>
            <a:r>
              <a:rPr sz="1300" b="0" i="0">
                <a:solidFill>
                  <a:srgbClr val="8EE6A0"/>
                </a:solidFill>
                <a:latin typeface="Courier New"/>
              </a:rPr>
              <a:t>"user"</a:t>
            </a:r>
            <a:r>
              <a:rPr sz="1300" b="0" i="0">
                <a:solidFill>
                  <a:srgbClr val="EDEAF7"/>
                </a:solidFill>
                <a:latin typeface="Courier New"/>
              </a:rPr>
              <a:t>, </a:t>
            </a:r>
            <a:r>
              <a:rPr sz="1300" b="0" i="0">
                <a:solidFill>
                  <a:srgbClr val="8EE6A0"/>
                </a:solidFill>
                <a:latin typeface="Courier New"/>
              </a:rPr>
              <a:t>"content"</a:t>
            </a:r>
            <a:r>
              <a:rPr sz="1300" b="0" i="0">
                <a:solidFill>
                  <a:srgbClr val="EDEAF7"/>
                </a:solidFill>
                <a:latin typeface="Courier New"/>
              </a:rPr>
              <a:t>: </a:t>
            </a:r>
            <a:r>
              <a:rPr sz="1300" b="0" i="0">
                <a:solidFill>
                  <a:srgbClr val="8EE6A0"/>
                </a:solidFill>
                <a:latin typeface="Courier New"/>
              </a:rPr>
              <a:t>"Why is the sky blue?"</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"stream"</a:t>
            </a:r>
            <a:r>
              <a:rPr sz="1300" b="0" i="0">
                <a:solidFill>
                  <a:srgbClr val="EDEAF7"/>
                </a:solidFill>
                <a:latin typeface="Courier New"/>
              </a:rPr>
              <a:t>: false</a:t>
            </a:r>
          </a:p>
          <a:p>
            <a:pPr algn="l">
              <a:lnSpc>
                <a:spcPct val="115000"/>
              </a:lnSpc>
              <a:spcBef>
                <a:spcPts val="0"/>
              </a:spcBef>
              <a:spcAft>
                <a:spcPts val="0"/>
              </a:spcAft>
            </a:pPr>
            <a:r>
              <a:rPr sz="1300" b="0" i="0">
                <a:solidFill>
                  <a:srgbClr val="EDEAF7"/>
                </a:solidFill>
                <a:latin typeface="Courier New"/>
              </a:rPr>
              <a:t>}'</a:t>
            </a:r>
          </a:p>
        </p:txBody>
      </p:sp>
      <p:sp>
        <p:nvSpPr>
          <p:cNvPr id="8" name="Rounded Rectangle 7"/>
          <p:cNvSpPr/>
          <p:nvPr/>
        </p:nvSpPr>
        <p:spPr>
          <a:xfrm>
            <a:off x="548640" y="4434840"/>
            <a:ext cx="6126480" cy="1828800"/>
          </a:xfrm>
          <a:prstGeom prst="roundRect">
            <a:avLst>
              <a:gd name="adj" fmla="val 6000"/>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Good to know</a:t>
            </a:r>
          </a:p>
          <a:p>
            <a:pPr marL="201168" indent="-201168" algn="l">
              <a:spcBef>
                <a:spcPts val="0"/>
              </a:spcBef>
              <a:spcAft>
                <a:spcPts val="300"/>
              </a:spcAft>
              <a:buClr>
                <a:srgbClr val="DFBE27"/>
              </a:buClr>
              <a:buFont typeface="Arial"/>
              <a:buChar char="•"/>
            </a:pPr>
            <a:r>
              <a:rPr sz="1400" b="0" i="0">
                <a:solidFill>
                  <a:srgbClr val="FFFFFF"/>
                </a:solidFill>
                <a:latin typeface="Calibri"/>
              </a:rPr>
              <a:t>stream: false returns one JSON reply. The default is a stream of JSON lines.</a:t>
            </a:r>
          </a:p>
          <a:p>
            <a:pPr marL="201168" indent="-201168" algn="l">
              <a:spcBef>
                <a:spcPts val="0"/>
              </a:spcBef>
              <a:spcAft>
                <a:spcPts val="300"/>
              </a:spcAft>
              <a:buClr>
                <a:srgbClr val="DFBE27"/>
              </a:buClr>
              <a:buFont typeface="Arial"/>
              <a:buChar char="•"/>
            </a:pPr>
            <a:r>
              <a:rPr sz="1400" b="0" i="0">
                <a:solidFill>
                  <a:srgbClr val="FFFFFF"/>
                </a:solidFill>
                <a:latin typeface="Calibri"/>
              </a:rPr>
              <a:t>The Ollama server must be running (the desktop app starts it for you).</a:t>
            </a:r>
          </a:p>
        </p:txBody>
      </p:sp>
      <p:sp>
        <p:nvSpPr>
          <p:cNvPr id="9" name="Rounded Rectangle 8"/>
          <p:cNvSpPr/>
          <p:nvPr/>
        </p:nvSpPr>
        <p:spPr>
          <a:xfrm>
            <a:off x="6903720" y="1234440"/>
            <a:ext cx="4736592" cy="1554480"/>
          </a:xfrm>
          <a:prstGeom prst="roundRect">
            <a:avLst>
              <a:gd name="adj" fmla="val 7058"/>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Native API</a:t>
            </a:r>
          </a:p>
          <a:p>
            <a:pPr algn="l">
              <a:spcBef>
                <a:spcPts val="0"/>
              </a:spcBef>
              <a:spcAft>
                <a:spcPts val="300"/>
              </a:spcAft>
            </a:pPr>
            <a:r>
              <a:rPr sz="1400" b="0" i="0">
                <a:solidFill>
                  <a:srgbClr val="FFFFFF"/>
                </a:solidFill>
                <a:latin typeface="Calibri"/>
              </a:rPr>
              <a:t>POST /api/chat and /api/generate for text, /api/embed for embeddings, GET /api/tags to list local models.</a:t>
            </a:r>
          </a:p>
        </p:txBody>
      </p:sp>
      <p:sp>
        <p:nvSpPr>
          <p:cNvPr id="10" name="Rounded Rectangle 9"/>
          <p:cNvSpPr/>
          <p:nvPr/>
        </p:nvSpPr>
        <p:spPr>
          <a:xfrm>
            <a:off x="6903720" y="2926080"/>
            <a:ext cx="4736592" cy="1554480"/>
          </a:xfrm>
          <a:prstGeom prst="roundRect">
            <a:avLst>
              <a:gd name="adj" fmla="val 7058"/>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OpenAI-compatible API</a:t>
            </a:r>
          </a:p>
          <a:p>
            <a:pPr algn="l">
              <a:spcBef>
                <a:spcPts val="0"/>
              </a:spcBef>
              <a:spcAft>
                <a:spcPts val="300"/>
              </a:spcAft>
            </a:pPr>
            <a:r>
              <a:rPr sz="1400" b="0" i="0">
                <a:solidFill>
                  <a:srgbClr val="FFFFFF"/>
                </a:solidFill>
                <a:latin typeface="Calibri"/>
              </a:rPr>
              <a:t>Ollama also serves /v1/chat/completions, so OpenAI client libraries can talk to it with any placeholder API key.</a:t>
            </a:r>
          </a:p>
        </p:txBody>
      </p:sp>
      <p:sp>
        <p:nvSpPr>
          <p:cNvPr id="11" name="Rounded Rectangle 10"/>
          <p:cNvSpPr/>
          <p:nvPr/>
        </p:nvSpPr>
        <p:spPr>
          <a:xfrm>
            <a:off x="6903720" y="4617720"/>
            <a:ext cx="4736592" cy="1554480"/>
          </a:xfrm>
          <a:prstGeom prst="roundRect">
            <a:avLst>
              <a:gd name="adj" fmla="val 7058"/>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In Spring AI</a:t>
            </a:r>
          </a:p>
          <a:p>
            <a:pPr algn="l">
              <a:spcBef>
                <a:spcPts val="0"/>
              </a:spcBef>
              <a:spcAft>
                <a:spcPts val="300"/>
              </a:spcAft>
            </a:pPr>
            <a:r>
              <a:rPr sz="1400" b="0" i="0">
                <a:solidFill>
                  <a:srgbClr val="FFFFFF"/>
                </a:solidFill>
                <a:latin typeface="Calibri"/>
              </a:rPr>
              <a:t>Use spring-ai-starter-model-ollama, or reuse the OpenAI starter and change spring.ai.openai.base-url.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4A51B-6E66-A9A1-22DC-7467AE82B36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EFBE15A-FC7C-03AB-1263-CDD90F703B4E}"/>
              </a:ext>
            </a:extLst>
          </p:cNvPr>
          <p:cNvPicPr>
            <a:picLocks noChangeAspect="1"/>
          </p:cNvPicPr>
          <p:nvPr/>
        </p:nvPicPr>
        <p:blipFill>
          <a:blip r:embed="rId2"/>
          <a:stretch>
            <a:fillRect/>
          </a:stretch>
        </p:blipFill>
        <p:spPr>
          <a:xfrm>
            <a:off x="58047" y="0"/>
            <a:ext cx="12075906" cy="6858000"/>
          </a:xfrm>
          <a:prstGeom prst="rect">
            <a:avLst/>
          </a:prstGeom>
        </p:spPr>
      </p:pic>
    </p:spTree>
    <p:extLst>
      <p:ext uri="{BB962C8B-B14F-4D97-AF65-F5344CB8AC3E}">
        <p14:creationId xmlns:p14="http://schemas.microsoft.com/office/powerpoint/2010/main" val="519698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8E8FF-1D77-011C-E767-160A21CBCB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0AE4CCE-DD94-8791-6F96-7CD1AE9D965D}"/>
              </a:ext>
            </a:extLst>
          </p:cNvPr>
          <p:cNvPicPr>
            <a:picLocks noChangeAspect="1"/>
          </p:cNvPicPr>
          <p:nvPr/>
        </p:nvPicPr>
        <p:blipFill>
          <a:blip r:embed="rId2"/>
          <a:stretch>
            <a:fillRect/>
          </a:stretch>
        </p:blipFill>
        <p:spPr>
          <a:xfrm>
            <a:off x="624573" y="0"/>
            <a:ext cx="10942853" cy="6858000"/>
          </a:xfrm>
          <a:prstGeom prst="rect">
            <a:avLst/>
          </a:prstGeom>
        </p:spPr>
      </p:pic>
    </p:spTree>
    <p:extLst>
      <p:ext uri="{BB962C8B-B14F-4D97-AF65-F5344CB8AC3E}">
        <p14:creationId xmlns:p14="http://schemas.microsoft.com/office/powerpoint/2010/main" val="2694916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2F0CE-6D01-7BA7-D70B-F3DF5C89EBF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DD42873-4F95-3E47-24B2-2A79262CBFEE}"/>
              </a:ext>
            </a:extLst>
          </p:cNvPr>
          <p:cNvPicPr>
            <a:picLocks noChangeAspect="1"/>
          </p:cNvPicPr>
          <p:nvPr/>
        </p:nvPicPr>
        <p:blipFill>
          <a:blip r:embed="rId2"/>
          <a:stretch>
            <a:fillRect/>
          </a:stretch>
        </p:blipFill>
        <p:spPr>
          <a:xfrm>
            <a:off x="449349" y="0"/>
            <a:ext cx="11293302" cy="6858000"/>
          </a:xfrm>
          <a:prstGeom prst="rect">
            <a:avLst/>
          </a:prstGeom>
        </p:spPr>
      </p:pic>
    </p:spTree>
    <p:extLst>
      <p:ext uri="{BB962C8B-B14F-4D97-AF65-F5344CB8AC3E}">
        <p14:creationId xmlns:p14="http://schemas.microsoft.com/office/powerpoint/2010/main" val="8126892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23734-D161-A19F-B066-07EF24049B1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56DC4E4-AD6E-E049-E12D-65F443118778}"/>
              </a:ext>
            </a:extLst>
          </p:cNvPr>
          <p:cNvPicPr>
            <a:picLocks noChangeAspect="1"/>
          </p:cNvPicPr>
          <p:nvPr/>
        </p:nvPicPr>
        <p:blipFill>
          <a:blip r:embed="rId2"/>
          <a:stretch>
            <a:fillRect/>
          </a:stretch>
        </p:blipFill>
        <p:spPr>
          <a:xfrm>
            <a:off x="0" y="74133"/>
            <a:ext cx="12192000" cy="6709734"/>
          </a:xfrm>
          <a:prstGeom prst="rect">
            <a:avLst/>
          </a:prstGeom>
        </p:spPr>
      </p:pic>
    </p:spTree>
    <p:extLst>
      <p:ext uri="{BB962C8B-B14F-4D97-AF65-F5344CB8AC3E}">
        <p14:creationId xmlns:p14="http://schemas.microsoft.com/office/powerpoint/2010/main" val="1781285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F4387-C5C6-9062-FEAF-9345EC92C41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E305DCA-D02A-C780-1BED-44AAF692A88D}"/>
              </a:ext>
            </a:extLst>
          </p:cNvPr>
          <p:cNvPicPr>
            <a:picLocks noChangeAspect="1"/>
          </p:cNvPicPr>
          <p:nvPr/>
        </p:nvPicPr>
        <p:blipFill>
          <a:blip r:embed="rId2"/>
          <a:stretch>
            <a:fillRect/>
          </a:stretch>
        </p:blipFill>
        <p:spPr>
          <a:xfrm>
            <a:off x="660834" y="0"/>
            <a:ext cx="10870331" cy="6858000"/>
          </a:xfrm>
          <a:prstGeom prst="rect">
            <a:avLst/>
          </a:prstGeom>
        </p:spPr>
      </p:pic>
    </p:spTree>
    <p:extLst>
      <p:ext uri="{BB962C8B-B14F-4D97-AF65-F5344CB8AC3E}">
        <p14:creationId xmlns:p14="http://schemas.microsoft.com/office/powerpoint/2010/main" val="1152034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9E423-048D-3803-3C67-4336186157F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30DD745-78C9-8C6F-8747-C8F3F6851379}"/>
              </a:ext>
            </a:extLst>
          </p:cNvPr>
          <p:cNvPicPr>
            <a:picLocks noChangeAspect="1"/>
          </p:cNvPicPr>
          <p:nvPr/>
        </p:nvPicPr>
        <p:blipFill>
          <a:blip r:embed="rId2"/>
          <a:stretch>
            <a:fillRect/>
          </a:stretch>
        </p:blipFill>
        <p:spPr>
          <a:xfrm>
            <a:off x="363035" y="0"/>
            <a:ext cx="11465930" cy="6858000"/>
          </a:xfrm>
          <a:prstGeom prst="rect">
            <a:avLst/>
          </a:prstGeom>
        </p:spPr>
      </p:pic>
    </p:spTree>
    <p:extLst>
      <p:ext uri="{BB962C8B-B14F-4D97-AF65-F5344CB8AC3E}">
        <p14:creationId xmlns:p14="http://schemas.microsoft.com/office/powerpoint/2010/main" val="3922048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6E65D-C3A4-6062-1528-B552F5DC666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BB3D98B-9C5A-3375-D588-C95220C26FAC}"/>
              </a:ext>
            </a:extLst>
          </p:cNvPr>
          <p:cNvPicPr>
            <a:picLocks noChangeAspect="1"/>
          </p:cNvPicPr>
          <p:nvPr/>
        </p:nvPicPr>
        <p:blipFill>
          <a:blip r:embed="rId2"/>
          <a:stretch>
            <a:fillRect/>
          </a:stretch>
        </p:blipFill>
        <p:spPr>
          <a:xfrm>
            <a:off x="609027" y="0"/>
            <a:ext cx="10973945" cy="6858000"/>
          </a:xfrm>
          <a:prstGeom prst="rect">
            <a:avLst/>
          </a:prstGeom>
        </p:spPr>
      </p:pic>
    </p:spTree>
    <p:extLst>
      <p:ext uri="{BB962C8B-B14F-4D97-AF65-F5344CB8AC3E}">
        <p14:creationId xmlns:p14="http://schemas.microsoft.com/office/powerpoint/2010/main" val="33558102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A96D-E01B-2201-012C-21D009AE7E5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A2BA873-24F4-5D61-34C4-5078EE26E442}"/>
              </a:ext>
            </a:extLst>
          </p:cNvPr>
          <p:cNvPicPr>
            <a:picLocks noChangeAspect="1"/>
          </p:cNvPicPr>
          <p:nvPr/>
        </p:nvPicPr>
        <p:blipFill>
          <a:blip r:embed="rId2"/>
          <a:stretch>
            <a:fillRect/>
          </a:stretch>
        </p:blipFill>
        <p:spPr>
          <a:xfrm>
            <a:off x="563957" y="0"/>
            <a:ext cx="11064086" cy="6858000"/>
          </a:xfrm>
          <a:prstGeom prst="rect">
            <a:avLst/>
          </a:prstGeom>
        </p:spPr>
      </p:pic>
    </p:spTree>
    <p:extLst>
      <p:ext uri="{BB962C8B-B14F-4D97-AF65-F5344CB8AC3E}">
        <p14:creationId xmlns:p14="http://schemas.microsoft.com/office/powerpoint/2010/main" val="3447496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74791-D8B7-2B16-39D2-92C0DAD22F4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591BC5B-461C-682A-C3FC-AB1075D333B4}"/>
              </a:ext>
            </a:extLst>
          </p:cNvPr>
          <p:cNvPicPr>
            <a:picLocks noChangeAspect="1"/>
          </p:cNvPicPr>
          <p:nvPr/>
        </p:nvPicPr>
        <p:blipFill>
          <a:blip r:embed="rId2"/>
          <a:stretch>
            <a:fillRect/>
          </a:stretch>
        </p:blipFill>
        <p:spPr>
          <a:xfrm>
            <a:off x="0" y="86853"/>
            <a:ext cx="12192000" cy="6684294"/>
          </a:xfrm>
          <a:prstGeom prst="rect">
            <a:avLst/>
          </a:prstGeom>
        </p:spPr>
      </p:pic>
    </p:spTree>
    <p:extLst>
      <p:ext uri="{BB962C8B-B14F-4D97-AF65-F5344CB8AC3E}">
        <p14:creationId xmlns:p14="http://schemas.microsoft.com/office/powerpoint/2010/main" val="2186661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CC1FE-8347-C899-E043-94CD74E55F3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9272371-79E3-3529-BEBA-45D1EBE0FED5}"/>
              </a:ext>
            </a:extLst>
          </p:cNvPr>
          <p:cNvPicPr>
            <a:picLocks noChangeAspect="1"/>
          </p:cNvPicPr>
          <p:nvPr/>
        </p:nvPicPr>
        <p:blipFill>
          <a:blip r:embed="rId2"/>
          <a:stretch>
            <a:fillRect/>
          </a:stretch>
        </p:blipFill>
        <p:spPr>
          <a:xfrm>
            <a:off x="92901" y="0"/>
            <a:ext cx="12006197" cy="6858000"/>
          </a:xfrm>
          <a:prstGeom prst="rect">
            <a:avLst/>
          </a:prstGeom>
        </p:spPr>
      </p:pic>
    </p:spTree>
    <p:extLst>
      <p:ext uri="{BB962C8B-B14F-4D97-AF65-F5344CB8AC3E}">
        <p14:creationId xmlns:p14="http://schemas.microsoft.com/office/powerpoint/2010/main" val="15321910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10327-6BCA-2EFF-2C15-48AD6CF1578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AADBDC9-9E07-DC4C-10BC-343CAA9FA17E}"/>
              </a:ext>
            </a:extLst>
          </p:cNvPr>
          <p:cNvPicPr>
            <a:picLocks noChangeAspect="1"/>
          </p:cNvPicPr>
          <p:nvPr/>
        </p:nvPicPr>
        <p:blipFill>
          <a:blip r:embed="rId2"/>
          <a:stretch>
            <a:fillRect/>
          </a:stretch>
        </p:blipFill>
        <p:spPr>
          <a:xfrm>
            <a:off x="0" y="19204"/>
            <a:ext cx="12192000" cy="6819591"/>
          </a:xfrm>
          <a:prstGeom prst="rect">
            <a:avLst/>
          </a:prstGeom>
        </p:spPr>
      </p:pic>
    </p:spTree>
    <p:extLst>
      <p:ext uri="{BB962C8B-B14F-4D97-AF65-F5344CB8AC3E}">
        <p14:creationId xmlns:p14="http://schemas.microsoft.com/office/powerpoint/2010/main" val="24615935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C0DE3-40F1-73FE-1FF1-91C8C9E441F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97BA145-9991-7694-3007-2EB41449A009}"/>
              </a:ext>
            </a:extLst>
          </p:cNvPr>
          <p:cNvPicPr>
            <a:picLocks noChangeAspect="1"/>
          </p:cNvPicPr>
          <p:nvPr/>
        </p:nvPicPr>
        <p:blipFill>
          <a:blip r:embed="rId2"/>
          <a:stretch>
            <a:fillRect/>
          </a:stretch>
        </p:blipFill>
        <p:spPr>
          <a:xfrm>
            <a:off x="6037" y="180808"/>
            <a:ext cx="12179926" cy="6496384"/>
          </a:xfrm>
          <a:prstGeom prst="rect">
            <a:avLst/>
          </a:prstGeom>
        </p:spPr>
      </p:pic>
    </p:spTree>
    <p:extLst>
      <p:ext uri="{BB962C8B-B14F-4D97-AF65-F5344CB8AC3E}">
        <p14:creationId xmlns:p14="http://schemas.microsoft.com/office/powerpoint/2010/main" val="7611129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76CB6-7CC2-C137-EF7F-A27FE4465E2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24A34BF-25FF-29FD-42C3-2E742D503514}"/>
              </a:ext>
            </a:extLst>
          </p:cNvPr>
          <p:cNvPicPr>
            <a:picLocks noChangeAspect="1"/>
          </p:cNvPicPr>
          <p:nvPr/>
        </p:nvPicPr>
        <p:blipFill>
          <a:blip r:embed="rId2"/>
          <a:stretch>
            <a:fillRect/>
          </a:stretch>
        </p:blipFill>
        <p:spPr>
          <a:xfrm>
            <a:off x="44139" y="196684"/>
            <a:ext cx="12103722" cy="6464632"/>
          </a:xfrm>
          <a:prstGeom prst="rect">
            <a:avLst/>
          </a:prstGeom>
        </p:spPr>
      </p:pic>
    </p:spTree>
    <p:extLst>
      <p:ext uri="{BB962C8B-B14F-4D97-AF65-F5344CB8AC3E}">
        <p14:creationId xmlns:p14="http://schemas.microsoft.com/office/powerpoint/2010/main" val="41241519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7BD41-0172-5DD9-C047-4BB856A7237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F6CE669-B09A-9E09-E3F8-E013C84B7D59}"/>
              </a:ext>
            </a:extLst>
          </p:cNvPr>
          <p:cNvPicPr>
            <a:picLocks noChangeAspect="1"/>
          </p:cNvPicPr>
          <p:nvPr/>
        </p:nvPicPr>
        <p:blipFill>
          <a:blip r:embed="rId2"/>
          <a:stretch>
            <a:fillRect/>
          </a:stretch>
        </p:blipFill>
        <p:spPr>
          <a:xfrm>
            <a:off x="41474" y="0"/>
            <a:ext cx="12109052" cy="6858000"/>
          </a:xfrm>
          <a:prstGeom prst="rect">
            <a:avLst/>
          </a:prstGeom>
        </p:spPr>
      </p:pic>
    </p:spTree>
    <p:extLst>
      <p:ext uri="{BB962C8B-B14F-4D97-AF65-F5344CB8AC3E}">
        <p14:creationId xmlns:p14="http://schemas.microsoft.com/office/powerpoint/2010/main" val="4227587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BEB6-6C89-3009-A9EC-A4181D398E5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C3DDFAD-004D-EC4D-8A27-3BBA370DE2C4}"/>
              </a:ext>
            </a:extLst>
          </p:cNvPr>
          <p:cNvPicPr>
            <a:picLocks noChangeAspect="1"/>
          </p:cNvPicPr>
          <p:nvPr/>
        </p:nvPicPr>
        <p:blipFill>
          <a:blip r:embed="rId2"/>
          <a:stretch>
            <a:fillRect/>
          </a:stretch>
        </p:blipFill>
        <p:spPr>
          <a:xfrm>
            <a:off x="272750" y="114129"/>
            <a:ext cx="11646499" cy="6629741"/>
          </a:xfrm>
          <a:prstGeom prst="rect">
            <a:avLst/>
          </a:prstGeom>
        </p:spPr>
      </p:pic>
    </p:spTree>
    <p:extLst>
      <p:ext uri="{BB962C8B-B14F-4D97-AF65-F5344CB8AC3E}">
        <p14:creationId xmlns:p14="http://schemas.microsoft.com/office/powerpoint/2010/main" val="24517443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5BAFF-1F27-D5BD-A1A6-64E46B2047D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B83B254-60B8-32DC-3D65-D47127F4CADE}"/>
              </a:ext>
            </a:extLst>
          </p:cNvPr>
          <p:cNvPicPr>
            <a:picLocks noChangeAspect="1"/>
          </p:cNvPicPr>
          <p:nvPr/>
        </p:nvPicPr>
        <p:blipFill>
          <a:blip r:embed="rId2"/>
          <a:stretch>
            <a:fillRect/>
          </a:stretch>
        </p:blipFill>
        <p:spPr>
          <a:xfrm>
            <a:off x="310852" y="149056"/>
            <a:ext cx="11570295" cy="6559887"/>
          </a:xfrm>
          <a:prstGeom prst="rect">
            <a:avLst/>
          </a:prstGeom>
        </p:spPr>
      </p:pic>
    </p:spTree>
    <p:extLst>
      <p:ext uri="{BB962C8B-B14F-4D97-AF65-F5344CB8AC3E}">
        <p14:creationId xmlns:p14="http://schemas.microsoft.com/office/powerpoint/2010/main" val="5022379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602E1-0254-E656-2468-C61D5178542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3923069-3AE8-D9C5-B719-CA47264239A2}"/>
              </a:ext>
            </a:extLst>
          </p:cNvPr>
          <p:cNvPicPr>
            <a:picLocks noChangeAspect="1"/>
          </p:cNvPicPr>
          <p:nvPr/>
        </p:nvPicPr>
        <p:blipFill>
          <a:blip r:embed="rId2"/>
          <a:stretch>
            <a:fillRect/>
          </a:stretch>
        </p:blipFill>
        <p:spPr>
          <a:xfrm>
            <a:off x="0" y="0"/>
            <a:ext cx="12124944" cy="6757416"/>
          </a:xfrm>
          <a:prstGeom prst="rect">
            <a:avLst/>
          </a:prstGeom>
        </p:spPr>
      </p:pic>
      <p:sp>
        <p:nvSpPr>
          <p:cNvPr id="5" name="Oval 4">
            <a:extLst>
              <a:ext uri="{FF2B5EF4-FFF2-40B4-BE49-F238E27FC236}">
                <a16:creationId xmlns:a16="http://schemas.microsoft.com/office/drawing/2014/main" id="{95BD8E28-7151-1E97-9907-7A7F2C5BB587}"/>
              </a:ext>
            </a:extLst>
          </p:cNvPr>
          <p:cNvSpPr/>
          <p:nvPr/>
        </p:nvSpPr>
        <p:spPr>
          <a:xfrm>
            <a:off x="8229600" y="438912"/>
            <a:ext cx="3493008" cy="20939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Configuration for multiple LLM</a:t>
            </a:r>
            <a:endParaRPr lang="en-IN" dirty="0"/>
          </a:p>
        </p:txBody>
      </p:sp>
    </p:spTree>
    <p:extLst>
      <p:ext uri="{BB962C8B-B14F-4D97-AF65-F5344CB8AC3E}">
        <p14:creationId xmlns:p14="http://schemas.microsoft.com/office/powerpoint/2010/main" val="24459328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0C53E-A46F-0973-B083-3DBE1CE5602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8E6D7B5-BFE9-6EC0-42B3-4E51E9918B48}"/>
              </a:ext>
            </a:extLst>
          </p:cNvPr>
          <p:cNvPicPr>
            <a:picLocks noChangeAspect="1"/>
          </p:cNvPicPr>
          <p:nvPr/>
        </p:nvPicPr>
        <p:blipFill>
          <a:blip r:embed="rId2"/>
          <a:stretch>
            <a:fillRect/>
          </a:stretch>
        </p:blipFill>
        <p:spPr>
          <a:xfrm>
            <a:off x="0" y="0"/>
            <a:ext cx="12192000" cy="6793992"/>
          </a:xfrm>
          <a:prstGeom prst="rect">
            <a:avLst/>
          </a:prstGeom>
        </p:spPr>
      </p:pic>
      <p:sp>
        <p:nvSpPr>
          <p:cNvPr id="5" name="Oval 4">
            <a:extLst>
              <a:ext uri="{FF2B5EF4-FFF2-40B4-BE49-F238E27FC236}">
                <a16:creationId xmlns:a16="http://schemas.microsoft.com/office/drawing/2014/main" id="{E7AABBB0-9C10-BB8A-577C-EA38834CB56C}"/>
              </a:ext>
            </a:extLst>
          </p:cNvPr>
          <p:cNvSpPr/>
          <p:nvPr/>
        </p:nvSpPr>
        <p:spPr>
          <a:xfrm>
            <a:off x="8037576" y="329184"/>
            <a:ext cx="3483864" cy="17739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Controller</a:t>
            </a:r>
            <a:endParaRPr lang="en-IN" dirty="0"/>
          </a:p>
        </p:txBody>
      </p:sp>
    </p:spTree>
    <p:extLst>
      <p:ext uri="{BB962C8B-B14F-4D97-AF65-F5344CB8AC3E}">
        <p14:creationId xmlns:p14="http://schemas.microsoft.com/office/powerpoint/2010/main" val="28037663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506B6-EE4D-D90F-62D3-C3CA6A650A4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CABD26F-7C39-2D77-BD2F-F2213757A6D4}"/>
              </a:ext>
            </a:extLst>
          </p:cNvPr>
          <p:cNvPicPr>
            <a:picLocks noChangeAspect="1"/>
          </p:cNvPicPr>
          <p:nvPr/>
        </p:nvPicPr>
        <p:blipFill>
          <a:blip r:embed="rId2"/>
          <a:stretch>
            <a:fillRect/>
          </a:stretch>
        </p:blipFill>
        <p:spPr>
          <a:xfrm>
            <a:off x="6037" y="215735"/>
            <a:ext cx="12179926" cy="6426530"/>
          </a:xfrm>
          <a:prstGeom prst="rect">
            <a:avLst/>
          </a:prstGeom>
        </p:spPr>
      </p:pic>
    </p:spTree>
    <p:extLst>
      <p:ext uri="{BB962C8B-B14F-4D97-AF65-F5344CB8AC3E}">
        <p14:creationId xmlns:p14="http://schemas.microsoft.com/office/powerpoint/2010/main" val="14206000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09ED6-EB37-B9EB-352B-11905CBD61B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9B30CAC-CCFF-4C44-951B-202EFD322CD2}"/>
              </a:ext>
            </a:extLst>
          </p:cNvPr>
          <p:cNvPicPr>
            <a:picLocks noChangeAspect="1"/>
          </p:cNvPicPr>
          <p:nvPr/>
        </p:nvPicPr>
        <p:blipFill>
          <a:blip r:embed="rId2"/>
          <a:stretch>
            <a:fillRect/>
          </a:stretch>
        </p:blipFill>
        <p:spPr>
          <a:xfrm>
            <a:off x="6037" y="339566"/>
            <a:ext cx="12179926" cy="6178868"/>
          </a:xfrm>
          <a:prstGeom prst="rect">
            <a:avLst/>
          </a:prstGeom>
        </p:spPr>
      </p:pic>
    </p:spTree>
    <p:extLst>
      <p:ext uri="{BB962C8B-B14F-4D97-AF65-F5344CB8AC3E}">
        <p14:creationId xmlns:p14="http://schemas.microsoft.com/office/powerpoint/2010/main" val="3022109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D2CFE-620C-D3C4-F95E-B15241BB8F7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620FD08-F6AF-93E1-A702-450B25B4582E}"/>
              </a:ext>
            </a:extLst>
          </p:cNvPr>
          <p:cNvPicPr>
            <a:picLocks noChangeAspect="1"/>
          </p:cNvPicPr>
          <p:nvPr/>
        </p:nvPicPr>
        <p:blipFill>
          <a:blip r:embed="rId2"/>
          <a:stretch>
            <a:fillRect/>
          </a:stretch>
        </p:blipFill>
        <p:spPr>
          <a:xfrm>
            <a:off x="6037" y="133180"/>
            <a:ext cx="12179926" cy="6591639"/>
          </a:xfrm>
          <a:prstGeom prst="rect">
            <a:avLst/>
          </a:prstGeom>
        </p:spPr>
      </p:pic>
    </p:spTree>
    <p:extLst>
      <p:ext uri="{BB962C8B-B14F-4D97-AF65-F5344CB8AC3E}">
        <p14:creationId xmlns:p14="http://schemas.microsoft.com/office/powerpoint/2010/main" val="31541531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4A5B2-F9C3-8EC2-0381-A916CB3D0B7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164B444-6402-04ED-1CD8-7CEB9B9CC236}"/>
              </a:ext>
            </a:extLst>
          </p:cNvPr>
          <p:cNvPicPr>
            <a:picLocks noChangeAspect="1"/>
          </p:cNvPicPr>
          <p:nvPr/>
        </p:nvPicPr>
        <p:blipFill>
          <a:blip r:embed="rId2"/>
          <a:stretch>
            <a:fillRect/>
          </a:stretch>
        </p:blipFill>
        <p:spPr>
          <a:xfrm>
            <a:off x="6037" y="301464"/>
            <a:ext cx="12179926" cy="6255071"/>
          </a:xfrm>
          <a:prstGeom prst="rect">
            <a:avLst/>
          </a:prstGeom>
        </p:spPr>
      </p:pic>
    </p:spTree>
    <p:extLst>
      <p:ext uri="{BB962C8B-B14F-4D97-AF65-F5344CB8AC3E}">
        <p14:creationId xmlns:p14="http://schemas.microsoft.com/office/powerpoint/2010/main" val="601835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00E4A-E4A5-3311-2051-FAE90E5110E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D0D8835-DEA7-2339-0897-78B92D1ED5A7}"/>
              </a:ext>
            </a:extLst>
          </p:cNvPr>
          <p:cNvPicPr>
            <a:picLocks noChangeAspect="1"/>
          </p:cNvPicPr>
          <p:nvPr/>
        </p:nvPicPr>
        <p:blipFill>
          <a:blip r:embed="rId2"/>
          <a:stretch>
            <a:fillRect/>
          </a:stretch>
        </p:blipFill>
        <p:spPr>
          <a:xfrm>
            <a:off x="56839" y="218910"/>
            <a:ext cx="12078321" cy="6420180"/>
          </a:xfrm>
          <a:prstGeom prst="rect">
            <a:avLst/>
          </a:prstGeom>
        </p:spPr>
      </p:pic>
    </p:spTree>
    <p:extLst>
      <p:ext uri="{BB962C8B-B14F-4D97-AF65-F5344CB8AC3E}">
        <p14:creationId xmlns:p14="http://schemas.microsoft.com/office/powerpoint/2010/main" val="18445207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Tuning Models with Chat Options</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234440"/>
            <a:ext cx="5852160" cy="2514600"/>
          </a:xfrm>
          <a:prstGeom prst="roundRect">
            <a:avLst>
              <a:gd name="adj" fmla="val 3636"/>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6" name="TextBox 5"/>
          <p:cNvSpPr txBox="1"/>
          <p:nvPr/>
        </p:nvSpPr>
        <p:spPr>
          <a:xfrm>
            <a:off x="731520" y="1325880"/>
            <a:ext cx="5486400"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Global defaults</a:t>
            </a:r>
          </a:p>
        </p:txBody>
      </p:sp>
      <p:sp>
        <p:nvSpPr>
          <p:cNvPr id="7" name="TextBox 6"/>
          <p:cNvSpPr txBox="1"/>
          <p:nvPr/>
        </p:nvSpPr>
        <p:spPr>
          <a:xfrm>
            <a:off x="731520" y="1709928"/>
            <a:ext cx="5486400" cy="1947672"/>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300" b="0" i="1">
                <a:solidFill>
                  <a:srgbClr val="9E92CF"/>
                </a:solidFill>
                <a:latin typeface="Courier New"/>
              </a:rPr>
              <a:t># OpenAI</a:t>
            </a:r>
          </a:p>
          <a:p>
            <a:pPr algn="l">
              <a:lnSpc>
                <a:spcPct val="115000"/>
              </a:lnSpc>
              <a:spcBef>
                <a:spcPts val="0"/>
              </a:spcBef>
              <a:spcAft>
                <a:spcPts val="0"/>
              </a:spcAft>
            </a:pPr>
            <a:r>
              <a:rPr sz="1300" b="0" i="0">
                <a:solidFill>
                  <a:srgbClr val="EDEAF7"/>
                </a:solidFill>
                <a:latin typeface="Courier New"/>
              </a:rPr>
              <a:t>spring.ai.openai.chat.options.model=gpt-4o-mini</a:t>
            </a:r>
          </a:p>
          <a:p>
            <a:pPr algn="l">
              <a:lnSpc>
                <a:spcPct val="115000"/>
              </a:lnSpc>
              <a:spcBef>
                <a:spcPts val="0"/>
              </a:spcBef>
              <a:spcAft>
                <a:spcPts val="0"/>
              </a:spcAft>
            </a:pPr>
            <a:r>
              <a:rPr sz="1300" b="0" i="0">
                <a:solidFill>
                  <a:srgbClr val="EDEAF7"/>
                </a:solidFill>
                <a:latin typeface="Courier New"/>
              </a:rPr>
              <a:t>spring.ai.openai.chat.options.temperature=</a:t>
            </a:r>
            <a:r>
              <a:rPr sz="1300" b="0" i="0">
                <a:solidFill>
                  <a:srgbClr val="7FD4FF"/>
                </a:solidFill>
                <a:latin typeface="Courier New"/>
              </a:rPr>
              <a:t>0.2</a:t>
            </a:r>
          </a:p>
          <a:p>
            <a:pPr algn="l">
              <a:lnSpc>
                <a:spcPct val="115000"/>
              </a:lnSpc>
              <a:spcBef>
                <a:spcPts val="0"/>
              </a:spcBef>
              <a:spcAft>
                <a:spcPts val="0"/>
              </a:spcAft>
            </a:pPr>
            <a:r>
              <a:rPr sz="1300" b="0" i="0">
                <a:solidFill>
                  <a:srgbClr val="EDEAF7"/>
                </a:solidFill>
                <a:latin typeface="Courier New"/>
              </a:rPr>
              <a:t> </a:t>
            </a:r>
          </a:p>
          <a:p>
            <a:pPr algn="l">
              <a:lnSpc>
                <a:spcPct val="115000"/>
              </a:lnSpc>
              <a:spcBef>
                <a:spcPts val="0"/>
              </a:spcBef>
              <a:spcAft>
                <a:spcPts val="0"/>
              </a:spcAft>
            </a:pPr>
            <a:r>
              <a:rPr sz="1300" b="0" i="1">
                <a:solidFill>
                  <a:srgbClr val="9E92CF"/>
                </a:solidFill>
                <a:latin typeface="Courier New"/>
              </a:rPr>
              <a:t># Ollama</a:t>
            </a:r>
          </a:p>
          <a:p>
            <a:pPr algn="l">
              <a:lnSpc>
                <a:spcPct val="115000"/>
              </a:lnSpc>
              <a:spcBef>
                <a:spcPts val="0"/>
              </a:spcBef>
              <a:spcAft>
                <a:spcPts val="0"/>
              </a:spcAft>
            </a:pPr>
            <a:r>
              <a:rPr sz="1300" b="0" i="0">
                <a:solidFill>
                  <a:srgbClr val="EDEAF7"/>
                </a:solidFill>
                <a:latin typeface="Courier New"/>
              </a:rPr>
              <a:t>spring.ai.ollama.chat.options.model=llama3.2</a:t>
            </a:r>
          </a:p>
          <a:p>
            <a:pPr algn="l">
              <a:lnSpc>
                <a:spcPct val="115000"/>
              </a:lnSpc>
              <a:spcBef>
                <a:spcPts val="0"/>
              </a:spcBef>
              <a:spcAft>
                <a:spcPts val="0"/>
              </a:spcAft>
            </a:pPr>
            <a:r>
              <a:rPr sz="1300" b="0" i="0">
                <a:solidFill>
                  <a:srgbClr val="EDEAF7"/>
                </a:solidFill>
                <a:latin typeface="Courier New"/>
              </a:rPr>
              <a:t>spring.ai.ollama.chat.options.temperature=</a:t>
            </a:r>
            <a:r>
              <a:rPr sz="1300" b="0" i="0">
                <a:solidFill>
                  <a:srgbClr val="7FD4FF"/>
                </a:solidFill>
                <a:latin typeface="Courier New"/>
              </a:rPr>
              <a:t>0.2</a:t>
            </a:r>
          </a:p>
        </p:txBody>
      </p:sp>
      <p:sp>
        <p:nvSpPr>
          <p:cNvPr id="8" name="Rounded Rectangle 7"/>
          <p:cNvSpPr/>
          <p:nvPr/>
        </p:nvSpPr>
        <p:spPr>
          <a:xfrm>
            <a:off x="548640" y="3886200"/>
            <a:ext cx="5852160" cy="2377440"/>
          </a:xfrm>
          <a:prstGeom prst="roundRect">
            <a:avLst>
              <a:gd name="adj" fmla="val 3846"/>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9" name="TextBox 8"/>
          <p:cNvSpPr txBox="1"/>
          <p:nvPr/>
        </p:nvSpPr>
        <p:spPr>
          <a:xfrm>
            <a:off x="731520" y="3977639"/>
            <a:ext cx="5486400"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Per-request override</a:t>
            </a:r>
          </a:p>
        </p:txBody>
      </p:sp>
      <p:sp>
        <p:nvSpPr>
          <p:cNvPr id="10" name="TextBox 9"/>
          <p:cNvSpPr txBox="1"/>
          <p:nvPr/>
        </p:nvSpPr>
        <p:spPr>
          <a:xfrm>
            <a:off x="731520" y="4361688"/>
            <a:ext cx="5486400" cy="1810512"/>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300" b="0" i="0">
                <a:solidFill>
                  <a:srgbClr val="EDEAF7"/>
                </a:solidFill>
                <a:latin typeface="Courier New"/>
              </a:rPr>
              <a:t>chatClient.prompt()</a:t>
            </a:r>
          </a:p>
          <a:p>
            <a:pPr algn="l">
              <a:lnSpc>
                <a:spcPct val="115000"/>
              </a:lnSpc>
              <a:spcBef>
                <a:spcPts val="0"/>
              </a:spcBef>
              <a:spcAft>
                <a:spcPts val="0"/>
              </a:spcAft>
            </a:pPr>
            <a:r>
              <a:rPr sz="1300" b="0" i="0">
                <a:solidFill>
                  <a:srgbClr val="EDEAF7"/>
                </a:solidFill>
                <a:latin typeface="Courier New"/>
              </a:rPr>
              <a:t>    .user(message)</a:t>
            </a:r>
          </a:p>
          <a:p>
            <a:pPr algn="l">
              <a:lnSpc>
                <a:spcPct val="115000"/>
              </a:lnSpc>
              <a:spcBef>
                <a:spcPts val="0"/>
              </a:spcBef>
              <a:spcAft>
                <a:spcPts val="0"/>
              </a:spcAft>
            </a:pPr>
            <a:r>
              <a:rPr sz="1300" b="0" i="0">
                <a:solidFill>
                  <a:srgbClr val="EDEAF7"/>
                </a:solidFill>
                <a:latin typeface="Courier New"/>
              </a:rPr>
              <a:t>    .options(OpenAiChatOptions.builder()</a:t>
            </a:r>
          </a:p>
          <a:p>
            <a:pPr algn="l">
              <a:lnSpc>
                <a:spcPct val="115000"/>
              </a:lnSpc>
              <a:spcBef>
                <a:spcPts val="0"/>
              </a:spcBef>
              <a:spcAft>
                <a:spcPts val="0"/>
              </a:spcAft>
            </a:pPr>
            <a:r>
              <a:rPr sz="1300" b="0" i="0">
                <a:solidFill>
                  <a:srgbClr val="EDEAF7"/>
                </a:solidFill>
                <a:latin typeface="Courier New"/>
              </a:rPr>
              <a:t>        .model(</a:t>
            </a:r>
            <a:r>
              <a:rPr sz="1300" b="0" i="0">
                <a:solidFill>
                  <a:srgbClr val="8EE6A0"/>
                </a:solidFill>
                <a:latin typeface="Courier New"/>
              </a:rPr>
              <a:t>"gpt-4o-mini"</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.temperature(</a:t>
            </a:r>
            <a:r>
              <a:rPr sz="1300" b="0" i="0">
                <a:solidFill>
                  <a:srgbClr val="7FD4FF"/>
                </a:solidFill>
                <a:latin typeface="Courier New"/>
              </a:rPr>
              <a:t>0.2</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.build())</a:t>
            </a:r>
          </a:p>
          <a:p>
            <a:pPr algn="l">
              <a:lnSpc>
                <a:spcPct val="115000"/>
              </a:lnSpc>
              <a:spcBef>
                <a:spcPts val="0"/>
              </a:spcBef>
              <a:spcAft>
                <a:spcPts val="0"/>
              </a:spcAft>
            </a:pPr>
            <a:r>
              <a:rPr sz="1300" b="0" i="0">
                <a:solidFill>
                  <a:srgbClr val="EDEAF7"/>
                </a:solidFill>
                <a:latin typeface="Courier New"/>
              </a:rPr>
              <a:t>    .call().content();</a:t>
            </a:r>
          </a:p>
        </p:txBody>
      </p:sp>
      <p:sp>
        <p:nvSpPr>
          <p:cNvPr id="11" name="TextBox 10"/>
          <p:cNvSpPr txBox="1"/>
          <p:nvPr/>
        </p:nvSpPr>
        <p:spPr>
          <a:xfrm>
            <a:off x="6675120" y="1188720"/>
            <a:ext cx="4937760" cy="365760"/>
          </a:xfrm>
          <a:prstGeom prst="rect">
            <a:avLst/>
          </a:prstGeom>
          <a:noFill/>
        </p:spPr>
        <p:txBody>
          <a:bodyPr wrap="square" lIns="45720" tIns="27432" rIns="45720" bIns="27432" anchor="t">
            <a:spAutoFit/>
          </a:bodyPr>
          <a:lstStyle/>
          <a:p>
            <a:pPr algn="l">
              <a:spcBef>
                <a:spcPts val="0"/>
              </a:spcBef>
              <a:spcAft>
                <a:spcPts val="0"/>
              </a:spcAft>
            </a:pPr>
            <a:r>
              <a:rPr sz="1800" b="1" i="0">
                <a:solidFill>
                  <a:srgbClr val="DFBE27"/>
                </a:solidFill>
                <a:latin typeface="Calibri"/>
              </a:rPr>
              <a:t>Temperature guide</a:t>
            </a:r>
          </a:p>
        </p:txBody>
      </p:sp>
      <p:sp>
        <p:nvSpPr>
          <p:cNvPr id="12" name="Rounded Rectangle 11"/>
          <p:cNvSpPr/>
          <p:nvPr/>
        </p:nvSpPr>
        <p:spPr>
          <a:xfrm>
            <a:off x="6675120" y="1645920"/>
            <a:ext cx="1188720" cy="868680"/>
          </a:xfrm>
          <a:prstGeom prst="roundRect">
            <a:avLst>
              <a:gd name="adj" fmla="val 12631"/>
            </a:avLst>
          </a:prstGeom>
          <a:solidFill>
            <a:srgbClr val="3B5BA9"/>
          </a:solidFill>
          <a:ln>
            <a:noFill/>
          </a:ln>
        </p:spPr>
        <p:txBody>
          <a:bodyPr wrap="square" lIns="0" tIns="0" rIns="0" bIns="0" rtlCol="0" anchor="ctr"/>
          <a:lstStyle/>
          <a:p>
            <a:pPr algn="ctr">
              <a:spcBef>
                <a:spcPts val="0"/>
              </a:spcBef>
              <a:spcAft>
                <a:spcPts val="0"/>
              </a:spcAft>
            </a:pPr>
            <a:r>
              <a:rPr sz="2200" b="1" i="0">
                <a:solidFill>
                  <a:srgbClr val="FFFFFF"/>
                </a:solidFill>
                <a:latin typeface="Calibri"/>
              </a:rPr>
              <a:t>0.0</a:t>
            </a:r>
          </a:p>
        </p:txBody>
      </p:sp>
      <p:sp>
        <p:nvSpPr>
          <p:cNvPr id="13" name="Rounded Rectangle 12"/>
          <p:cNvSpPr/>
          <p:nvPr/>
        </p:nvSpPr>
        <p:spPr>
          <a:xfrm>
            <a:off x="7955279" y="1645920"/>
            <a:ext cx="3685032" cy="868680"/>
          </a:xfrm>
          <a:prstGeom prst="roundRect">
            <a:avLst>
              <a:gd name="adj" fmla="val 12631"/>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Deterministic: facts, code, data extraction</a:t>
            </a:r>
          </a:p>
        </p:txBody>
      </p:sp>
      <p:sp>
        <p:nvSpPr>
          <p:cNvPr id="14" name="Rounded Rectangle 13"/>
          <p:cNvSpPr/>
          <p:nvPr/>
        </p:nvSpPr>
        <p:spPr>
          <a:xfrm>
            <a:off x="6675120" y="2651760"/>
            <a:ext cx="1188720" cy="868680"/>
          </a:xfrm>
          <a:prstGeom prst="roundRect">
            <a:avLst>
              <a:gd name="adj" fmla="val 12631"/>
            </a:avLst>
          </a:prstGeom>
          <a:solidFill>
            <a:srgbClr val="2F8F8A"/>
          </a:solidFill>
          <a:ln>
            <a:noFill/>
          </a:ln>
        </p:spPr>
        <p:txBody>
          <a:bodyPr wrap="square" lIns="0" tIns="0" rIns="0" bIns="0" rtlCol="0" anchor="ctr"/>
          <a:lstStyle/>
          <a:p>
            <a:pPr algn="ctr">
              <a:spcBef>
                <a:spcPts val="0"/>
              </a:spcBef>
              <a:spcAft>
                <a:spcPts val="0"/>
              </a:spcAft>
            </a:pPr>
            <a:r>
              <a:rPr sz="2200" b="1" i="0">
                <a:solidFill>
                  <a:srgbClr val="FFFFFF"/>
                </a:solidFill>
                <a:latin typeface="Calibri"/>
              </a:rPr>
              <a:t>0.3</a:t>
            </a:r>
          </a:p>
        </p:txBody>
      </p:sp>
      <p:sp>
        <p:nvSpPr>
          <p:cNvPr id="15" name="Rounded Rectangle 14"/>
          <p:cNvSpPr/>
          <p:nvPr/>
        </p:nvSpPr>
        <p:spPr>
          <a:xfrm>
            <a:off x="7955279" y="2651760"/>
            <a:ext cx="3685032" cy="868680"/>
          </a:xfrm>
          <a:prstGeom prst="roundRect">
            <a:avLst>
              <a:gd name="adj" fmla="val 12631"/>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Focused: Q&amp;A and summaries</a:t>
            </a:r>
          </a:p>
        </p:txBody>
      </p:sp>
      <p:sp>
        <p:nvSpPr>
          <p:cNvPr id="16" name="Rounded Rectangle 15"/>
          <p:cNvSpPr/>
          <p:nvPr/>
        </p:nvSpPr>
        <p:spPr>
          <a:xfrm>
            <a:off x="6675120" y="3657600"/>
            <a:ext cx="1188720" cy="868680"/>
          </a:xfrm>
          <a:prstGeom prst="roundRect">
            <a:avLst>
              <a:gd name="adj" fmla="val 12631"/>
            </a:avLst>
          </a:prstGeom>
          <a:solidFill>
            <a:srgbClr val="C98A2B"/>
          </a:solidFill>
          <a:ln>
            <a:noFill/>
          </a:ln>
        </p:spPr>
        <p:txBody>
          <a:bodyPr wrap="square" lIns="0" tIns="0" rIns="0" bIns="0" rtlCol="0" anchor="ctr"/>
          <a:lstStyle/>
          <a:p>
            <a:pPr algn="ctr">
              <a:spcBef>
                <a:spcPts val="0"/>
              </a:spcBef>
              <a:spcAft>
                <a:spcPts val="0"/>
              </a:spcAft>
            </a:pPr>
            <a:r>
              <a:rPr sz="2200" b="1" i="0">
                <a:solidFill>
                  <a:srgbClr val="FFFFFF"/>
                </a:solidFill>
                <a:latin typeface="Calibri"/>
              </a:rPr>
              <a:t>0.7</a:t>
            </a:r>
          </a:p>
        </p:txBody>
      </p:sp>
      <p:sp>
        <p:nvSpPr>
          <p:cNvPr id="17" name="Rounded Rectangle 16"/>
          <p:cNvSpPr/>
          <p:nvPr/>
        </p:nvSpPr>
        <p:spPr>
          <a:xfrm>
            <a:off x="7955279" y="3657600"/>
            <a:ext cx="3685032" cy="868680"/>
          </a:xfrm>
          <a:prstGeom prst="roundRect">
            <a:avLst>
              <a:gd name="adj" fmla="val 12631"/>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Balanced: everyday chat</a:t>
            </a:r>
          </a:p>
        </p:txBody>
      </p:sp>
      <p:sp>
        <p:nvSpPr>
          <p:cNvPr id="18" name="Rounded Rectangle 17"/>
          <p:cNvSpPr/>
          <p:nvPr/>
        </p:nvSpPr>
        <p:spPr>
          <a:xfrm>
            <a:off x="6675120" y="4663440"/>
            <a:ext cx="1188720" cy="868680"/>
          </a:xfrm>
          <a:prstGeom prst="roundRect">
            <a:avLst>
              <a:gd name="adj" fmla="val 12631"/>
            </a:avLst>
          </a:prstGeom>
          <a:solidFill>
            <a:srgbClr val="D6563F"/>
          </a:solidFill>
          <a:ln>
            <a:noFill/>
          </a:ln>
        </p:spPr>
        <p:txBody>
          <a:bodyPr wrap="square" lIns="0" tIns="0" rIns="0" bIns="0" rtlCol="0" anchor="ctr"/>
          <a:lstStyle/>
          <a:p>
            <a:pPr algn="ctr">
              <a:spcBef>
                <a:spcPts val="0"/>
              </a:spcBef>
              <a:spcAft>
                <a:spcPts val="0"/>
              </a:spcAft>
            </a:pPr>
            <a:r>
              <a:rPr sz="2200" b="1" i="0">
                <a:solidFill>
                  <a:srgbClr val="FFFFFF"/>
                </a:solidFill>
                <a:latin typeface="Calibri"/>
              </a:rPr>
              <a:t>1.0+</a:t>
            </a:r>
          </a:p>
        </p:txBody>
      </p:sp>
      <p:sp>
        <p:nvSpPr>
          <p:cNvPr id="19" name="Rounded Rectangle 18"/>
          <p:cNvSpPr/>
          <p:nvPr/>
        </p:nvSpPr>
        <p:spPr>
          <a:xfrm>
            <a:off x="7955279" y="4663440"/>
            <a:ext cx="3685032" cy="868680"/>
          </a:xfrm>
          <a:prstGeom prst="roundRect">
            <a:avLst>
              <a:gd name="adj" fmla="val 12631"/>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Creative: brainstorming and stories</a:t>
            </a:r>
          </a:p>
        </p:txBody>
      </p:sp>
      <p:sp>
        <p:nvSpPr>
          <p:cNvPr id="20" name="TextBox 19"/>
          <p:cNvSpPr txBox="1"/>
          <p:nvPr/>
        </p:nvSpPr>
        <p:spPr>
          <a:xfrm>
            <a:off x="6675120" y="5715000"/>
            <a:ext cx="4965192" cy="548640"/>
          </a:xfrm>
          <a:prstGeom prst="rect">
            <a:avLst/>
          </a:prstGeom>
          <a:noFill/>
        </p:spPr>
        <p:txBody>
          <a:bodyPr wrap="square" lIns="45720" tIns="27432" rIns="45720" bIns="27432" anchor="t">
            <a:spAutoFit/>
          </a:bodyPr>
          <a:lstStyle/>
          <a:p>
            <a:pPr algn="l">
              <a:spcBef>
                <a:spcPts val="0"/>
              </a:spcBef>
              <a:spcAft>
                <a:spcPts val="0"/>
              </a:spcAft>
            </a:pPr>
            <a:r>
              <a:rPr sz="1500" b="0" i="1">
                <a:solidFill>
                  <a:srgbClr val="C4BAE3"/>
                </a:solidFill>
                <a:latin typeface="Calibri"/>
              </a:rPr>
              <a:t>Change temperature or top-p, not both.</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System Prompts and Prompt Templates</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234440"/>
            <a:ext cx="6400800" cy="2514600"/>
          </a:xfrm>
          <a:prstGeom prst="roundRect">
            <a:avLst>
              <a:gd name="adj" fmla="val 3636"/>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6" name="TextBox 5"/>
          <p:cNvSpPr txBox="1"/>
          <p:nvPr/>
        </p:nvSpPr>
        <p:spPr>
          <a:xfrm>
            <a:off x="731520" y="1325880"/>
            <a:ext cx="6035040"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Default system prompt</a:t>
            </a:r>
          </a:p>
        </p:txBody>
      </p:sp>
      <p:sp>
        <p:nvSpPr>
          <p:cNvPr id="7" name="TextBox 6"/>
          <p:cNvSpPr txBox="1"/>
          <p:nvPr/>
        </p:nvSpPr>
        <p:spPr>
          <a:xfrm>
            <a:off x="731520" y="1709928"/>
            <a:ext cx="6035040" cy="1947672"/>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300" b="0" i="0">
                <a:solidFill>
                  <a:srgbClr val="F2A65A"/>
                </a:solidFill>
                <a:latin typeface="Courier New"/>
              </a:rPr>
              <a:t>@Bean</a:t>
            </a:r>
          </a:p>
          <a:p>
            <a:pPr algn="l">
              <a:lnSpc>
                <a:spcPct val="115000"/>
              </a:lnSpc>
              <a:spcBef>
                <a:spcPts val="0"/>
              </a:spcBef>
              <a:spcAft>
                <a:spcPts val="0"/>
              </a:spcAft>
            </a:pPr>
            <a:r>
              <a:rPr sz="1300" b="0" i="0">
                <a:solidFill>
                  <a:srgbClr val="EDEAF7"/>
                </a:solidFill>
                <a:latin typeface="Courier New"/>
              </a:rPr>
              <a:t>ChatClient tutorClient(ChatClient.Builder builder) {</a:t>
            </a:r>
          </a:p>
          <a:p>
            <a:pPr algn="l">
              <a:lnSpc>
                <a:spcPct val="115000"/>
              </a:lnSpc>
              <a:spcBef>
                <a:spcPts val="0"/>
              </a:spcBef>
              <a:spcAft>
                <a:spcPts val="0"/>
              </a:spcAft>
            </a:pPr>
            <a:r>
              <a:rPr sz="1300" b="0" i="0">
                <a:solidFill>
                  <a:srgbClr val="EDEAF7"/>
                </a:solidFill>
                <a:latin typeface="Courier New"/>
              </a:rPr>
              <a:t>    </a:t>
            </a:r>
            <a:r>
              <a:rPr sz="1300" b="0" i="0">
                <a:solidFill>
                  <a:srgbClr val="FF9AC8"/>
                </a:solidFill>
                <a:latin typeface="Courier New"/>
              </a:rPr>
              <a:t>return</a:t>
            </a:r>
            <a:r>
              <a:rPr sz="1300" b="0" i="0">
                <a:solidFill>
                  <a:srgbClr val="EDEAF7"/>
                </a:solidFill>
                <a:latin typeface="Courier New"/>
              </a:rPr>
              <a:t> builder</a:t>
            </a:r>
          </a:p>
          <a:p>
            <a:pPr algn="l">
              <a:lnSpc>
                <a:spcPct val="115000"/>
              </a:lnSpc>
              <a:spcBef>
                <a:spcPts val="0"/>
              </a:spcBef>
              <a:spcAft>
                <a:spcPts val="0"/>
              </a:spcAft>
            </a:pPr>
            <a:r>
              <a:rPr sz="1300" b="0" i="0">
                <a:solidFill>
                  <a:srgbClr val="EDEAF7"/>
                </a:solidFill>
                <a:latin typeface="Courier New"/>
              </a:rPr>
              <a:t>        .defaultSystem(</a:t>
            </a:r>
            <a:r>
              <a:rPr sz="1300" b="0" i="0">
                <a:solidFill>
                  <a:srgbClr val="8EE6A0"/>
                </a:solidFill>
                <a:latin typeface="Courier New"/>
              </a:rPr>
              <a:t>"You are a patient Java tutor. "</a:t>
            </a:r>
          </a:p>
          <a:p>
            <a:pPr algn="l">
              <a:lnSpc>
                <a:spcPct val="115000"/>
              </a:lnSpc>
              <a:spcBef>
                <a:spcPts val="0"/>
              </a:spcBef>
              <a:spcAft>
                <a:spcPts val="0"/>
              </a:spcAft>
            </a:pPr>
            <a:r>
              <a:rPr sz="1300" b="0" i="0">
                <a:solidFill>
                  <a:srgbClr val="EDEAF7"/>
                </a:solidFill>
                <a:latin typeface="Courier New"/>
              </a:rPr>
              <a:t>            + </a:t>
            </a:r>
            <a:r>
              <a:rPr sz="1300" b="0" i="0">
                <a:solidFill>
                  <a:srgbClr val="8EE6A0"/>
                </a:solidFill>
                <a:latin typeface="Courier New"/>
              </a:rPr>
              <a:t>"Answer in at most 3 bullet points."</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.build();</a:t>
            </a:r>
          </a:p>
          <a:p>
            <a:pPr algn="l">
              <a:lnSpc>
                <a:spcPct val="115000"/>
              </a:lnSpc>
              <a:spcBef>
                <a:spcPts val="0"/>
              </a:spcBef>
              <a:spcAft>
                <a:spcPts val="0"/>
              </a:spcAft>
            </a:pPr>
            <a:r>
              <a:rPr sz="1300" b="0" i="0">
                <a:solidFill>
                  <a:srgbClr val="EDEAF7"/>
                </a:solidFill>
                <a:latin typeface="Courier New"/>
              </a:rPr>
              <a:t>}</a:t>
            </a:r>
          </a:p>
        </p:txBody>
      </p:sp>
      <p:sp>
        <p:nvSpPr>
          <p:cNvPr id="8" name="Rounded Rectangle 7"/>
          <p:cNvSpPr/>
          <p:nvPr/>
        </p:nvSpPr>
        <p:spPr>
          <a:xfrm>
            <a:off x="548640" y="3886200"/>
            <a:ext cx="6400800" cy="2377440"/>
          </a:xfrm>
          <a:prstGeom prst="roundRect">
            <a:avLst>
              <a:gd name="adj" fmla="val 3846"/>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9" name="TextBox 8"/>
          <p:cNvSpPr txBox="1"/>
          <p:nvPr/>
        </p:nvSpPr>
        <p:spPr>
          <a:xfrm>
            <a:off x="731520" y="3977639"/>
            <a:ext cx="6035040"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Template with parameters</a:t>
            </a:r>
          </a:p>
        </p:txBody>
      </p:sp>
      <p:sp>
        <p:nvSpPr>
          <p:cNvPr id="10" name="TextBox 9"/>
          <p:cNvSpPr txBox="1"/>
          <p:nvPr/>
        </p:nvSpPr>
        <p:spPr>
          <a:xfrm>
            <a:off x="731520" y="4361688"/>
            <a:ext cx="6035040" cy="1810512"/>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300" b="0" i="0">
                <a:solidFill>
                  <a:srgbClr val="FF9AC8"/>
                </a:solidFill>
                <a:latin typeface="Courier New"/>
              </a:rPr>
              <a:t>String</a:t>
            </a:r>
            <a:r>
              <a:rPr sz="1300" b="0" i="0">
                <a:solidFill>
                  <a:srgbClr val="EDEAF7"/>
                </a:solidFill>
                <a:latin typeface="Courier New"/>
              </a:rPr>
              <a:t> answer = tutorClient.prompt()</a:t>
            </a:r>
          </a:p>
          <a:p>
            <a:pPr algn="l">
              <a:lnSpc>
                <a:spcPct val="115000"/>
              </a:lnSpc>
              <a:spcBef>
                <a:spcPts val="0"/>
              </a:spcBef>
              <a:spcAft>
                <a:spcPts val="0"/>
              </a:spcAft>
            </a:pPr>
            <a:r>
              <a:rPr sz="1300" b="0" i="0">
                <a:solidFill>
                  <a:srgbClr val="EDEAF7"/>
                </a:solidFill>
                <a:latin typeface="Courier New"/>
              </a:rPr>
              <a:t>    .user(u -&gt; u.text(</a:t>
            </a:r>
            <a:r>
              <a:rPr sz="1300" b="0" i="0">
                <a:solidFill>
                  <a:srgbClr val="8EE6A0"/>
                </a:solidFill>
                <a:latin typeface="Courier New"/>
              </a:rPr>
              <a:t>"Explain {topic} to a {level}"</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.param(</a:t>
            </a:r>
            <a:r>
              <a:rPr sz="1300" b="0" i="0">
                <a:solidFill>
                  <a:srgbClr val="8EE6A0"/>
                </a:solidFill>
                <a:latin typeface="Courier New"/>
              </a:rPr>
              <a:t>"topic"</a:t>
            </a:r>
            <a:r>
              <a:rPr sz="1300" b="0" i="0">
                <a:solidFill>
                  <a:srgbClr val="EDEAF7"/>
                </a:solidFill>
                <a:latin typeface="Courier New"/>
              </a:rPr>
              <a:t>, </a:t>
            </a:r>
            <a:r>
              <a:rPr sz="1300" b="0" i="0">
                <a:solidFill>
                  <a:srgbClr val="8EE6A0"/>
                </a:solidFill>
                <a:latin typeface="Courier New"/>
              </a:rPr>
              <a:t>"dependency injection"</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.param(</a:t>
            </a:r>
            <a:r>
              <a:rPr sz="1300" b="0" i="0">
                <a:solidFill>
                  <a:srgbClr val="8EE6A0"/>
                </a:solidFill>
                <a:latin typeface="Courier New"/>
              </a:rPr>
              <a:t>"level"</a:t>
            </a:r>
            <a:r>
              <a:rPr sz="1300" b="0" i="0">
                <a:solidFill>
                  <a:srgbClr val="EDEAF7"/>
                </a:solidFill>
                <a:latin typeface="Courier New"/>
              </a:rPr>
              <a:t>, </a:t>
            </a:r>
            <a:r>
              <a:rPr sz="1300" b="0" i="0">
                <a:solidFill>
                  <a:srgbClr val="8EE6A0"/>
                </a:solidFill>
                <a:latin typeface="Courier New"/>
              </a:rPr>
              <a:t>"beginner"</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.call()</a:t>
            </a:r>
          </a:p>
          <a:p>
            <a:pPr algn="l">
              <a:lnSpc>
                <a:spcPct val="115000"/>
              </a:lnSpc>
              <a:spcBef>
                <a:spcPts val="0"/>
              </a:spcBef>
              <a:spcAft>
                <a:spcPts val="0"/>
              </a:spcAft>
            </a:pPr>
            <a:r>
              <a:rPr sz="1300" b="0" i="0">
                <a:solidFill>
                  <a:srgbClr val="EDEAF7"/>
                </a:solidFill>
                <a:latin typeface="Courier New"/>
              </a:rPr>
              <a:t>    .content();</a:t>
            </a:r>
          </a:p>
        </p:txBody>
      </p:sp>
      <p:sp>
        <p:nvSpPr>
          <p:cNvPr id="11" name="Rounded Rectangle 10"/>
          <p:cNvSpPr/>
          <p:nvPr/>
        </p:nvSpPr>
        <p:spPr>
          <a:xfrm>
            <a:off x="7178040" y="1234440"/>
            <a:ext cx="4462272" cy="1143000"/>
          </a:xfrm>
          <a:prstGeom prst="roundRect">
            <a:avLst>
              <a:gd name="adj" fmla="val 9600"/>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System prompt</a:t>
            </a:r>
          </a:p>
          <a:p>
            <a:pPr algn="l">
              <a:spcBef>
                <a:spcPts val="0"/>
              </a:spcBef>
              <a:spcAft>
                <a:spcPts val="300"/>
              </a:spcAft>
            </a:pPr>
            <a:r>
              <a:rPr sz="1400" b="0" i="0">
                <a:solidFill>
                  <a:srgbClr val="FFFFFF"/>
                </a:solidFill>
                <a:latin typeface="Calibri"/>
              </a:rPr>
              <a:t>Sets role, tone and rules for every call.</a:t>
            </a:r>
          </a:p>
        </p:txBody>
      </p:sp>
      <p:sp>
        <p:nvSpPr>
          <p:cNvPr id="12" name="Rounded Rectangle 11"/>
          <p:cNvSpPr/>
          <p:nvPr/>
        </p:nvSpPr>
        <p:spPr>
          <a:xfrm>
            <a:off x="7178040" y="2514600"/>
            <a:ext cx="4462272" cy="1143000"/>
          </a:xfrm>
          <a:prstGeom prst="roundRect">
            <a:avLst>
              <a:gd name="adj" fmla="val 9600"/>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User prompt</a:t>
            </a:r>
          </a:p>
          <a:p>
            <a:pPr algn="l">
              <a:spcBef>
                <a:spcPts val="0"/>
              </a:spcBef>
              <a:spcAft>
                <a:spcPts val="300"/>
              </a:spcAft>
            </a:pPr>
            <a:r>
              <a:rPr sz="1400" b="0" i="0">
                <a:solidFill>
                  <a:srgbClr val="FFFFFF"/>
                </a:solidFill>
                <a:latin typeface="Calibri"/>
              </a:rPr>
              <a:t>The actual request from your user.</a:t>
            </a:r>
          </a:p>
        </p:txBody>
      </p:sp>
      <p:sp>
        <p:nvSpPr>
          <p:cNvPr id="13" name="Rounded Rectangle 12"/>
          <p:cNvSpPr/>
          <p:nvPr/>
        </p:nvSpPr>
        <p:spPr>
          <a:xfrm>
            <a:off x="7178040" y="3794760"/>
            <a:ext cx="4462272" cy="1143000"/>
          </a:xfrm>
          <a:prstGeom prst="roundRect">
            <a:avLst>
              <a:gd name="adj" fmla="val 9600"/>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Templates</a:t>
            </a:r>
          </a:p>
          <a:p>
            <a:pPr algn="l">
              <a:spcBef>
                <a:spcPts val="0"/>
              </a:spcBef>
              <a:spcAft>
                <a:spcPts val="300"/>
              </a:spcAft>
            </a:pPr>
            <a:r>
              <a:rPr sz="1400" b="0" i="0">
                <a:solidFill>
                  <a:srgbClr val="FFFFFF"/>
                </a:solidFill>
                <a:latin typeface="Calibri"/>
              </a:rPr>
              <a:t>{placeholders} are filled at runtime, so prompts stay reusable.</a:t>
            </a:r>
          </a:p>
        </p:txBody>
      </p:sp>
      <p:sp>
        <p:nvSpPr>
          <p:cNvPr id="14" name="Rounded Rectangle 13"/>
          <p:cNvSpPr/>
          <p:nvPr/>
        </p:nvSpPr>
        <p:spPr>
          <a:xfrm>
            <a:off x="7178040" y="5074919"/>
            <a:ext cx="4462272" cy="1143000"/>
          </a:xfrm>
          <a:prstGeom prst="roundRect">
            <a:avLst>
              <a:gd name="adj" fmla="val 9600"/>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Tip</a:t>
            </a:r>
          </a:p>
          <a:p>
            <a:pPr algn="l">
              <a:spcBef>
                <a:spcPts val="0"/>
              </a:spcBef>
              <a:spcAft>
                <a:spcPts val="300"/>
              </a:spcAft>
            </a:pPr>
            <a:r>
              <a:rPr sz="1400" b="0" i="0">
                <a:solidFill>
                  <a:srgbClr val="FFFFFF"/>
                </a:solidFill>
                <a:latin typeface="Calibri"/>
              </a:rPr>
              <a:t>Keep long prompts in resource files such as prompts/tutor.st.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Streaming Responses</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188720"/>
            <a:ext cx="6583680" cy="2834640"/>
          </a:xfrm>
          <a:prstGeom prst="roundRect">
            <a:avLst>
              <a:gd name="adj" fmla="val 3225"/>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6" name="TextBox 5"/>
          <p:cNvSpPr txBox="1"/>
          <p:nvPr/>
        </p:nvSpPr>
        <p:spPr>
          <a:xfrm>
            <a:off x="731520" y="1280160"/>
            <a:ext cx="6217920"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Streaming endpoint</a:t>
            </a:r>
          </a:p>
        </p:txBody>
      </p:sp>
      <p:sp>
        <p:nvSpPr>
          <p:cNvPr id="7" name="TextBox 6"/>
          <p:cNvSpPr txBox="1"/>
          <p:nvPr/>
        </p:nvSpPr>
        <p:spPr>
          <a:xfrm>
            <a:off x="731520" y="1664208"/>
            <a:ext cx="6217920" cy="2267712"/>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250" b="0" i="0">
                <a:solidFill>
                  <a:srgbClr val="F2A65A"/>
                </a:solidFill>
                <a:latin typeface="Courier New"/>
              </a:rPr>
              <a:t>@GetMapping</a:t>
            </a:r>
            <a:r>
              <a:rPr sz="1250" b="0" i="0">
                <a:solidFill>
                  <a:srgbClr val="EDEAF7"/>
                </a:solidFill>
                <a:latin typeface="Courier New"/>
              </a:rPr>
              <a:t>(value = </a:t>
            </a:r>
            <a:r>
              <a:rPr sz="1250" b="0" i="0">
                <a:solidFill>
                  <a:srgbClr val="8EE6A0"/>
                </a:solidFill>
                <a:latin typeface="Courier New"/>
              </a:rPr>
              <a:t>"/stream"</a:t>
            </a:r>
            <a:r>
              <a:rPr sz="1250" b="0" i="0">
                <a:solidFill>
                  <a:srgbClr val="EDEAF7"/>
                </a:solidFill>
                <a:latin typeface="Courier New"/>
              </a:rPr>
              <a:t>,</a:t>
            </a:r>
          </a:p>
          <a:p>
            <a:pPr algn="l">
              <a:lnSpc>
                <a:spcPct val="115000"/>
              </a:lnSpc>
              <a:spcBef>
                <a:spcPts val="0"/>
              </a:spcBef>
              <a:spcAft>
                <a:spcPts val="0"/>
              </a:spcAft>
            </a:pPr>
            <a:r>
              <a:rPr sz="1250" b="0" i="0">
                <a:solidFill>
                  <a:srgbClr val="EDEAF7"/>
                </a:solidFill>
                <a:latin typeface="Courier New"/>
              </a:rPr>
              <a:t>            produces = MediaType.TEXT_EVENT_STREAM_VALUE)</a:t>
            </a:r>
          </a:p>
          <a:p>
            <a:pPr algn="l">
              <a:lnSpc>
                <a:spcPct val="115000"/>
              </a:lnSpc>
              <a:spcBef>
                <a:spcPts val="0"/>
              </a:spcBef>
              <a:spcAft>
                <a:spcPts val="0"/>
              </a:spcAft>
            </a:pPr>
            <a:r>
              <a:rPr sz="1250" b="0" i="0">
                <a:solidFill>
                  <a:srgbClr val="FF9AC8"/>
                </a:solidFill>
                <a:latin typeface="Courier New"/>
              </a:rPr>
              <a:t>public</a:t>
            </a:r>
            <a:r>
              <a:rPr sz="1250" b="0" i="0">
                <a:solidFill>
                  <a:srgbClr val="EDEAF7"/>
                </a:solidFill>
                <a:latin typeface="Courier New"/>
              </a:rPr>
              <a:t> </a:t>
            </a:r>
            <a:r>
              <a:rPr sz="1250" b="0" i="0">
                <a:solidFill>
                  <a:srgbClr val="FF9AC8"/>
                </a:solidFill>
                <a:latin typeface="Courier New"/>
              </a:rPr>
              <a:t>Flux</a:t>
            </a:r>
            <a:r>
              <a:rPr sz="1250" b="0" i="0">
                <a:solidFill>
                  <a:srgbClr val="EDEAF7"/>
                </a:solidFill>
                <a:latin typeface="Courier New"/>
              </a:rPr>
              <a:t>&lt;</a:t>
            </a:r>
            <a:r>
              <a:rPr sz="1250" b="0" i="0">
                <a:solidFill>
                  <a:srgbClr val="FF9AC8"/>
                </a:solidFill>
                <a:latin typeface="Courier New"/>
              </a:rPr>
              <a:t>String</a:t>
            </a:r>
            <a:r>
              <a:rPr sz="1250" b="0" i="0">
                <a:solidFill>
                  <a:srgbClr val="EDEAF7"/>
                </a:solidFill>
                <a:latin typeface="Courier New"/>
              </a:rPr>
              <a:t>&gt; stream(</a:t>
            </a:r>
            <a:r>
              <a:rPr sz="1250" b="0" i="0">
                <a:solidFill>
                  <a:srgbClr val="F2A65A"/>
                </a:solidFill>
                <a:latin typeface="Courier New"/>
              </a:rPr>
              <a:t>@RequestParam</a:t>
            </a:r>
            <a:r>
              <a:rPr sz="1250" b="0" i="0">
                <a:solidFill>
                  <a:srgbClr val="EDEAF7"/>
                </a:solidFill>
                <a:latin typeface="Courier New"/>
              </a:rPr>
              <a:t> </a:t>
            </a:r>
            <a:r>
              <a:rPr sz="1250" b="0" i="0">
                <a:solidFill>
                  <a:srgbClr val="FF9AC8"/>
                </a:solidFill>
                <a:latin typeface="Courier New"/>
              </a:rPr>
              <a:t>String</a:t>
            </a:r>
            <a:r>
              <a:rPr sz="1250" b="0" i="0">
                <a:solidFill>
                  <a:srgbClr val="EDEAF7"/>
                </a:solidFill>
                <a:latin typeface="Courier New"/>
              </a:rPr>
              <a:t> message) {</a:t>
            </a:r>
          </a:p>
          <a:p>
            <a:pPr algn="l">
              <a:lnSpc>
                <a:spcPct val="115000"/>
              </a:lnSpc>
              <a:spcBef>
                <a:spcPts val="0"/>
              </a:spcBef>
              <a:spcAft>
                <a:spcPts val="0"/>
              </a:spcAft>
            </a:pPr>
            <a:r>
              <a:rPr sz="1250" b="0" i="0">
                <a:solidFill>
                  <a:srgbClr val="EDEAF7"/>
                </a:solidFill>
                <a:latin typeface="Courier New"/>
              </a:rPr>
              <a:t>    </a:t>
            </a:r>
            <a:r>
              <a:rPr sz="1250" b="0" i="0">
                <a:solidFill>
                  <a:srgbClr val="FF9AC8"/>
                </a:solidFill>
                <a:latin typeface="Courier New"/>
              </a:rPr>
              <a:t>return</a:t>
            </a:r>
            <a:r>
              <a:rPr sz="1250" b="0" i="0">
                <a:solidFill>
                  <a:srgbClr val="EDEAF7"/>
                </a:solidFill>
                <a:latin typeface="Courier New"/>
              </a:rPr>
              <a:t> chatClient.prompt()</a:t>
            </a:r>
          </a:p>
          <a:p>
            <a:pPr algn="l">
              <a:lnSpc>
                <a:spcPct val="115000"/>
              </a:lnSpc>
              <a:spcBef>
                <a:spcPts val="0"/>
              </a:spcBef>
              <a:spcAft>
                <a:spcPts val="0"/>
              </a:spcAft>
            </a:pPr>
            <a:r>
              <a:rPr sz="1250" b="0" i="0">
                <a:solidFill>
                  <a:srgbClr val="EDEAF7"/>
                </a:solidFill>
                <a:latin typeface="Courier New"/>
              </a:rPr>
              <a:t>            .user(message)</a:t>
            </a:r>
          </a:p>
          <a:p>
            <a:pPr algn="l">
              <a:lnSpc>
                <a:spcPct val="115000"/>
              </a:lnSpc>
              <a:spcBef>
                <a:spcPts val="0"/>
              </a:spcBef>
              <a:spcAft>
                <a:spcPts val="0"/>
              </a:spcAft>
            </a:pPr>
            <a:r>
              <a:rPr sz="1250" b="0" i="0">
                <a:solidFill>
                  <a:srgbClr val="EDEAF7"/>
                </a:solidFill>
                <a:latin typeface="Courier New"/>
              </a:rPr>
              <a:t>            .stream()</a:t>
            </a:r>
          </a:p>
          <a:p>
            <a:pPr algn="l">
              <a:lnSpc>
                <a:spcPct val="115000"/>
              </a:lnSpc>
              <a:spcBef>
                <a:spcPts val="0"/>
              </a:spcBef>
              <a:spcAft>
                <a:spcPts val="0"/>
              </a:spcAft>
            </a:pPr>
            <a:r>
              <a:rPr sz="1250" b="0" i="0">
                <a:solidFill>
                  <a:srgbClr val="EDEAF7"/>
                </a:solidFill>
                <a:latin typeface="Courier New"/>
              </a:rPr>
              <a:t>            .content();</a:t>
            </a:r>
          </a:p>
          <a:p>
            <a:pPr algn="l">
              <a:lnSpc>
                <a:spcPct val="115000"/>
              </a:lnSpc>
              <a:spcBef>
                <a:spcPts val="0"/>
              </a:spcBef>
              <a:spcAft>
                <a:spcPts val="0"/>
              </a:spcAft>
            </a:pPr>
            <a:r>
              <a:rPr sz="1250" b="0" i="0">
                <a:solidFill>
                  <a:srgbClr val="EDEAF7"/>
                </a:solidFill>
                <a:latin typeface="Courier New"/>
              </a:rPr>
              <a:t>}</a:t>
            </a:r>
          </a:p>
        </p:txBody>
      </p:sp>
      <p:sp>
        <p:nvSpPr>
          <p:cNvPr id="8" name="Rounded Rectangle 7"/>
          <p:cNvSpPr/>
          <p:nvPr/>
        </p:nvSpPr>
        <p:spPr>
          <a:xfrm>
            <a:off x="7360920" y="1188720"/>
            <a:ext cx="4279392" cy="2834640"/>
          </a:xfrm>
          <a:prstGeom prst="roundRect">
            <a:avLst>
              <a:gd name="adj" fmla="val 3870"/>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Why stream?</a:t>
            </a:r>
          </a:p>
          <a:p>
            <a:pPr marL="201168" indent="-201168" algn="l">
              <a:spcBef>
                <a:spcPts val="0"/>
              </a:spcBef>
              <a:spcAft>
                <a:spcPts val="300"/>
              </a:spcAft>
              <a:buClr>
                <a:srgbClr val="DFBE27"/>
              </a:buClr>
              <a:buFont typeface="Arial"/>
              <a:buChar char="•"/>
            </a:pPr>
            <a:r>
              <a:rPr sz="1400" b="0" i="0">
                <a:solidFill>
                  <a:srgbClr val="FFFFFF"/>
                </a:solidFill>
                <a:latin typeface="Calibri"/>
              </a:rPr>
              <a:t>Users see the first words almost immediately.</a:t>
            </a:r>
          </a:p>
          <a:p>
            <a:pPr marL="201168" indent="-201168" algn="l">
              <a:spcBef>
                <a:spcPts val="0"/>
              </a:spcBef>
              <a:spcAft>
                <a:spcPts val="300"/>
              </a:spcAft>
              <a:buClr>
                <a:srgbClr val="DFBE27"/>
              </a:buClr>
              <a:buFont typeface="Arial"/>
              <a:buChar char="•"/>
            </a:pPr>
            <a:r>
              <a:rPr sz="1400" b="0" i="0">
                <a:solidFill>
                  <a:srgbClr val="FFFFFF"/>
                </a:solidFill>
                <a:latin typeface="Calibri"/>
              </a:rPr>
              <a:t>Long answers feel responsive.</a:t>
            </a:r>
          </a:p>
          <a:p>
            <a:pPr marL="201168" indent="-201168" algn="l">
              <a:spcBef>
                <a:spcPts val="0"/>
              </a:spcBef>
              <a:spcAft>
                <a:spcPts val="300"/>
              </a:spcAft>
              <a:buClr>
                <a:srgbClr val="DFBE27"/>
              </a:buClr>
              <a:buFont typeface="Arial"/>
              <a:buChar char="•"/>
            </a:pPr>
            <a:r>
              <a:rPr sz="1400" b="0" i="0">
                <a:solidFill>
                  <a:srgbClr val="FFFFFF"/>
                </a:solidFill>
                <a:latin typeface="Calibri"/>
              </a:rPr>
              <a:t>Returns a reactive Flux&lt;String&gt; (Project Reactor).</a:t>
            </a:r>
          </a:p>
          <a:p>
            <a:pPr marL="201168" indent="-201168" algn="l">
              <a:spcBef>
                <a:spcPts val="0"/>
              </a:spcBef>
              <a:spcAft>
                <a:spcPts val="300"/>
              </a:spcAft>
              <a:buClr>
                <a:srgbClr val="DFBE27"/>
              </a:buClr>
              <a:buFont typeface="Arial"/>
              <a:buChar char="•"/>
            </a:pPr>
            <a:r>
              <a:rPr sz="1400" b="0" i="0">
                <a:solidFill>
                  <a:srgbClr val="FFFFFF"/>
                </a:solidFill>
                <a:latin typeface="Calibri"/>
              </a:rPr>
              <a:t>Try it: curl -N "localhost:8080/stream?message=hi"</a:t>
            </a:r>
          </a:p>
        </p:txBody>
      </p:sp>
      <p:sp>
        <p:nvSpPr>
          <p:cNvPr id="9" name="TextBox 8"/>
          <p:cNvSpPr txBox="1"/>
          <p:nvPr/>
        </p:nvSpPr>
        <p:spPr>
          <a:xfrm>
            <a:off x="548640" y="4160520"/>
            <a:ext cx="5486400" cy="365760"/>
          </a:xfrm>
          <a:prstGeom prst="rect">
            <a:avLst/>
          </a:prstGeom>
          <a:noFill/>
        </p:spPr>
        <p:txBody>
          <a:bodyPr wrap="square" lIns="45720" tIns="27432" rIns="45720" bIns="27432" anchor="t">
            <a:spAutoFit/>
          </a:bodyPr>
          <a:lstStyle/>
          <a:p>
            <a:pPr algn="l">
              <a:spcBef>
                <a:spcPts val="0"/>
              </a:spcBef>
              <a:spcAft>
                <a:spcPts val="0"/>
              </a:spcAft>
            </a:pPr>
            <a:r>
              <a:rPr sz="1800" b="1" i="0">
                <a:solidFill>
                  <a:srgbClr val="DFBE27"/>
                </a:solidFill>
                <a:latin typeface="Calibri"/>
              </a:rPr>
              <a:t>Same answer, different experience</a:t>
            </a:r>
          </a:p>
        </p:txBody>
      </p:sp>
      <p:sp>
        <p:nvSpPr>
          <p:cNvPr id="10" name="TextBox 9"/>
          <p:cNvSpPr txBox="1"/>
          <p:nvPr/>
        </p:nvSpPr>
        <p:spPr>
          <a:xfrm>
            <a:off x="548640" y="4663440"/>
            <a:ext cx="1920240" cy="685800"/>
          </a:xfrm>
          <a:prstGeom prst="rect">
            <a:avLst/>
          </a:prstGeom>
          <a:noFill/>
        </p:spPr>
        <p:txBody>
          <a:bodyPr wrap="square" lIns="45720" tIns="27432" rIns="45720" bIns="27432" anchor="ctr">
            <a:spAutoFit/>
          </a:bodyPr>
          <a:lstStyle/>
          <a:p>
            <a:pPr algn="l">
              <a:spcBef>
                <a:spcPts val="0"/>
              </a:spcBef>
              <a:spcAft>
                <a:spcPts val="0"/>
              </a:spcAft>
            </a:pPr>
            <a:r>
              <a:rPr sz="1600" b="1" i="0">
                <a:solidFill>
                  <a:srgbClr val="FFFFFF"/>
                </a:solidFill>
                <a:latin typeface="Courier New"/>
              </a:rPr>
              <a:t>call()</a:t>
            </a:r>
          </a:p>
        </p:txBody>
      </p:sp>
      <p:sp>
        <p:nvSpPr>
          <p:cNvPr id="11" name="Rounded Rectangle 10"/>
          <p:cNvSpPr/>
          <p:nvPr/>
        </p:nvSpPr>
        <p:spPr>
          <a:xfrm>
            <a:off x="2560320" y="4709160"/>
            <a:ext cx="5852160" cy="594360"/>
          </a:xfrm>
          <a:prstGeom prst="roundRect">
            <a:avLst>
              <a:gd name="adj" fmla="val 18461"/>
            </a:avLst>
          </a:prstGeom>
          <a:solidFill>
            <a:srgbClr val="2D2057"/>
          </a:solidFill>
          <a:ln>
            <a:noFill/>
          </a:ln>
        </p:spPr>
        <p:txBody>
          <a:bodyPr wrap="square" lIns="164592" tIns="109728" rIns="164592" bIns="109728" rtlCol="0" anchor="ctr"/>
          <a:lstStyle/>
          <a:p>
            <a:pPr algn="l">
              <a:spcBef>
                <a:spcPts val="0"/>
              </a:spcBef>
              <a:spcAft>
                <a:spcPts val="0"/>
              </a:spcAft>
            </a:pPr>
            <a:r>
              <a:rPr sz="1400" b="0" i="0">
                <a:solidFill>
                  <a:srgbClr val="C4BAE3"/>
                </a:solidFill>
                <a:latin typeface="Calibri"/>
              </a:rPr>
              <a:t>Waiting for the complete answer…</a:t>
            </a:r>
          </a:p>
        </p:txBody>
      </p:sp>
      <p:sp>
        <p:nvSpPr>
          <p:cNvPr id="12" name="Rounded Rectangle 11"/>
          <p:cNvSpPr/>
          <p:nvPr/>
        </p:nvSpPr>
        <p:spPr>
          <a:xfrm>
            <a:off x="8503920" y="4709160"/>
            <a:ext cx="3136392" cy="594360"/>
          </a:xfrm>
          <a:prstGeom prst="roundRect">
            <a:avLst>
              <a:gd name="adj" fmla="val 18461"/>
            </a:avLst>
          </a:prstGeom>
          <a:solidFill>
            <a:srgbClr val="DFBE27"/>
          </a:solidFill>
          <a:ln>
            <a:noFill/>
          </a:ln>
        </p:spPr>
        <p:txBody>
          <a:bodyPr wrap="square" lIns="164592" tIns="109728" rIns="164592" bIns="109728" rtlCol="0" anchor="ctr"/>
          <a:lstStyle/>
          <a:p>
            <a:pPr algn="ctr">
              <a:spcBef>
                <a:spcPts val="0"/>
              </a:spcBef>
              <a:spcAft>
                <a:spcPts val="0"/>
              </a:spcAft>
            </a:pPr>
            <a:r>
              <a:rPr sz="1400" b="1" i="0">
                <a:solidFill>
                  <a:srgbClr val="1E1139"/>
                </a:solidFill>
                <a:latin typeface="Calibri"/>
              </a:rPr>
              <a:t>Whole answer appears</a:t>
            </a:r>
          </a:p>
        </p:txBody>
      </p:sp>
      <p:sp>
        <p:nvSpPr>
          <p:cNvPr id="13" name="TextBox 12"/>
          <p:cNvSpPr txBox="1"/>
          <p:nvPr/>
        </p:nvSpPr>
        <p:spPr>
          <a:xfrm>
            <a:off x="548640" y="5532120"/>
            <a:ext cx="1920240" cy="685800"/>
          </a:xfrm>
          <a:prstGeom prst="rect">
            <a:avLst/>
          </a:prstGeom>
          <a:noFill/>
        </p:spPr>
        <p:txBody>
          <a:bodyPr wrap="square" lIns="45720" tIns="27432" rIns="45720" bIns="27432" anchor="ctr">
            <a:spAutoFit/>
          </a:bodyPr>
          <a:lstStyle/>
          <a:p>
            <a:pPr algn="l">
              <a:spcBef>
                <a:spcPts val="0"/>
              </a:spcBef>
              <a:spcAft>
                <a:spcPts val="0"/>
              </a:spcAft>
            </a:pPr>
            <a:r>
              <a:rPr sz="1600" b="1" i="0">
                <a:solidFill>
                  <a:srgbClr val="FFFFFF"/>
                </a:solidFill>
                <a:latin typeface="Courier New"/>
              </a:rPr>
              <a:t>stream()</a:t>
            </a:r>
          </a:p>
        </p:txBody>
      </p:sp>
      <p:sp>
        <p:nvSpPr>
          <p:cNvPr id="14" name="Rounded Rectangle 13"/>
          <p:cNvSpPr/>
          <p:nvPr/>
        </p:nvSpPr>
        <p:spPr>
          <a:xfrm>
            <a:off x="2560320" y="5577840"/>
            <a:ext cx="1188720" cy="594360"/>
          </a:xfrm>
          <a:prstGeom prst="roundRect">
            <a:avLst>
              <a:gd name="adj" fmla="val 18461"/>
            </a:avLst>
          </a:prstGeom>
          <a:solidFill>
            <a:srgbClr val="4A3A8F"/>
          </a:solidFill>
          <a:ln>
            <a:noFill/>
          </a:ln>
        </p:spPr>
        <p:txBody>
          <a:bodyPr wrap="square" lIns="45720" rIns="45720" rtlCol="0" anchor="ctr"/>
          <a:lstStyle/>
          <a:p>
            <a:pPr algn="ctr">
              <a:spcBef>
                <a:spcPts val="0"/>
              </a:spcBef>
              <a:spcAft>
                <a:spcPts val="0"/>
              </a:spcAft>
            </a:pPr>
            <a:r>
              <a:rPr sz="1400" b="0" i="0">
                <a:solidFill>
                  <a:srgbClr val="FFFFFF"/>
                </a:solidFill>
                <a:latin typeface="Courier New"/>
              </a:rPr>
              <a:t>Spring</a:t>
            </a:r>
          </a:p>
        </p:txBody>
      </p:sp>
      <p:sp>
        <p:nvSpPr>
          <p:cNvPr id="15" name="Rounded Rectangle 14"/>
          <p:cNvSpPr/>
          <p:nvPr/>
        </p:nvSpPr>
        <p:spPr>
          <a:xfrm>
            <a:off x="3858768" y="5577840"/>
            <a:ext cx="1188720" cy="594360"/>
          </a:xfrm>
          <a:prstGeom prst="roundRect">
            <a:avLst>
              <a:gd name="adj" fmla="val 18461"/>
            </a:avLst>
          </a:prstGeom>
          <a:solidFill>
            <a:srgbClr val="3B2D74"/>
          </a:solidFill>
          <a:ln>
            <a:noFill/>
          </a:ln>
        </p:spPr>
        <p:txBody>
          <a:bodyPr wrap="square" lIns="45720" rIns="45720" rtlCol="0" anchor="ctr"/>
          <a:lstStyle/>
          <a:p>
            <a:pPr algn="ctr">
              <a:spcBef>
                <a:spcPts val="0"/>
              </a:spcBef>
              <a:spcAft>
                <a:spcPts val="0"/>
              </a:spcAft>
            </a:pPr>
            <a:r>
              <a:rPr sz="1400" b="0" i="0">
                <a:solidFill>
                  <a:srgbClr val="FFFFFF"/>
                </a:solidFill>
                <a:latin typeface="Courier New"/>
              </a:rPr>
              <a:t> AI</a:t>
            </a:r>
          </a:p>
        </p:txBody>
      </p:sp>
      <p:sp>
        <p:nvSpPr>
          <p:cNvPr id="16" name="Rounded Rectangle 15"/>
          <p:cNvSpPr/>
          <p:nvPr/>
        </p:nvSpPr>
        <p:spPr>
          <a:xfrm>
            <a:off x="5157216" y="5577840"/>
            <a:ext cx="1188720" cy="594360"/>
          </a:xfrm>
          <a:prstGeom prst="roundRect">
            <a:avLst>
              <a:gd name="adj" fmla="val 18461"/>
            </a:avLst>
          </a:prstGeom>
          <a:solidFill>
            <a:srgbClr val="4A3A8F"/>
          </a:solidFill>
          <a:ln>
            <a:noFill/>
          </a:ln>
        </p:spPr>
        <p:txBody>
          <a:bodyPr wrap="square" lIns="45720" rIns="45720" rtlCol="0" anchor="ctr"/>
          <a:lstStyle/>
          <a:p>
            <a:pPr algn="ctr">
              <a:spcBef>
                <a:spcPts val="0"/>
              </a:spcBef>
              <a:spcAft>
                <a:spcPts val="0"/>
              </a:spcAft>
            </a:pPr>
            <a:r>
              <a:rPr sz="1400" b="0" i="0">
                <a:solidFill>
                  <a:srgbClr val="FFFFFF"/>
                </a:solidFill>
                <a:latin typeface="Courier New"/>
              </a:rPr>
              <a:t> makes</a:t>
            </a:r>
          </a:p>
        </p:txBody>
      </p:sp>
      <p:sp>
        <p:nvSpPr>
          <p:cNvPr id="17" name="Rounded Rectangle 16"/>
          <p:cNvSpPr/>
          <p:nvPr/>
        </p:nvSpPr>
        <p:spPr>
          <a:xfrm>
            <a:off x="6455664" y="5577840"/>
            <a:ext cx="1188720" cy="594360"/>
          </a:xfrm>
          <a:prstGeom prst="roundRect">
            <a:avLst>
              <a:gd name="adj" fmla="val 18461"/>
            </a:avLst>
          </a:prstGeom>
          <a:solidFill>
            <a:srgbClr val="3B2D74"/>
          </a:solidFill>
          <a:ln>
            <a:noFill/>
          </a:ln>
        </p:spPr>
        <p:txBody>
          <a:bodyPr wrap="square" lIns="45720" rIns="45720" rtlCol="0" anchor="ctr"/>
          <a:lstStyle/>
          <a:p>
            <a:pPr algn="ctr">
              <a:spcBef>
                <a:spcPts val="0"/>
              </a:spcBef>
              <a:spcAft>
                <a:spcPts val="0"/>
              </a:spcAft>
            </a:pPr>
            <a:r>
              <a:rPr sz="1400" b="0" i="0">
                <a:solidFill>
                  <a:srgbClr val="FFFFFF"/>
                </a:solidFill>
                <a:latin typeface="Courier New"/>
              </a:rPr>
              <a:t> LLM</a:t>
            </a:r>
          </a:p>
        </p:txBody>
      </p:sp>
      <p:sp>
        <p:nvSpPr>
          <p:cNvPr id="18" name="Rounded Rectangle 17"/>
          <p:cNvSpPr/>
          <p:nvPr/>
        </p:nvSpPr>
        <p:spPr>
          <a:xfrm>
            <a:off x="7754112" y="5577840"/>
            <a:ext cx="1188720" cy="594360"/>
          </a:xfrm>
          <a:prstGeom prst="roundRect">
            <a:avLst>
              <a:gd name="adj" fmla="val 18461"/>
            </a:avLst>
          </a:prstGeom>
          <a:solidFill>
            <a:srgbClr val="4A3A8F"/>
          </a:solidFill>
          <a:ln>
            <a:noFill/>
          </a:ln>
        </p:spPr>
        <p:txBody>
          <a:bodyPr wrap="square" lIns="45720" rIns="45720" rtlCol="0" anchor="ctr"/>
          <a:lstStyle/>
          <a:p>
            <a:pPr algn="ctr">
              <a:spcBef>
                <a:spcPts val="0"/>
              </a:spcBef>
              <a:spcAft>
                <a:spcPts val="0"/>
              </a:spcAft>
            </a:pPr>
            <a:r>
              <a:rPr sz="1400" b="0" i="0">
                <a:solidFill>
                  <a:srgbClr val="FFFFFF"/>
                </a:solidFill>
                <a:latin typeface="Courier New"/>
              </a:rPr>
              <a:t> calls</a:t>
            </a:r>
          </a:p>
        </p:txBody>
      </p:sp>
      <p:sp>
        <p:nvSpPr>
          <p:cNvPr id="19" name="Rounded Rectangle 18"/>
          <p:cNvSpPr/>
          <p:nvPr/>
        </p:nvSpPr>
        <p:spPr>
          <a:xfrm>
            <a:off x="9052559" y="5577840"/>
            <a:ext cx="1188720" cy="594360"/>
          </a:xfrm>
          <a:prstGeom prst="roundRect">
            <a:avLst>
              <a:gd name="adj" fmla="val 18461"/>
            </a:avLst>
          </a:prstGeom>
          <a:solidFill>
            <a:srgbClr val="3B2D74"/>
          </a:solidFill>
          <a:ln>
            <a:noFill/>
          </a:ln>
        </p:spPr>
        <p:txBody>
          <a:bodyPr wrap="square" lIns="45720" rIns="45720" rtlCol="0" anchor="ctr"/>
          <a:lstStyle/>
          <a:p>
            <a:pPr algn="ctr">
              <a:spcBef>
                <a:spcPts val="0"/>
              </a:spcBef>
              <a:spcAft>
                <a:spcPts val="0"/>
              </a:spcAft>
            </a:pPr>
            <a:r>
              <a:rPr sz="1400" b="0" i="0">
                <a:solidFill>
                  <a:srgbClr val="FFFFFF"/>
                </a:solidFill>
                <a:latin typeface="Courier New"/>
              </a:rPr>
              <a:t> easy</a:t>
            </a:r>
          </a:p>
        </p:txBody>
      </p:sp>
      <p:sp>
        <p:nvSpPr>
          <p:cNvPr id="20" name="Rounded Rectangle 19"/>
          <p:cNvSpPr/>
          <p:nvPr/>
        </p:nvSpPr>
        <p:spPr>
          <a:xfrm>
            <a:off x="10351008" y="5577840"/>
            <a:ext cx="1188720" cy="594360"/>
          </a:xfrm>
          <a:prstGeom prst="roundRect">
            <a:avLst>
              <a:gd name="adj" fmla="val 18461"/>
            </a:avLst>
          </a:prstGeom>
          <a:solidFill>
            <a:srgbClr val="4A3A8F"/>
          </a:solidFill>
          <a:ln>
            <a:noFill/>
          </a:ln>
        </p:spPr>
        <p:txBody>
          <a:bodyPr wrap="square" lIns="45720" rIns="45720" rtlCol="0" anchor="ctr"/>
          <a:lstStyle/>
          <a:p>
            <a:pPr algn="ctr">
              <a:spcBef>
                <a:spcPts val="0"/>
              </a:spcBef>
              <a:spcAft>
                <a:spcPts val="0"/>
              </a:spcAft>
            </a:pPr>
            <a:r>
              <a:rPr sz="1400" b="0" i="0">
                <a:solidFill>
                  <a:srgbClr val="FFFFFF"/>
                </a:solidFill>
                <a:latin typeface="Courier New"/>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Structured Output: LLM to Java Objects</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234440"/>
            <a:ext cx="5943600" cy="2606040"/>
          </a:xfrm>
          <a:prstGeom prst="roundRect">
            <a:avLst>
              <a:gd name="adj" fmla="val 3508"/>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6" name="TextBox 5"/>
          <p:cNvSpPr txBox="1"/>
          <p:nvPr/>
        </p:nvSpPr>
        <p:spPr>
          <a:xfrm>
            <a:off x="731520" y="1325880"/>
            <a:ext cx="5577840"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Ask for a typed result</a:t>
            </a:r>
          </a:p>
        </p:txBody>
      </p:sp>
      <p:sp>
        <p:nvSpPr>
          <p:cNvPr id="7" name="TextBox 6"/>
          <p:cNvSpPr txBox="1"/>
          <p:nvPr/>
        </p:nvSpPr>
        <p:spPr>
          <a:xfrm>
            <a:off x="731520" y="1709928"/>
            <a:ext cx="5577840" cy="2039112"/>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300" b="0" i="0">
                <a:solidFill>
                  <a:srgbClr val="FF9AC8"/>
                </a:solidFill>
                <a:latin typeface="Courier New"/>
              </a:rPr>
              <a:t>record</a:t>
            </a:r>
            <a:r>
              <a:rPr sz="1300" b="0" i="0">
                <a:solidFill>
                  <a:srgbClr val="EDEAF7"/>
                </a:solidFill>
                <a:latin typeface="Courier New"/>
              </a:rPr>
              <a:t> Course(</a:t>
            </a:r>
            <a:r>
              <a:rPr sz="1300" b="0" i="0">
                <a:solidFill>
                  <a:srgbClr val="FF9AC8"/>
                </a:solidFill>
                <a:latin typeface="Courier New"/>
              </a:rPr>
              <a:t>String</a:t>
            </a:r>
            <a:r>
              <a:rPr sz="1300" b="0" i="0">
                <a:solidFill>
                  <a:srgbClr val="EDEAF7"/>
                </a:solidFill>
                <a:latin typeface="Courier New"/>
              </a:rPr>
              <a:t> title, </a:t>
            </a:r>
            <a:r>
              <a:rPr sz="1300" b="0" i="0">
                <a:solidFill>
                  <a:srgbClr val="FF9AC8"/>
                </a:solidFill>
                <a:latin typeface="Courier New"/>
              </a:rPr>
              <a:t>String</a:t>
            </a:r>
            <a:r>
              <a:rPr sz="1300" b="0" i="0">
                <a:solidFill>
                  <a:srgbClr val="EDEAF7"/>
                </a:solidFill>
                <a:latin typeface="Courier New"/>
              </a:rPr>
              <a:t> level,</a:t>
            </a:r>
          </a:p>
          <a:p>
            <a:pPr algn="l">
              <a:lnSpc>
                <a:spcPct val="115000"/>
              </a:lnSpc>
              <a:spcBef>
                <a:spcPts val="0"/>
              </a:spcBef>
              <a:spcAft>
                <a:spcPts val="0"/>
              </a:spcAft>
            </a:pPr>
            <a:r>
              <a:rPr sz="1300" b="0" i="0">
                <a:solidFill>
                  <a:srgbClr val="EDEAF7"/>
                </a:solidFill>
                <a:latin typeface="Courier New"/>
              </a:rPr>
              <a:t>              </a:t>
            </a:r>
            <a:r>
              <a:rPr sz="1300" b="0" i="0">
                <a:solidFill>
                  <a:srgbClr val="FF9AC8"/>
                </a:solidFill>
                <a:latin typeface="Courier New"/>
              </a:rPr>
              <a:t>List</a:t>
            </a:r>
            <a:r>
              <a:rPr sz="1300" b="0" i="0">
                <a:solidFill>
                  <a:srgbClr val="EDEAF7"/>
                </a:solidFill>
                <a:latin typeface="Courier New"/>
              </a:rPr>
              <a:t>&lt;</a:t>
            </a:r>
            <a:r>
              <a:rPr sz="1300" b="0" i="0">
                <a:solidFill>
                  <a:srgbClr val="FF9AC8"/>
                </a:solidFill>
                <a:latin typeface="Courier New"/>
              </a:rPr>
              <a:t>String</a:t>
            </a:r>
            <a:r>
              <a:rPr sz="1300" b="0" i="0">
                <a:solidFill>
                  <a:srgbClr val="EDEAF7"/>
                </a:solidFill>
                <a:latin typeface="Courier New"/>
              </a:rPr>
              <a:t>&gt; topics) { }</a:t>
            </a:r>
          </a:p>
          <a:p>
            <a:pPr algn="l">
              <a:lnSpc>
                <a:spcPct val="115000"/>
              </a:lnSpc>
              <a:spcBef>
                <a:spcPts val="0"/>
              </a:spcBef>
              <a:spcAft>
                <a:spcPts val="0"/>
              </a:spcAft>
            </a:pPr>
            <a:r>
              <a:rPr sz="1300" b="0" i="0">
                <a:solidFill>
                  <a:srgbClr val="EDEAF7"/>
                </a:solidFill>
                <a:latin typeface="Courier New"/>
              </a:rPr>
              <a:t> </a:t>
            </a:r>
          </a:p>
          <a:p>
            <a:pPr algn="l">
              <a:lnSpc>
                <a:spcPct val="115000"/>
              </a:lnSpc>
              <a:spcBef>
                <a:spcPts val="0"/>
              </a:spcBef>
              <a:spcAft>
                <a:spcPts val="0"/>
              </a:spcAft>
            </a:pPr>
            <a:r>
              <a:rPr sz="1300" b="0" i="0">
                <a:solidFill>
                  <a:srgbClr val="EDEAF7"/>
                </a:solidFill>
                <a:latin typeface="Courier New"/>
              </a:rPr>
              <a:t>Course course = chatClient.prompt()</a:t>
            </a:r>
          </a:p>
          <a:p>
            <a:pPr algn="l">
              <a:lnSpc>
                <a:spcPct val="115000"/>
              </a:lnSpc>
              <a:spcBef>
                <a:spcPts val="0"/>
              </a:spcBef>
              <a:spcAft>
                <a:spcPts val="0"/>
              </a:spcAft>
            </a:pPr>
            <a:r>
              <a:rPr sz="1300" b="0" i="0">
                <a:solidFill>
                  <a:srgbClr val="EDEAF7"/>
                </a:solidFill>
                <a:latin typeface="Courier New"/>
              </a:rPr>
              <a:t>    .user(</a:t>
            </a:r>
            <a:r>
              <a:rPr sz="1300" b="0" i="0">
                <a:solidFill>
                  <a:srgbClr val="8EE6A0"/>
                </a:solidFill>
                <a:latin typeface="Courier New"/>
              </a:rPr>
              <a:t>"Create a short course on Spring AI"</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.call()</a:t>
            </a:r>
          </a:p>
          <a:p>
            <a:pPr algn="l">
              <a:lnSpc>
                <a:spcPct val="115000"/>
              </a:lnSpc>
              <a:spcBef>
                <a:spcPts val="0"/>
              </a:spcBef>
              <a:spcAft>
                <a:spcPts val="0"/>
              </a:spcAft>
            </a:pPr>
            <a:r>
              <a:rPr sz="1300" b="0" i="0">
                <a:solidFill>
                  <a:srgbClr val="EDEAF7"/>
                </a:solidFill>
                <a:latin typeface="Courier New"/>
              </a:rPr>
              <a:t>    .entity(Course.</a:t>
            </a:r>
            <a:r>
              <a:rPr sz="1300" b="0" i="0">
                <a:solidFill>
                  <a:srgbClr val="FF9AC8"/>
                </a:solidFill>
                <a:latin typeface="Courier New"/>
              </a:rPr>
              <a:t>class</a:t>
            </a:r>
            <a:r>
              <a:rPr sz="1300" b="0" i="0">
                <a:solidFill>
                  <a:srgbClr val="EDEAF7"/>
                </a:solidFill>
                <a:latin typeface="Courier New"/>
              </a:rPr>
              <a:t>);</a:t>
            </a:r>
          </a:p>
        </p:txBody>
      </p:sp>
      <p:sp>
        <p:nvSpPr>
          <p:cNvPr id="8" name="Rounded Rectangle 7"/>
          <p:cNvSpPr/>
          <p:nvPr/>
        </p:nvSpPr>
        <p:spPr>
          <a:xfrm>
            <a:off x="6720840" y="1234440"/>
            <a:ext cx="4919472" cy="2606040"/>
          </a:xfrm>
          <a:prstGeom prst="roundRect">
            <a:avLst>
              <a:gd name="adj" fmla="val 3508"/>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9" name="TextBox 8"/>
          <p:cNvSpPr txBox="1"/>
          <p:nvPr/>
        </p:nvSpPr>
        <p:spPr>
          <a:xfrm>
            <a:off x="6903720" y="1325880"/>
            <a:ext cx="4553712" cy="329184"/>
          </a:xfrm>
          <a:prstGeom prst="rect">
            <a:avLst/>
          </a:prstGeom>
          <a:noFill/>
        </p:spPr>
        <p:txBody>
          <a:bodyPr wrap="square" lIns="45720" tIns="27432" rIns="45720" bIns="27432" anchor="t">
            <a:spAutoFit/>
          </a:bodyPr>
          <a:lstStyle/>
          <a:p>
            <a:pPr algn="l">
              <a:spcBef>
                <a:spcPts val="0"/>
              </a:spcBef>
              <a:spcAft>
                <a:spcPts val="0"/>
              </a:spcAft>
            </a:pPr>
            <a:r>
              <a:rPr sz="1400" b="1" i="0">
                <a:solidFill>
                  <a:srgbClr val="DFBE27"/>
                </a:solidFill>
                <a:latin typeface="Calibri"/>
              </a:rPr>
              <a:t>What the model returns</a:t>
            </a:r>
          </a:p>
        </p:txBody>
      </p:sp>
      <p:sp>
        <p:nvSpPr>
          <p:cNvPr id="10" name="TextBox 9"/>
          <p:cNvSpPr txBox="1"/>
          <p:nvPr/>
        </p:nvSpPr>
        <p:spPr>
          <a:xfrm>
            <a:off x="6903720" y="1709928"/>
            <a:ext cx="4553712" cy="2039112"/>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"title"</a:t>
            </a:r>
            <a:r>
              <a:rPr sz="1300" b="0" i="0">
                <a:solidFill>
                  <a:srgbClr val="EDEAF7"/>
                </a:solidFill>
                <a:latin typeface="Courier New"/>
              </a:rPr>
              <a:t>: </a:t>
            </a:r>
            <a:r>
              <a:rPr sz="1300" b="0" i="0">
                <a:solidFill>
                  <a:srgbClr val="8EE6A0"/>
                </a:solidFill>
                <a:latin typeface="Courier New"/>
              </a:rPr>
              <a:t>"Spring AI Basics"</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"level"</a:t>
            </a:r>
            <a:r>
              <a:rPr sz="1300" b="0" i="0">
                <a:solidFill>
                  <a:srgbClr val="EDEAF7"/>
                </a:solidFill>
                <a:latin typeface="Courier New"/>
              </a:rPr>
              <a:t>: </a:t>
            </a:r>
            <a:r>
              <a:rPr sz="1300" b="0" i="0">
                <a:solidFill>
                  <a:srgbClr val="8EE6A0"/>
                </a:solidFill>
                <a:latin typeface="Courier New"/>
              </a:rPr>
              <a:t>"Beginner"</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  </a:t>
            </a:r>
            <a:r>
              <a:rPr sz="1300" b="0" i="0">
                <a:solidFill>
                  <a:srgbClr val="8EE6A0"/>
                </a:solidFill>
                <a:latin typeface="Courier New"/>
              </a:rPr>
              <a:t>"topics"</a:t>
            </a:r>
            <a:r>
              <a:rPr sz="1300" b="0" i="0">
                <a:solidFill>
                  <a:srgbClr val="EDEAF7"/>
                </a:solidFill>
                <a:latin typeface="Courier New"/>
              </a:rPr>
              <a:t>: [</a:t>
            </a:r>
            <a:r>
              <a:rPr sz="1300" b="0" i="0">
                <a:solidFill>
                  <a:srgbClr val="8EE6A0"/>
                </a:solidFill>
                <a:latin typeface="Courier New"/>
              </a:rPr>
              <a:t>"ChatClient"</a:t>
            </a:r>
            <a:r>
              <a:rPr sz="1300" b="0" i="0">
                <a:solidFill>
                  <a:srgbClr val="EDEAF7"/>
                </a:solidFill>
                <a:latin typeface="Courier New"/>
              </a:rPr>
              <a:t>, </a:t>
            </a:r>
            <a:r>
              <a:rPr sz="1300" b="0" i="0">
                <a:solidFill>
                  <a:srgbClr val="8EE6A0"/>
                </a:solidFill>
                <a:latin typeface="Courier New"/>
              </a:rPr>
              <a:t>"RAG"</a:t>
            </a:r>
            <a:r>
              <a:rPr sz="1300" b="0" i="0">
                <a:solidFill>
                  <a:srgbClr val="EDEAF7"/>
                </a:solidFill>
                <a:latin typeface="Courier New"/>
              </a:rPr>
              <a:t>]</a:t>
            </a:r>
          </a:p>
          <a:p>
            <a:pPr algn="l">
              <a:lnSpc>
                <a:spcPct val="115000"/>
              </a:lnSpc>
              <a:spcBef>
                <a:spcPts val="0"/>
              </a:spcBef>
              <a:spcAft>
                <a:spcPts val="0"/>
              </a:spcAft>
            </a:pPr>
            <a:r>
              <a:rPr sz="1300" b="0" i="0">
                <a:solidFill>
                  <a:srgbClr val="EDEAF7"/>
                </a:solidFill>
                <a:latin typeface="Courier New"/>
              </a:rPr>
              <a:t>}</a:t>
            </a:r>
          </a:p>
        </p:txBody>
      </p:sp>
      <p:sp>
        <p:nvSpPr>
          <p:cNvPr id="11" name="Rounded Rectangle 10"/>
          <p:cNvSpPr/>
          <p:nvPr/>
        </p:nvSpPr>
        <p:spPr>
          <a:xfrm>
            <a:off x="548640" y="4114800"/>
            <a:ext cx="2331720" cy="1280160"/>
          </a:xfrm>
          <a:prstGeom prst="roundRect">
            <a:avLst>
              <a:gd name="adj" fmla="val 8571"/>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Prompt</a:t>
            </a:r>
          </a:p>
          <a:p>
            <a:pPr algn="l">
              <a:spcBef>
                <a:spcPts val="0"/>
              </a:spcBef>
              <a:spcAft>
                <a:spcPts val="300"/>
              </a:spcAft>
            </a:pPr>
            <a:r>
              <a:rPr sz="1400" b="0" i="0">
                <a:solidFill>
                  <a:srgbClr val="FFFFFF"/>
                </a:solidFill>
                <a:latin typeface="Calibri"/>
              </a:rPr>
              <a:t>plus format instructions</a:t>
            </a:r>
          </a:p>
        </p:txBody>
      </p:sp>
      <p:sp>
        <p:nvSpPr>
          <p:cNvPr id="12" name="Right Arrow 11"/>
          <p:cNvSpPr/>
          <p:nvPr/>
        </p:nvSpPr>
        <p:spPr>
          <a:xfrm>
            <a:off x="2953512" y="4572000"/>
            <a:ext cx="411480" cy="365760"/>
          </a:xfrm>
          <a:prstGeom prst="rightArrow">
            <a:avLst/>
          </a:prstGeom>
          <a:solidFill>
            <a:srgbClr val="DFBE27"/>
          </a:solidFill>
          <a:ln>
            <a:noFill/>
          </a:ln>
        </p:spPr>
        <p:txBody>
          <a:bodyPr wrap="square" lIns="164592" tIns="109728" rIns="164592" bIns="109728" rtlCol="0" anchor="t"/>
          <a:lstStyle/>
          <a:p>
            <a:pPr algn="ctr"/>
            <a:endParaRPr/>
          </a:p>
        </p:txBody>
      </p:sp>
      <p:sp>
        <p:nvSpPr>
          <p:cNvPr id="13" name="Rounded Rectangle 12"/>
          <p:cNvSpPr/>
          <p:nvPr/>
        </p:nvSpPr>
        <p:spPr>
          <a:xfrm>
            <a:off x="3465576" y="4114800"/>
            <a:ext cx="2331720" cy="1280160"/>
          </a:xfrm>
          <a:prstGeom prst="roundRect">
            <a:avLst>
              <a:gd name="adj" fmla="val 8571"/>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LLM</a:t>
            </a:r>
          </a:p>
          <a:p>
            <a:pPr algn="l">
              <a:spcBef>
                <a:spcPts val="0"/>
              </a:spcBef>
              <a:spcAft>
                <a:spcPts val="300"/>
              </a:spcAft>
            </a:pPr>
            <a:r>
              <a:rPr sz="1400" b="0" i="0">
                <a:solidFill>
                  <a:srgbClr val="FFFFFF"/>
                </a:solidFill>
                <a:latin typeface="Calibri"/>
              </a:rPr>
              <a:t>replies with JSON</a:t>
            </a:r>
          </a:p>
        </p:txBody>
      </p:sp>
      <p:sp>
        <p:nvSpPr>
          <p:cNvPr id="14" name="Right Arrow 13"/>
          <p:cNvSpPr/>
          <p:nvPr/>
        </p:nvSpPr>
        <p:spPr>
          <a:xfrm>
            <a:off x="5870448" y="4572000"/>
            <a:ext cx="411480" cy="365760"/>
          </a:xfrm>
          <a:prstGeom prst="rightArrow">
            <a:avLst/>
          </a:prstGeom>
          <a:solidFill>
            <a:srgbClr val="DFBE27"/>
          </a:solidFill>
          <a:ln>
            <a:noFill/>
          </a:ln>
        </p:spPr>
        <p:txBody>
          <a:bodyPr wrap="square" lIns="164592" tIns="109728" rIns="164592" bIns="109728" rtlCol="0" anchor="t"/>
          <a:lstStyle/>
          <a:p>
            <a:pPr algn="ctr"/>
            <a:endParaRPr/>
          </a:p>
        </p:txBody>
      </p:sp>
      <p:sp>
        <p:nvSpPr>
          <p:cNvPr id="15" name="Rounded Rectangle 14"/>
          <p:cNvSpPr/>
          <p:nvPr/>
        </p:nvSpPr>
        <p:spPr>
          <a:xfrm>
            <a:off x="6382512" y="4114800"/>
            <a:ext cx="2331720" cy="1280160"/>
          </a:xfrm>
          <a:prstGeom prst="roundRect">
            <a:avLst>
              <a:gd name="adj" fmla="val 8571"/>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Converter</a:t>
            </a:r>
          </a:p>
          <a:p>
            <a:pPr algn="l">
              <a:spcBef>
                <a:spcPts val="0"/>
              </a:spcBef>
              <a:spcAft>
                <a:spcPts val="300"/>
              </a:spcAft>
            </a:pPr>
            <a:r>
              <a:rPr sz="1400" b="0" i="0">
                <a:solidFill>
                  <a:srgbClr val="FFFFFF"/>
                </a:solidFill>
                <a:latin typeface="Calibri"/>
              </a:rPr>
              <a:t>maps JSON to your type</a:t>
            </a:r>
          </a:p>
        </p:txBody>
      </p:sp>
      <p:sp>
        <p:nvSpPr>
          <p:cNvPr id="16" name="Right Arrow 15"/>
          <p:cNvSpPr/>
          <p:nvPr/>
        </p:nvSpPr>
        <p:spPr>
          <a:xfrm>
            <a:off x="8787384" y="4572000"/>
            <a:ext cx="411480" cy="365760"/>
          </a:xfrm>
          <a:prstGeom prst="rightArrow">
            <a:avLst/>
          </a:prstGeom>
          <a:solidFill>
            <a:srgbClr val="DFBE27"/>
          </a:solidFill>
          <a:ln>
            <a:noFill/>
          </a:ln>
        </p:spPr>
        <p:txBody>
          <a:bodyPr wrap="square" lIns="164592" tIns="109728" rIns="164592" bIns="109728" rtlCol="0" anchor="t"/>
          <a:lstStyle/>
          <a:p>
            <a:pPr algn="ctr"/>
            <a:endParaRPr/>
          </a:p>
        </p:txBody>
      </p:sp>
      <p:sp>
        <p:nvSpPr>
          <p:cNvPr id="17" name="Rounded Rectangle 16"/>
          <p:cNvSpPr/>
          <p:nvPr/>
        </p:nvSpPr>
        <p:spPr>
          <a:xfrm>
            <a:off x="9299448" y="4114800"/>
            <a:ext cx="2331720" cy="1280160"/>
          </a:xfrm>
          <a:prstGeom prst="roundRect">
            <a:avLst>
              <a:gd name="adj" fmla="val 8571"/>
            </a:avLst>
          </a:prstGeom>
          <a:solidFill>
            <a:srgbClr val="3B2D74"/>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Course</a:t>
            </a:r>
          </a:p>
          <a:p>
            <a:pPr algn="l">
              <a:spcBef>
                <a:spcPts val="0"/>
              </a:spcBef>
              <a:spcAft>
                <a:spcPts val="300"/>
              </a:spcAft>
            </a:pPr>
            <a:r>
              <a:rPr sz="1400" b="0" i="0">
                <a:solidFill>
                  <a:srgbClr val="FFFFFF"/>
                </a:solidFill>
                <a:latin typeface="Calibri"/>
              </a:rPr>
              <a:t>a ready-to-use record</a:t>
            </a:r>
          </a:p>
        </p:txBody>
      </p:sp>
      <p:sp>
        <p:nvSpPr>
          <p:cNvPr id="18" name="Rounded Rectangle 17"/>
          <p:cNvSpPr/>
          <p:nvPr/>
        </p:nvSpPr>
        <p:spPr>
          <a:xfrm>
            <a:off x="548640" y="5577840"/>
            <a:ext cx="11091672" cy="731520"/>
          </a:xfrm>
          <a:prstGeom prst="roundRect">
            <a:avLst>
              <a:gd name="adj" fmla="val 15000"/>
            </a:avLst>
          </a:prstGeom>
          <a:solidFill>
            <a:srgbClr val="2D2057"/>
          </a:solidFill>
          <a:ln>
            <a:noFill/>
          </a:ln>
        </p:spPr>
        <p:txBody>
          <a:bodyPr wrap="square" lIns="164592" tIns="109728" rIns="164592" bIns="109728" rtlCol="0" anchor="ctr"/>
          <a:lstStyle/>
          <a:p>
            <a:pPr algn="l">
              <a:spcBef>
                <a:spcPts val="0"/>
              </a:spcBef>
              <a:spcAft>
                <a:spcPts val="0"/>
              </a:spcAft>
            </a:pPr>
            <a:r>
              <a:rPr sz="1500" b="1" i="0">
                <a:solidFill>
                  <a:srgbClr val="DFBE27"/>
                </a:solidFill>
                <a:latin typeface="Calibri"/>
              </a:rPr>
              <a:t>Lists: </a:t>
            </a:r>
            <a:r>
              <a:rPr sz="1500" b="0" i="0">
                <a:solidFill>
                  <a:srgbClr val="FFFFFF"/>
                </a:solidFill>
                <a:latin typeface="Calibri"/>
              </a:rPr>
              <a:t>use .entity(new ParameterizedTypeReference&lt;List&lt;Course&gt;&gt;() {}). Always validate the result.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Embeddings and RAG at a Glance</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TextBox 4"/>
          <p:cNvSpPr txBox="1"/>
          <p:nvPr/>
        </p:nvSpPr>
        <p:spPr>
          <a:xfrm>
            <a:off x="548640" y="1097280"/>
            <a:ext cx="7315200" cy="365760"/>
          </a:xfrm>
          <a:prstGeom prst="rect">
            <a:avLst/>
          </a:prstGeom>
          <a:noFill/>
        </p:spPr>
        <p:txBody>
          <a:bodyPr wrap="square" lIns="45720" tIns="27432" rIns="45720" bIns="27432" anchor="t">
            <a:spAutoFit/>
          </a:bodyPr>
          <a:lstStyle/>
          <a:p>
            <a:pPr algn="l">
              <a:spcBef>
                <a:spcPts val="0"/>
              </a:spcBef>
              <a:spcAft>
                <a:spcPts val="0"/>
              </a:spcAft>
            </a:pPr>
            <a:r>
              <a:rPr sz="1800" b="1" i="0">
                <a:solidFill>
                  <a:srgbClr val="DFBE27"/>
                </a:solidFill>
                <a:latin typeface="Calibri"/>
              </a:rPr>
              <a:t>A. Ingest your documents (once)</a:t>
            </a:r>
          </a:p>
        </p:txBody>
      </p:sp>
      <p:sp>
        <p:nvSpPr>
          <p:cNvPr id="6" name="Rounded Rectangle 5"/>
          <p:cNvSpPr/>
          <p:nvPr/>
        </p:nvSpPr>
        <p:spPr>
          <a:xfrm>
            <a:off x="548640" y="1508760"/>
            <a:ext cx="2331720" cy="1600200"/>
          </a:xfrm>
          <a:prstGeom prst="roundRect">
            <a:avLst>
              <a:gd name="adj" fmla="val 6857"/>
            </a:avLst>
          </a:prstGeom>
          <a:solidFill>
            <a:srgbClr val="2D2057"/>
          </a:solidFill>
          <a:ln>
            <a:noFill/>
          </a:ln>
        </p:spPr>
        <p:txBody>
          <a:bodyPr wrap="square" lIns="164592" tIns="109728" rIns="164592" bIns="109728" rtlCol="0" anchor="t"/>
          <a:lstStyle/>
          <a:p>
            <a:pPr algn="l">
              <a:spcBef>
                <a:spcPts val="0"/>
              </a:spcBef>
              <a:spcAft>
                <a:spcPts val="400"/>
              </a:spcAft>
            </a:pPr>
            <a:r>
              <a:rPr sz="1700" b="1" i="0">
                <a:solidFill>
                  <a:srgbClr val="DFBE27"/>
                </a:solidFill>
                <a:latin typeface="Calibri"/>
              </a:rPr>
              <a:t>Documents</a:t>
            </a:r>
          </a:p>
          <a:p>
            <a:pPr algn="l">
              <a:spcBef>
                <a:spcPts val="0"/>
              </a:spcBef>
              <a:spcAft>
                <a:spcPts val="300"/>
              </a:spcAft>
            </a:pPr>
            <a:r>
              <a:rPr sz="1400" b="0" i="0">
                <a:solidFill>
                  <a:srgbClr val="FFFFFF"/>
                </a:solidFill>
                <a:latin typeface="Calibri"/>
              </a:rPr>
              <a:t>PDFs, web pages, notes</a:t>
            </a:r>
          </a:p>
        </p:txBody>
      </p:sp>
      <p:sp>
        <p:nvSpPr>
          <p:cNvPr id="7" name="Right Arrow 6"/>
          <p:cNvSpPr/>
          <p:nvPr/>
        </p:nvSpPr>
        <p:spPr>
          <a:xfrm>
            <a:off x="2953512" y="2148840"/>
            <a:ext cx="411480" cy="365760"/>
          </a:xfrm>
          <a:prstGeom prst="rightArrow">
            <a:avLst/>
          </a:prstGeom>
          <a:solidFill>
            <a:srgbClr val="DFBE27"/>
          </a:solidFill>
          <a:ln>
            <a:noFill/>
          </a:ln>
        </p:spPr>
        <p:txBody>
          <a:bodyPr wrap="square" lIns="164592" tIns="109728" rIns="164592" bIns="109728" rtlCol="0" anchor="t"/>
          <a:lstStyle/>
          <a:p>
            <a:pPr algn="ctr"/>
            <a:endParaRPr/>
          </a:p>
        </p:txBody>
      </p:sp>
      <p:sp>
        <p:nvSpPr>
          <p:cNvPr id="8" name="Rounded Rectangle 7"/>
          <p:cNvSpPr/>
          <p:nvPr/>
        </p:nvSpPr>
        <p:spPr>
          <a:xfrm>
            <a:off x="3465576" y="1508760"/>
            <a:ext cx="2331720" cy="1600200"/>
          </a:xfrm>
          <a:prstGeom prst="roundRect">
            <a:avLst>
              <a:gd name="adj" fmla="val 6857"/>
            </a:avLst>
          </a:prstGeom>
          <a:solidFill>
            <a:srgbClr val="2D2057"/>
          </a:solidFill>
          <a:ln>
            <a:noFill/>
          </a:ln>
        </p:spPr>
        <p:txBody>
          <a:bodyPr wrap="square" lIns="164592" tIns="109728" rIns="164592" bIns="109728" rtlCol="0" anchor="t"/>
          <a:lstStyle/>
          <a:p>
            <a:pPr algn="l">
              <a:spcBef>
                <a:spcPts val="0"/>
              </a:spcBef>
              <a:spcAft>
                <a:spcPts val="400"/>
              </a:spcAft>
            </a:pPr>
            <a:r>
              <a:rPr sz="1700" b="1" i="0">
                <a:solidFill>
                  <a:srgbClr val="DFBE27"/>
                </a:solidFill>
                <a:latin typeface="Calibri"/>
              </a:rPr>
              <a:t>Split</a:t>
            </a:r>
          </a:p>
          <a:p>
            <a:pPr algn="l">
              <a:spcBef>
                <a:spcPts val="0"/>
              </a:spcBef>
              <a:spcAft>
                <a:spcPts val="300"/>
              </a:spcAft>
            </a:pPr>
            <a:r>
              <a:rPr sz="1400" b="0" i="0">
                <a:solidFill>
                  <a:srgbClr val="FFFFFF"/>
                </a:solidFill>
                <a:latin typeface="Calibri"/>
              </a:rPr>
              <a:t>Cut into small chunks</a:t>
            </a:r>
          </a:p>
        </p:txBody>
      </p:sp>
      <p:sp>
        <p:nvSpPr>
          <p:cNvPr id="9" name="Right Arrow 8"/>
          <p:cNvSpPr/>
          <p:nvPr/>
        </p:nvSpPr>
        <p:spPr>
          <a:xfrm>
            <a:off x="5870448" y="2148840"/>
            <a:ext cx="411480" cy="365760"/>
          </a:xfrm>
          <a:prstGeom prst="rightArrow">
            <a:avLst/>
          </a:prstGeom>
          <a:solidFill>
            <a:srgbClr val="DFBE27"/>
          </a:solidFill>
          <a:ln>
            <a:noFill/>
          </a:ln>
        </p:spPr>
        <p:txBody>
          <a:bodyPr wrap="square" lIns="164592" tIns="109728" rIns="164592" bIns="109728" rtlCol="0" anchor="t"/>
          <a:lstStyle/>
          <a:p>
            <a:pPr algn="ctr"/>
            <a:endParaRPr/>
          </a:p>
        </p:txBody>
      </p:sp>
      <p:sp>
        <p:nvSpPr>
          <p:cNvPr id="10" name="Rounded Rectangle 9"/>
          <p:cNvSpPr/>
          <p:nvPr/>
        </p:nvSpPr>
        <p:spPr>
          <a:xfrm>
            <a:off x="6382512" y="1508760"/>
            <a:ext cx="2331720" cy="1600200"/>
          </a:xfrm>
          <a:prstGeom prst="roundRect">
            <a:avLst>
              <a:gd name="adj" fmla="val 6857"/>
            </a:avLst>
          </a:prstGeom>
          <a:solidFill>
            <a:srgbClr val="2D2057"/>
          </a:solidFill>
          <a:ln>
            <a:noFill/>
          </a:ln>
        </p:spPr>
        <p:txBody>
          <a:bodyPr wrap="square" lIns="164592" tIns="109728" rIns="164592" bIns="109728" rtlCol="0" anchor="t"/>
          <a:lstStyle/>
          <a:p>
            <a:pPr algn="l">
              <a:spcBef>
                <a:spcPts val="0"/>
              </a:spcBef>
              <a:spcAft>
                <a:spcPts val="400"/>
              </a:spcAft>
            </a:pPr>
            <a:r>
              <a:rPr sz="1700" b="1" i="0">
                <a:solidFill>
                  <a:srgbClr val="DFBE27"/>
                </a:solidFill>
                <a:latin typeface="Calibri"/>
              </a:rPr>
              <a:t>EmbeddingModel</a:t>
            </a:r>
          </a:p>
          <a:p>
            <a:pPr algn="l">
              <a:spcBef>
                <a:spcPts val="0"/>
              </a:spcBef>
              <a:spcAft>
                <a:spcPts val="300"/>
              </a:spcAft>
            </a:pPr>
            <a:r>
              <a:rPr sz="1400" b="0" i="0">
                <a:solidFill>
                  <a:srgbClr val="FFFFFF"/>
                </a:solidFill>
                <a:latin typeface="Calibri"/>
              </a:rPr>
              <a:t>Text to vector (OpenAI text-embedding-3-small or Ollama nomic-embed-text)</a:t>
            </a:r>
          </a:p>
        </p:txBody>
      </p:sp>
      <p:sp>
        <p:nvSpPr>
          <p:cNvPr id="11" name="Right Arrow 10"/>
          <p:cNvSpPr/>
          <p:nvPr/>
        </p:nvSpPr>
        <p:spPr>
          <a:xfrm>
            <a:off x="8787384" y="2148840"/>
            <a:ext cx="411480" cy="365760"/>
          </a:xfrm>
          <a:prstGeom prst="rightArrow">
            <a:avLst/>
          </a:prstGeom>
          <a:solidFill>
            <a:srgbClr val="DFBE27"/>
          </a:solidFill>
          <a:ln>
            <a:noFill/>
          </a:ln>
        </p:spPr>
        <p:txBody>
          <a:bodyPr wrap="square" lIns="164592" tIns="109728" rIns="164592" bIns="109728" rtlCol="0" anchor="t"/>
          <a:lstStyle/>
          <a:p>
            <a:pPr algn="ctr"/>
            <a:endParaRPr/>
          </a:p>
        </p:txBody>
      </p:sp>
      <p:sp>
        <p:nvSpPr>
          <p:cNvPr id="12" name="Rounded Rectangle 11"/>
          <p:cNvSpPr/>
          <p:nvPr/>
        </p:nvSpPr>
        <p:spPr>
          <a:xfrm>
            <a:off x="9299448" y="1508760"/>
            <a:ext cx="2331720" cy="1600200"/>
          </a:xfrm>
          <a:prstGeom prst="roundRect">
            <a:avLst>
              <a:gd name="adj" fmla="val 6857"/>
            </a:avLst>
          </a:prstGeom>
          <a:solidFill>
            <a:srgbClr val="2D2057"/>
          </a:solidFill>
          <a:ln>
            <a:noFill/>
          </a:ln>
        </p:spPr>
        <p:txBody>
          <a:bodyPr wrap="square" lIns="164592" tIns="109728" rIns="164592" bIns="109728" rtlCol="0" anchor="t"/>
          <a:lstStyle/>
          <a:p>
            <a:pPr algn="l">
              <a:spcBef>
                <a:spcPts val="0"/>
              </a:spcBef>
              <a:spcAft>
                <a:spcPts val="400"/>
              </a:spcAft>
            </a:pPr>
            <a:r>
              <a:rPr sz="1700" b="1" i="0">
                <a:solidFill>
                  <a:srgbClr val="DFBE27"/>
                </a:solidFill>
                <a:latin typeface="Calibri"/>
              </a:rPr>
              <a:t>VectorStore</a:t>
            </a:r>
          </a:p>
          <a:p>
            <a:pPr algn="l">
              <a:spcBef>
                <a:spcPts val="0"/>
              </a:spcBef>
              <a:spcAft>
                <a:spcPts val="300"/>
              </a:spcAft>
            </a:pPr>
            <a:r>
              <a:rPr sz="1400" b="0" i="0">
                <a:solidFill>
                  <a:srgbClr val="FFFFFF"/>
                </a:solidFill>
                <a:latin typeface="Calibri"/>
              </a:rPr>
              <a:t>Stores vectors for similarity search</a:t>
            </a:r>
          </a:p>
        </p:txBody>
      </p:sp>
      <p:sp>
        <p:nvSpPr>
          <p:cNvPr id="13" name="TextBox 12"/>
          <p:cNvSpPr txBox="1"/>
          <p:nvPr/>
        </p:nvSpPr>
        <p:spPr>
          <a:xfrm>
            <a:off x="548640" y="3291840"/>
            <a:ext cx="7315200" cy="365760"/>
          </a:xfrm>
          <a:prstGeom prst="rect">
            <a:avLst/>
          </a:prstGeom>
          <a:noFill/>
        </p:spPr>
        <p:txBody>
          <a:bodyPr wrap="square" lIns="45720" tIns="27432" rIns="45720" bIns="27432" anchor="t">
            <a:spAutoFit/>
          </a:bodyPr>
          <a:lstStyle/>
          <a:p>
            <a:pPr algn="l">
              <a:spcBef>
                <a:spcPts val="0"/>
              </a:spcBef>
              <a:spcAft>
                <a:spcPts val="0"/>
              </a:spcAft>
            </a:pPr>
            <a:r>
              <a:rPr sz="1800" b="1" i="0">
                <a:solidFill>
                  <a:srgbClr val="DFBE27"/>
                </a:solidFill>
                <a:latin typeface="Calibri"/>
              </a:rPr>
              <a:t>B. Answer a question (every request)</a:t>
            </a:r>
          </a:p>
        </p:txBody>
      </p:sp>
      <p:sp>
        <p:nvSpPr>
          <p:cNvPr id="14" name="Rounded Rectangle 13"/>
          <p:cNvSpPr/>
          <p:nvPr/>
        </p:nvSpPr>
        <p:spPr>
          <a:xfrm>
            <a:off x="548640" y="3703320"/>
            <a:ext cx="1828800" cy="1463040"/>
          </a:xfrm>
          <a:prstGeom prst="roundRect">
            <a:avLst>
              <a:gd name="adj" fmla="val 7500"/>
            </a:avLst>
          </a:prstGeom>
          <a:solidFill>
            <a:srgbClr val="2D2057"/>
          </a:solidFill>
          <a:ln>
            <a:noFill/>
          </a:ln>
        </p:spPr>
        <p:txBody>
          <a:bodyPr wrap="square" lIns="164592" tIns="109728" rIns="164592" bIns="109728" rtlCol="0" anchor="t"/>
          <a:lstStyle/>
          <a:p>
            <a:pPr algn="l">
              <a:spcBef>
                <a:spcPts val="0"/>
              </a:spcBef>
              <a:spcAft>
                <a:spcPts val="400"/>
              </a:spcAft>
            </a:pPr>
            <a:r>
              <a:rPr sz="1700" b="1" i="0">
                <a:solidFill>
                  <a:srgbClr val="DFBE27"/>
                </a:solidFill>
                <a:latin typeface="Calibri"/>
              </a:rPr>
              <a:t>Question</a:t>
            </a:r>
          </a:p>
          <a:p>
            <a:pPr algn="l">
              <a:spcBef>
                <a:spcPts val="0"/>
              </a:spcBef>
              <a:spcAft>
                <a:spcPts val="300"/>
              </a:spcAft>
            </a:pPr>
            <a:r>
              <a:rPr sz="1400" b="0" i="0">
                <a:solidFill>
                  <a:srgbClr val="FFFFFF"/>
                </a:solidFill>
                <a:latin typeface="Calibri"/>
              </a:rPr>
              <a:t>from the user</a:t>
            </a:r>
          </a:p>
        </p:txBody>
      </p:sp>
      <p:sp>
        <p:nvSpPr>
          <p:cNvPr id="15" name="Right Arrow 14"/>
          <p:cNvSpPr/>
          <p:nvPr/>
        </p:nvSpPr>
        <p:spPr>
          <a:xfrm>
            <a:off x="2423160" y="4251960"/>
            <a:ext cx="393192" cy="347472"/>
          </a:xfrm>
          <a:prstGeom prst="rightArrow">
            <a:avLst/>
          </a:prstGeom>
          <a:solidFill>
            <a:srgbClr val="DFBE27"/>
          </a:solidFill>
          <a:ln>
            <a:noFill/>
          </a:ln>
        </p:spPr>
        <p:txBody>
          <a:bodyPr wrap="square" lIns="164592" tIns="109728" rIns="164592" bIns="109728" rtlCol="0" anchor="t"/>
          <a:lstStyle/>
          <a:p>
            <a:pPr algn="ctr"/>
            <a:endParaRPr/>
          </a:p>
        </p:txBody>
      </p:sp>
      <p:sp>
        <p:nvSpPr>
          <p:cNvPr id="16" name="Rounded Rectangle 15"/>
          <p:cNvSpPr/>
          <p:nvPr/>
        </p:nvSpPr>
        <p:spPr>
          <a:xfrm>
            <a:off x="2862072" y="3703320"/>
            <a:ext cx="1828800" cy="1463040"/>
          </a:xfrm>
          <a:prstGeom prst="roundRect">
            <a:avLst>
              <a:gd name="adj" fmla="val 7500"/>
            </a:avLst>
          </a:prstGeom>
          <a:solidFill>
            <a:srgbClr val="2D2057"/>
          </a:solidFill>
          <a:ln>
            <a:noFill/>
          </a:ln>
        </p:spPr>
        <p:txBody>
          <a:bodyPr wrap="square" lIns="164592" tIns="109728" rIns="164592" bIns="109728" rtlCol="0" anchor="t"/>
          <a:lstStyle/>
          <a:p>
            <a:pPr algn="l">
              <a:spcBef>
                <a:spcPts val="0"/>
              </a:spcBef>
              <a:spcAft>
                <a:spcPts val="400"/>
              </a:spcAft>
            </a:pPr>
            <a:r>
              <a:rPr sz="1700" b="1" i="0">
                <a:solidFill>
                  <a:srgbClr val="DFBE27"/>
                </a:solidFill>
                <a:latin typeface="Calibri"/>
              </a:rPr>
              <a:t>Search</a:t>
            </a:r>
          </a:p>
          <a:p>
            <a:pPr algn="l">
              <a:spcBef>
                <a:spcPts val="0"/>
              </a:spcBef>
              <a:spcAft>
                <a:spcPts val="300"/>
              </a:spcAft>
            </a:pPr>
            <a:r>
              <a:rPr sz="1400" b="0" i="0">
                <a:solidFill>
                  <a:srgbClr val="FFFFFF"/>
                </a:solidFill>
                <a:latin typeface="Calibri"/>
              </a:rPr>
              <a:t>find the top-k similar chunks</a:t>
            </a:r>
          </a:p>
        </p:txBody>
      </p:sp>
      <p:sp>
        <p:nvSpPr>
          <p:cNvPr id="17" name="Right Arrow 16"/>
          <p:cNvSpPr/>
          <p:nvPr/>
        </p:nvSpPr>
        <p:spPr>
          <a:xfrm>
            <a:off x="4736592" y="4251960"/>
            <a:ext cx="393192" cy="347472"/>
          </a:xfrm>
          <a:prstGeom prst="rightArrow">
            <a:avLst/>
          </a:prstGeom>
          <a:solidFill>
            <a:srgbClr val="DFBE27"/>
          </a:solidFill>
          <a:ln>
            <a:noFill/>
          </a:ln>
        </p:spPr>
        <p:txBody>
          <a:bodyPr wrap="square" lIns="164592" tIns="109728" rIns="164592" bIns="109728" rtlCol="0" anchor="t"/>
          <a:lstStyle/>
          <a:p>
            <a:pPr algn="ctr"/>
            <a:endParaRPr/>
          </a:p>
        </p:txBody>
      </p:sp>
      <p:sp>
        <p:nvSpPr>
          <p:cNvPr id="18" name="Rounded Rectangle 17"/>
          <p:cNvSpPr/>
          <p:nvPr/>
        </p:nvSpPr>
        <p:spPr>
          <a:xfrm>
            <a:off x="5175503" y="3703320"/>
            <a:ext cx="1828800" cy="1463040"/>
          </a:xfrm>
          <a:prstGeom prst="roundRect">
            <a:avLst>
              <a:gd name="adj" fmla="val 7500"/>
            </a:avLst>
          </a:prstGeom>
          <a:solidFill>
            <a:srgbClr val="2D2057"/>
          </a:solidFill>
          <a:ln>
            <a:noFill/>
          </a:ln>
        </p:spPr>
        <p:txBody>
          <a:bodyPr wrap="square" lIns="164592" tIns="109728" rIns="164592" bIns="109728" rtlCol="0" anchor="t"/>
          <a:lstStyle/>
          <a:p>
            <a:pPr algn="l">
              <a:spcBef>
                <a:spcPts val="0"/>
              </a:spcBef>
              <a:spcAft>
                <a:spcPts val="400"/>
              </a:spcAft>
            </a:pPr>
            <a:r>
              <a:rPr sz="1700" b="1" i="0">
                <a:solidFill>
                  <a:srgbClr val="DFBE27"/>
                </a:solidFill>
                <a:latin typeface="Calibri"/>
              </a:rPr>
              <a:t>Prompt</a:t>
            </a:r>
          </a:p>
          <a:p>
            <a:pPr algn="l">
              <a:spcBef>
                <a:spcPts val="0"/>
              </a:spcBef>
              <a:spcAft>
                <a:spcPts val="300"/>
              </a:spcAft>
            </a:pPr>
            <a:r>
              <a:rPr sz="1400" b="0" i="0">
                <a:solidFill>
                  <a:srgbClr val="FFFFFF"/>
                </a:solidFill>
                <a:latin typeface="Calibri"/>
              </a:rPr>
              <a:t>question plus retrieved context</a:t>
            </a:r>
          </a:p>
        </p:txBody>
      </p:sp>
      <p:sp>
        <p:nvSpPr>
          <p:cNvPr id="19" name="Right Arrow 18"/>
          <p:cNvSpPr/>
          <p:nvPr/>
        </p:nvSpPr>
        <p:spPr>
          <a:xfrm>
            <a:off x="7050023" y="4251960"/>
            <a:ext cx="393192" cy="347472"/>
          </a:xfrm>
          <a:prstGeom prst="rightArrow">
            <a:avLst/>
          </a:prstGeom>
          <a:solidFill>
            <a:srgbClr val="DFBE27"/>
          </a:solidFill>
          <a:ln>
            <a:noFill/>
          </a:ln>
        </p:spPr>
        <p:txBody>
          <a:bodyPr wrap="square" lIns="164592" tIns="109728" rIns="164592" bIns="109728" rtlCol="0" anchor="t"/>
          <a:lstStyle/>
          <a:p>
            <a:pPr algn="ctr"/>
            <a:endParaRPr/>
          </a:p>
        </p:txBody>
      </p:sp>
      <p:sp>
        <p:nvSpPr>
          <p:cNvPr id="20" name="Rounded Rectangle 19"/>
          <p:cNvSpPr/>
          <p:nvPr/>
        </p:nvSpPr>
        <p:spPr>
          <a:xfrm>
            <a:off x="7488936" y="3703320"/>
            <a:ext cx="1828800" cy="1463040"/>
          </a:xfrm>
          <a:prstGeom prst="roundRect">
            <a:avLst>
              <a:gd name="adj" fmla="val 7500"/>
            </a:avLst>
          </a:prstGeom>
          <a:solidFill>
            <a:srgbClr val="2D2057"/>
          </a:solidFill>
          <a:ln>
            <a:noFill/>
          </a:ln>
        </p:spPr>
        <p:txBody>
          <a:bodyPr wrap="square" lIns="164592" tIns="109728" rIns="164592" bIns="109728" rtlCol="0" anchor="t"/>
          <a:lstStyle/>
          <a:p>
            <a:pPr algn="l">
              <a:spcBef>
                <a:spcPts val="0"/>
              </a:spcBef>
              <a:spcAft>
                <a:spcPts val="400"/>
              </a:spcAft>
            </a:pPr>
            <a:r>
              <a:rPr sz="1700" b="1" i="0">
                <a:solidFill>
                  <a:srgbClr val="DFBE27"/>
                </a:solidFill>
                <a:latin typeface="Calibri"/>
              </a:rPr>
              <a:t>LLM</a:t>
            </a:r>
          </a:p>
          <a:p>
            <a:pPr algn="l">
              <a:spcBef>
                <a:spcPts val="0"/>
              </a:spcBef>
              <a:spcAft>
                <a:spcPts val="300"/>
              </a:spcAft>
            </a:pPr>
            <a:r>
              <a:rPr sz="1400" b="0" i="0">
                <a:solidFill>
                  <a:srgbClr val="FFFFFF"/>
                </a:solidFill>
                <a:latin typeface="Calibri"/>
              </a:rPr>
              <a:t>OpenAI or Ollama</a:t>
            </a:r>
          </a:p>
        </p:txBody>
      </p:sp>
      <p:sp>
        <p:nvSpPr>
          <p:cNvPr id="21" name="Right Arrow 20"/>
          <p:cNvSpPr/>
          <p:nvPr/>
        </p:nvSpPr>
        <p:spPr>
          <a:xfrm>
            <a:off x="9363455" y="4251960"/>
            <a:ext cx="393192" cy="347472"/>
          </a:xfrm>
          <a:prstGeom prst="rightArrow">
            <a:avLst/>
          </a:prstGeom>
          <a:solidFill>
            <a:srgbClr val="DFBE27"/>
          </a:solidFill>
          <a:ln>
            <a:noFill/>
          </a:ln>
        </p:spPr>
        <p:txBody>
          <a:bodyPr wrap="square" lIns="164592" tIns="109728" rIns="164592" bIns="109728" rtlCol="0" anchor="t"/>
          <a:lstStyle/>
          <a:p>
            <a:pPr algn="ctr"/>
            <a:endParaRPr/>
          </a:p>
        </p:txBody>
      </p:sp>
      <p:sp>
        <p:nvSpPr>
          <p:cNvPr id="22" name="Rounded Rectangle 21"/>
          <p:cNvSpPr/>
          <p:nvPr/>
        </p:nvSpPr>
        <p:spPr>
          <a:xfrm>
            <a:off x="9802367" y="3703320"/>
            <a:ext cx="1828800" cy="1463040"/>
          </a:xfrm>
          <a:prstGeom prst="roundRect">
            <a:avLst>
              <a:gd name="adj" fmla="val 7500"/>
            </a:avLst>
          </a:prstGeom>
          <a:solidFill>
            <a:srgbClr val="3B2D74"/>
          </a:solidFill>
          <a:ln>
            <a:noFill/>
          </a:ln>
        </p:spPr>
        <p:txBody>
          <a:bodyPr wrap="square" lIns="164592" tIns="109728" rIns="164592" bIns="109728" rtlCol="0" anchor="t"/>
          <a:lstStyle/>
          <a:p>
            <a:pPr algn="l">
              <a:spcBef>
                <a:spcPts val="0"/>
              </a:spcBef>
              <a:spcAft>
                <a:spcPts val="400"/>
              </a:spcAft>
            </a:pPr>
            <a:r>
              <a:rPr sz="1700" b="1" i="0">
                <a:solidFill>
                  <a:srgbClr val="DFBE27"/>
                </a:solidFill>
                <a:latin typeface="Calibri"/>
              </a:rPr>
              <a:t>Answer</a:t>
            </a:r>
          </a:p>
          <a:p>
            <a:pPr algn="l">
              <a:spcBef>
                <a:spcPts val="0"/>
              </a:spcBef>
              <a:spcAft>
                <a:spcPts val="300"/>
              </a:spcAft>
            </a:pPr>
            <a:r>
              <a:rPr sz="1400" b="0" i="0">
                <a:solidFill>
                  <a:srgbClr val="FFFFFF"/>
                </a:solidFill>
                <a:latin typeface="Calibri"/>
              </a:rPr>
              <a:t>grounded in your data</a:t>
            </a:r>
          </a:p>
        </p:txBody>
      </p:sp>
      <p:sp>
        <p:nvSpPr>
          <p:cNvPr id="23" name="Rounded Rectangle 22"/>
          <p:cNvSpPr/>
          <p:nvPr/>
        </p:nvSpPr>
        <p:spPr>
          <a:xfrm>
            <a:off x="548640" y="5349240"/>
            <a:ext cx="11091672" cy="914400"/>
          </a:xfrm>
          <a:prstGeom prst="roundRect">
            <a:avLst>
              <a:gd name="adj" fmla="val 10000"/>
            </a:avLst>
          </a:prstGeom>
          <a:solidFill>
            <a:srgbClr val="120A26"/>
          </a:solidFill>
          <a:ln w="12700">
            <a:solidFill>
              <a:srgbClr val="3F3270"/>
            </a:solidFill>
          </a:ln>
        </p:spPr>
        <p:txBody>
          <a:bodyPr wrap="square" lIns="164592" tIns="109728" rIns="164592" bIns="109728" rtlCol="0" anchor="t"/>
          <a:lstStyle/>
          <a:p>
            <a:pPr algn="ctr"/>
            <a:endParaRPr/>
          </a:p>
        </p:txBody>
      </p:sp>
      <p:sp>
        <p:nvSpPr>
          <p:cNvPr id="24" name="TextBox 23"/>
          <p:cNvSpPr txBox="1"/>
          <p:nvPr/>
        </p:nvSpPr>
        <p:spPr>
          <a:xfrm>
            <a:off x="731520" y="5477255"/>
            <a:ext cx="10725912" cy="694944"/>
          </a:xfrm>
          <a:prstGeom prst="rect">
            <a:avLst/>
          </a:prstGeom>
          <a:noFill/>
        </p:spPr>
        <p:txBody>
          <a:bodyPr wrap="square" lIns="45720" tIns="27432" rIns="45720" bIns="27432" anchor="t">
            <a:spAutoFit/>
          </a:bodyPr>
          <a:lstStyle/>
          <a:p>
            <a:pPr algn="l">
              <a:lnSpc>
                <a:spcPct val="115000"/>
              </a:lnSpc>
              <a:spcBef>
                <a:spcPts val="0"/>
              </a:spcBef>
              <a:spcAft>
                <a:spcPts val="0"/>
              </a:spcAft>
            </a:pPr>
            <a:r>
              <a:rPr sz="1300" b="0" i="0">
                <a:solidFill>
                  <a:srgbClr val="EDEAF7"/>
                </a:solidFill>
                <a:latin typeface="Courier New"/>
              </a:rPr>
              <a:t>chatClient.prompt().user(question)</a:t>
            </a:r>
          </a:p>
          <a:p>
            <a:pPr algn="l">
              <a:lnSpc>
                <a:spcPct val="115000"/>
              </a:lnSpc>
              <a:spcBef>
                <a:spcPts val="0"/>
              </a:spcBef>
              <a:spcAft>
                <a:spcPts val="0"/>
              </a:spcAft>
            </a:pPr>
            <a:r>
              <a:rPr sz="1300" b="0" i="0">
                <a:solidFill>
                  <a:srgbClr val="EDEAF7"/>
                </a:solidFill>
                <a:latin typeface="Courier New"/>
              </a:rPr>
              <a:t>    .advisors(QuestionAnswerAdvisor.builder(vectorStore).build()).call().content();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Best Practices and Common Pitfalls</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234440"/>
            <a:ext cx="5468112" cy="1554480"/>
          </a:xfrm>
          <a:prstGeom prst="roundRect">
            <a:avLst>
              <a:gd name="adj" fmla="val 7058"/>
            </a:avLst>
          </a:prstGeom>
          <a:solidFill>
            <a:srgbClr val="2D2057"/>
          </a:solidFill>
          <a:ln>
            <a:noFill/>
          </a:ln>
        </p:spPr>
        <p:txBody>
          <a:bodyPr wrap="square" lIns="164592" tIns="109728" rIns="164592" bIns="109728" rtlCol="0" anchor="t"/>
          <a:lstStyle/>
          <a:p>
            <a:pPr algn="ctr"/>
            <a:endParaRPr/>
          </a:p>
        </p:txBody>
      </p:sp>
      <p:sp>
        <p:nvSpPr>
          <p:cNvPr id="6" name="Oval 5"/>
          <p:cNvSpPr/>
          <p:nvPr/>
        </p:nvSpPr>
        <p:spPr>
          <a:xfrm>
            <a:off x="731520" y="141732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1</a:t>
            </a:r>
          </a:p>
        </p:txBody>
      </p:sp>
      <p:sp>
        <p:nvSpPr>
          <p:cNvPr id="7" name="TextBox 6"/>
          <p:cNvSpPr txBox="1"/>
          <p:nvPr/>
        </p:nvSpPr>
        <p:spPr>
          <a:xfrm>
            <a:off x="1463040" y="1371600"/>
            <a:ext cx="4434840" cy="411480"/>
          </a:xfrm>
          <a:prstGeom prst="rect">
            <a:avLst/>
          </a:prstGeom>
          <a:noFill/>
        </p:spPr>
        <p:txBody>
          <a:bodyPr wrap="square" lIns="45720" tIns="27432" rIns="45720" bIns="27432" anchor="t">
            <a:spAutoFit/>
          </a:bodyPr>
          <a:lstStyle/>
          <a:p>
            <a:pPr algn="l">
              <a:spcBef>
                <a:spcPts val="0"/>
              </a:spcBef>
              <a:spcAft>
                <a:spcPts val="0"/>
              </a:spcAft>
            </a:pPr>
            <a:r>
              <a:rPr sz="1900" b="1" i="0">
                <a:solidFill>
                  <a:srgbClr val="DFBE27"/>
                </a:solidFill>
                <a:latin typeface="Calibri"/>
              </a:rPr>
              <a:t>Protect secrets</a:t>
            </a:r>
          </a:p>
        </p:txBody>
      </p:sp>
      <p:sp>
        <p:nvSpPr>
          <p:cNvPr id="8" name="TextBox 7"/>
          <p:cNvSpPr txBox="1"/>
          <p:nvPr/>
        </p:nvSpPr>
        <p:spPr>
          <a:xfrm>
            <a:off x="1463040" y="1801368"/>
            <a:ext cx="4434840" cy="91440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Keep API keys in environment variables or a secrets manager, never in Git.</a:t>
            </a:r>
          </a:p>
        </p:txBody>
      </p:sp>
      <p:sp>
        <p:nvSpPr>
          <p:cNvPr id="9" name="Rounded Rectangle 8"/>
          <p:cNvSpPr/>
          <p:nvPr/>
        </p:nvSpPr>
        <p:spPr>
          <a:xfrm>
            <a:off x="6172200" y="1234440"/>
            <a:ext cx="5468112" cy="1554480"/>
          </a:xfrm>
          <a:prstGeom prst="roundRect">
            <a:avLst>
              <a:gd name="adj" fmla="val 7058"/>
            </a:avLst>
          </a:prstGeom>
          <a:solidFill>
            <a:srgbClr val="2D2057"/>
          </a:solidFill>
          <a:ln>
            <a:noFill/>
          </a:ln>
        </p:spPr>
        <p:txBody>
          <a:bodyPr wrap="square" lIns="164592" tIns="109728" rIns="164592" bIns="109728" rtlCol="0" anchor="t"/>
          <a:lstStyle/>
          <a:p>
            <a:pPr algn="ctr"/>
            <a:endParaRPr/>
          </a:p>
        </p:txBody>
      </p:sp>
      <p:sp>
        <p:nvSpPr>
          <p:cNvPr id="10" name="Oval 9"/>
          <p:cNvSpPr/>
          <p:nvPr/>
        </p:nvSpPr>
        <p:spPr>
          <a:xfrm>
            <a:off x="6355080" y="141732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2</a:t>
            </a:r>
          </a:p>
        </p:txBody>
      </p:sp>
      <p:sp>
        <p:nvSpPr>
          <p:cNvPr id="11" name="TextBox 10"/>
          <p:cNvSpPr txBox="1"/>
          <p:nvPr/>
        </p:nvSpPr>
        <p:spPr>
          <a:xfrm>
            <a:off x="7086600" y="1371600"/>
            <a:ext cx="4434840" cy="411480"/>
          </a:xfrm>
          <a:prstGeom prst="rect">
            <a:avLst/>
          </a:prstGeom>
          <a:noFill/>
        </p:spPr>
        <p:txBody>
          <a:bodyPr wrap="square" lIns="45720" tIns="27432" rIns="45720" bIns="27432" anchor="t">
            <a:spAutoFit/>
          </a:bodyPr>
          <a:lstStyle/>
          <a:p>
            <a:pPr algn="l">
              <a:spcBef>
                <a:spcPts val="0"/>
              </a:spcBef>
              <a:spcAft>
                <a:spcPts val="0"/>
              </a:spcAft>
            </a:pPr>
            <a:r>
              <a:rPr sz="1900" b="1" i="0">
                <a:solidFill>
                  <a:srgbClr val="DFBE27"/>
                </a:solidFill>
                <a:latin typeface="Calibri"/>
              </a:rPr>
              <a:t>Control cost</a:t>
            </a:r>
          </a:p>
        </p:txBody>
      </p:sp>
      <p:sp>
        <p:nvSpPr>
          <p:cNvPr id="12" name="TextBox 11"/>
          <p:cNvSpPr txBox="1"/>
          <p:nvPr/>
        </p:nvSpPr>
        <p:spPr>
          <a:xfrm>
            <a:off x="7086600" y="1801368"/>
            <a:ext cx="4434840" cy="91440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Set max tokens, use small models for simple tasks and monitor token usage.</a:t>
            </a:r>
          </a:p>
        </p:txBody>
      </p:sp>
      <p:sp>
        <p:nvSpPr>
          <p:cNvPr id="13" name="Rounded Rectangle 12"/>
          <p:cNvSpPr/>
          <p:nvPr/>
        </p:nvSpPr>
        <p:spPr>
          <a:xfrm>
            <a:off x="548640" y="2926080"/>
            <a:ext cx="5468112" cy="1554480"/>
          </a:xfrm>
          <a:prstGeom prst="roundRect">
            <a:avLst>
              <a:gd name="adj" fmla="val 7058"/>
            </a:avLst>
          </a:prstGeom>
          <a:solidFill>
            <a:srgbClr val="2D2057"/>
          </a:solidFill>
          <a:ln>
            <a:noFill/>
          </a:ln>
        </p:spPr>
        <p:txBody>
          <a:bodyPr wrap="square" lIns="164592" tIns="109728" rIns="164592" bIns="109728" rtlCol="0" anchor="t"/>
          <a:lstStyle/>
          <a:p>
            <a:pPr algn="ctr"/>
            <a:endParaRPr/>
          </a:p>
        </p:txBody>
      </p:sp>
      <p:sp>
        <p:nvSpPr>
          <p:cNvPr id="14" name="Oval 13"/>
          <p:cNvSpPr/>
          <p:nvPr/>
        </p:nvSpPr>
        <p:spPr>
          <a:xfrm>
            <a:off x="731520" y="310896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3</a:t>
            </a:r>
          </a:p>
        </p:txBody>
      </p:sp>
      <p:sp>
        <p:nvSpPr>
          <p:cNvPr id="15" name="TextBox 14"/>
          <p:cNvSpPr txBox="1"/>
          <p:nvPr/>
        </p:nvSpPr>
        <p:spPr>
          <a:xfrm>
            <a:off x="1463040" y="3063240"/>
            <a:ext cx="4434840" cy="411480"/>
          </a:xfrm>
          <a:prstGeom prst="rect">
            <a:avLst/>
          </a:prstGeom>
          <a:noFill/>
        </p:spPr>
        <p:txBody>
          <a:bodyPr wrap="square" lIns="45720" tIns="27432" rIns="45720" bIns="27432" anchor="t">
            <a:spAutoFit/>
          </a:bodyPr>
          <a:lstStyle/>
          <a:p>
            <a:pPr algn="l">
              <a:spcBef>
                <a:spcPts val="0"/>
              </a:spcBef>
              <a:spcAft>
                <a:spcPts val="0"/>
              </a:spcAft>
            </a:pPr>
            <a:r>
              <a:rPr sz="1900" b="1" i="0">
                <a:solidFill>
                  <a:srgbClr val="DFBE27"/>
                </a:solidFill>
                <a:latin typeface="Calibri"/>
              </a:rPr>
              <a:t>Handle failures</a:t>
            </a:r>
          </a:p>
        </p:txBody>
      </p:sp>
      <p:sp>
        <p:nvSpPr>
          <p:cNvPr id="16" name="TextBox 15"/>
          <p:cNvSpPr txBox="1"/>
          <p:nvPr/>
        </p:nvSpPr>
        <p:spPr>
          <a:xfrm>
            <a:off x="1463040" y="3493008"/>
            <a:ext cx="4434840" cy="91440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Set timeouts and retries, and plan a fallback model such as OpenAI to Ollama.</a:t>
            </a:r>
          </a:p>
        </p:txBody>
      </p:sp>
      <p:sp>
        <p:nvSpPr>
          <p:cNvPr id="17" name="Rounded Rectangle 16"/>
          <p:cNvSpPr/>
          <p:nvPr/>
        </p:nvSpPr>
        <p:spPr>
          <a:xfrm>
            <a:off x="6172200" y="2926080"/>
            <a:ext cx="5468112" cy="1554480"/>
          </a:xfrm>
          <a:prstGeom prst="roundRect">
            <a:avLst>
              <a:gd name="adj" fmla="val 7058"/>
            </a:avLst>
          </a:prstGeom>
          <a:solidFill>
            <a:srgbClr val="2D2057"/>
          </a:solidFill>
          <a:ln>
            <a:noFill/>
          </a:ln>
        </p:spPr>
        <p:txBody>
          <a:bodyPr wrap="square" lIns="164592" tIns="109728" rIns="164592" bIns="109728" rtlCol="0" anchor="t"/>
          <a:lstStyle/>
          <a:p>
            <a:pPr algn="ctr"/>
            <a:endParaRPr/>
          </a:p>
        </p:txBody>
      </p:sp>
      <p:sp>
        <p:nvSpPr>
          <p:cNvPr id="18" name="Oval 17"/>
          <p:cNvSpPr/>
          <p:nvPr/>
        </p:nvSpPr>
        <p:spPr>
          <a:xfrm>
            <a:off x="6355080" y="310896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4</a:t>
            </a:r>
          </a:p>
        </p:txBody>
      </p:sp>
      <p:sp>
        <p:nvSpPr>
          <p:cNvPr id="19" name="TextBox 18"/>
          <p:cNvSpPr txBox="1"/>
          <p:nvPr/>
        </p:nvSpPr>
        <p:spPr>
          <a:xfrm>
            <a:off x="7086600" y="3063240"/>
            <a:ext cx="4434840" cy="411480"/>
          </a:xfrm>
          <a:prstGeom prst="rect">
            <a:avLst/>
          </a:prstGeom>
          <a:noFill/>
        </p:spPr>
        <p:txBody>
          <a:bodyPr wrap="square" lIns="45720" tIns="27432" rIns="45720" bIns="27432" anchor="t">
            <a:spAutoFit/>
          </a:bodyPr>
          <a:lstStyle/>
          <a:p>
            <a:pPr algn="l">
              <a:spcBef>
                <a:spcPts val="0"/>
              </a:spcBef>
              <a:spcAft>
                <a:spcPts val="0"/>
              </a:spcAft>
            </a:pPr>
            <a:r>
              <a:rPr sz="1900" b="1" i="0">
                <a:solidFill>
                  <a:srgbClr val="DFBE27"/>
                </a:solidFill>
                <a:latin typeface="Calibri"/>
              </a:rPr>
              <a:t>Validate outputs</a:t>
            </a:r>
          </a:p>
        </p:txBody>
      </p:sp>
      <p:sp>
        <p:nvSpPr>
          <p:cNvPr id="20" name="TextBox 19"/>
          <p:cNvSpPr txBox="1"/>
          <p:nvPr/>
        </p:nvSpPr>
        <p:spPr>
          <a:xfrm>
            <a:off x="7086600" y="3493008"/>
            <a:ext cx="4434840" cy="91440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Treat answers as untrusted: check JSON, facts and anything users will see.</a:t>
            </a:r>
          </a:p>
        </p:txBody>
      </p:sp>
      <p:sp>
        <p:nvSpPr>
          <p:cNvPr id="21" name="Rounded Rectangle 20"/>
          <p:cNvSpPr/>
          <p:nvPr/>
        </p:nvSpPr>
        <p:spPr>
          <a:xfrm>
            <a:off x="548640" y="4617720"/>
            <a:ext cx="5468112" cy="1554480"/>
          </a:xfrm>
          <a:prstGeom prst="roundRect">
            <a:avLst>
              <a:gd name="adj" fmla="val 7058"/>
            </a:avLst>
          </a:prstGeom>
          <a:solidFill>
            <a:srgbClr val="2D2057"/>
          </a:solidFill>
          <a:ln>
            <a:noFill/>
          </a:ln>
        </p:spPr>
        <p:txBody>
          <a:bodyPr wrap="square" lIns="164592" tIns="109728" rIns="164592" bIns="109728" rtlCol="0" anchor="t"/>
          <a:lstStyle/>
          <a:p>
            <a:pPr algn="ctr"/>
            <a:endParaRPr/>
          </a:p>
        </p:txBody>
      </p:sp>
      <p:sp>
        <p:nvSpPr>
          <p:cNvPr id="22" name="Oval 21"/>
          <p:cNvSpPr/>
          <p:nvPr/>
        </p:nvSpPr>
        <p:spPr>
          <a:xfrm>
            <a:off x="731520" y="480060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5</a:t>
            </a:r>
          </a:p>
        </p:txBody>
      </p:sp>
      <p:sp>
        <p:nvSpPr>
          <p:cNvPr id="23" name="TextBox 22"/>
          <p:cNvSpPr txBox="1"/>
          <p:nvPr/>
        </p:nvSpPr>
        <p:spPr>
          <a:xfrm>
            <a:off x="1463040" y="4754880"/>
            <a:ext cx="4434840" cy="411480"/>
          </a:xfrm>
          <a:prstGeom prst="rect">
            <a:avLst/>
          </a:prstGeom>
          <a:noFill/>
        </p:spPr>
        <p:txBody>
          <a:bodyPr wrap="square" lIns="45720" tIns="27432" rIns="45720" bIns="27432" anchor="t">
            <a:spAutoFit/>
          </a:bodyPr>
          <a:lstStyle/>
          <a:p>
            <a:pPr algn="l">
              <a:spcBef>
                <a:spcPts val="0"/>
              </a:spcBef>
              <a:spcAft>
                <a:spcPts val="0"/>
              </a:spcAft>
            </a:pPr>
            <a:r>
              <a:rPr sz="1900" b="1" i="0">
                <a:solidFill>
                  <a:srgbClr val="DFBE27"/>
                </a:solidFill>
                <a:latin typeface="Calibri"/>
              </a:rPr>
              <a:t>Keep data private</a:t>
            </a:r>
          </a:p>
        </p:txBody>
      </p:sp>
      <p:sp>
        <p:nvSpPr>
          <p:cNvPr id="24" name="TextBox 23"/>
          <p:cNvSpPr txBox="1"/>
          <p:nvPr/>
        </p:nvSpPr>
        <p:spPr>
          <a:xfrm>
            <a:off x="1463040" y="5184648"/>
            <a:ext cx="4434840" cy="91440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Do not send personal or confidential data to cloud models. Use Ollama for sensitive work.</a:t>
            </a:r>
          </a:p>
        </p:txBody>
      </p:sp>
      <p:sp>
        <p:nvSpPr>
          <p:cNvPr id="25" name="Rounded Rectangle 24"/>
          <p:cNvSpPr/>
          <p:nvPr/>
        </p:nvSpPr>
        <p:spPr>
          <a:xfrm>
            <a:off x="6172200" y="4617720"/>
            <a:ext cx="5468112" cy="1554480"/>
          </a:xfrm>
          <a:prstGeom prst="roundRect">
            <a:avLst>
              <a:gd name="adj" fmla="val 7058"/>
            </a:avLst>
          </a:prstGeom>
          <a:solidFill>
            <a:srgbClr val="2D2057"/>
          </a:solidFill>
          <a:ln>
            <a:noFill/>
          </a:ln>
        </p:spPr>
        <p:txBody>
          <a:bodyPr wrap="square" lIns="164592" tIns="109728" rIns="164592" bIns="109728" rtlCol="0" anchor="t"/>
          <a:lstStyle/>
          <a:p>
            <a:pPr algn="ctr"/>
            <a:endParaRPr/>
          </a:p>
        </p:txBody>
      </p:sp>
      <p:sp>
        <p:nvSpPr>
          <p:cNvPr id="26" name="Oval 25"/>
          <p:cNvSpPr/>
          <p:nvPr/>
        </p:nvSpPr>
        <p:spPr>
          <a:xfrm>
            <a:off x="6355080" y="480060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6</a:t>
            </a:r>
          </a:p>
        </p:txBody>
      </p:sp>
      <p:sp>
        <p:nvSpPr>
          <p:cNvPr id="27" name="TextBox 26"/>
          <p:cNvSpPr txBox="1"/>
          <p:nvPr/>
        </p:nvSpPr>
        <p:spPr>
          <a:xfrm>
            <a:off x="7086600" y="4754880"/>
            <a:ext cx="4434840" cy="411480"/>
          </a:xfrm>
          <a:prstGeom prst="rect">
            <a:avLst/>
          </a:prstGeom>
          <a:noFill/>
        </p:spPr>
        <p:txBody>
          <a:bodyPr wrap="square" lIns="45720" tIns="27432" rIns="45720" bIns="27432" anchor="t">
            <a:spAutoFit/>
          </a:bodyPr>
          <a:lstStyle/>
          <a:p>
            <a:pPr algn="l">
              <a:spcBef>
                <a:spcPts val="0"/>
              </a:spcBef>
              <a:spcAft>
                <a:spcPts val="0"/>
              </a:spcAft>
            </a:pPr>
            <a:r>
              <a:rPr sz="1900" b="1" i="0">
                <a:solidFill>
                  <a:srgbClr val="DFBE27"/>
                </a:solidFill>
                <a:latin typeface="Calibri"/>
              </a:rPr>
              <a:t>Test and observe</a:t>
            </a:r>
          </a:p>
        </p:txBody>
      </p:sp>
      <p:sp>
        <p:nvSpPr>
          <p:cNvPr id="28" name="TextBox 27"/>
          <p:cNvSpPr txBox="1"/>
          <p:nvPr/>
        </p:nvSpPr>
        <p:spPr>
          <a:xfrm>
            <a:off x="7086600" y="5184648"/>
            <a:ext cx="4434840" cy="914400"/>
          </a:xfrm>
          <a:prstGeom prst="rect">
            <a:avLst/>
          </a:prstGeom>
          <a:noFill/>
        </p:spPr>
        <p:txBody>
          <a:bodyPr wrap="square" lIns="45720" tIns="27432" rIns="45720" bIns="27432" anchor="t">
            <a:spAutoFit/>
          </a:bodyPr>
          <a:lstStyle/>
          <a:p>
            <a:pPr algn="l">
              <a:spcBef>
                <a:spcPts val="0"/>
              </a:spcBef>
              <a:spcAft>
                <a:spcPts val="0"/>
              </a:spcAft>
            </a:pPr>
            <a:r>
              <a:rPr sz="1400" b="0" i="0">
                <a:solidFill>
                  <a:srgbClr val="FFFFFF"/>
                </a:solidFill>
                <a:latin typeface="Calibri"/>
              </a:rPr>
              <a:t>Version your prompts, test with fixed inputs and log latency and token usage.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Summary: Key Takeaways</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Oval 4"/>
          <p:cNvSpPr/>
          <p:nvPr/>
        </p:nvSpPr>
        <p:spPr>
          <a:xfrm>
            <a:off x="548640" y="1344168"/>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1</a:t>
            </a:r>
          </a:p>
        </p:txBody>
      </p:sp>
      <p:sp>
        <p:nvSpPr>
          <p:cNvPr id="6" name="Rounded Rectangle 5"/>
          <p:cNvSpPr/>
          <p:nvPr/>
        </p:nvSpPr>
        <p:spPr>
          <a:xfrm>
            <a:off x="1280160" y="1234440"/>
            <a:ext cx="5212080" cy="868680"/>
          </a:xfrm>
          <a:prstGeom prst="roundRect">
            <a:avLst>
              <a:gd name="adj" fmla="val 12631"/>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GenAI creates new content. LLMs do it by predicting the next token.</a:t>
            </a:r>
          </a:p>
        </p:txBody>
      </p:sp>
      <p:sp>
        <p:nvSpPr>
          <p:cNvPr id="7" name="Oval 6"/>
          <p:cNvSpPr/>
          <p:nvPr/>
        </p:nvSpPr>
        <p:spPr>
          <a:xfrm>
            <a:off x="548640" y="233172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2</a:t>
            </a:r>
          </a:p>
        </p:txBody>
      </p:sp>
      <p:sp>
        <p:nvSpPr>
          <p:cNvPr id="8" name="Rounded Rectangle 7"/>
          <p:cNvSpPr/>
          <p:nvPr/>
        </p:nvSpPr>
        <p:spPr>
          <a:xfrm>
            <a:off x="1280160" y="2221992"/>
            <a:ext cx="5212080" cy="868680"/>
          </a:xfrm>
          <a:prstGeom prst="roundRect">
            <a:avLst>
              <a:gd name="adj" fmla="val 12631"/>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Tokens, context window and temperature control cost, limits and style.</a:t>
            </a:r>
          </a:p>
        </p:txBody>
      </p:sp>
      <p:sp>
        <p:nvSpPr>
          <p:cNvPr id="9" name="Oval 8"/>
          <p:cNvSpPr/>
          <p:nvPr/>
        </p:nvSpPr>
        <p:spPr>
          <a:xfrm>
            <a:off x="548640" y="3319272"/>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3</a:t>
            </a:r>
          </a:p>
        </p:txBody>
      </p:sp>
      <p:sp>
        <p:nvSpPr>
          <p:cNvPr id="10" name="Rounded Rectangle 9"/>
          <p:cNvSpPr/>
          <p:nvPr/>
        </p:nvSpPr>
        <p:spPr>
          <a:xfrm>
            <a:off x="1280160" y="3209544"/>
            <a:ext cx="5212080" cy="868680"/>
          </a:xfrm>
          <a:prstGeom prst="roundRect">
            <a:avLst>
              <a:gd name="adj" fmla="val 12631"/>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OpenAI: powerful cloud models, API key, pay per token.</a:t>
            </a:r>
          </a:p>
        </p:txBody>
      </p:sp>
      <p:sp>
        <p:nvSpPr>
          <p:cNvPr id="11" name="Oval 10"/>
          <p:cNvSpPr/>
          <p:nvPr/>
        </p:nvSpPr>
        <p:spPr>
          <a:xfrm>
            <a:off x="548640" y="4306824"/>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4</a:t>
            </a:r>
          </a:p>
        </p:txBody>
      </p:sp>
      <p:sp>
        <p:nvSpPr>
          <p:cNvPr id="12" name="Rounded Rectangle 11"/>
          <p:cNvSpPr/>
          <p:nvPr/>
        </p:nvSpPr>
        <p:spPr>
          <a:xfrm>
            <a:off x="1280160" y="4197096"/>
            <a:ext cx="5212080" cy="868680"/>
          </a:xfrm>
          <a:prstGeom prst="roundRect">
            <a:avLst>
              <a:gd name="adj" fmla="val 12631"/>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Ollama: free local models on localhost:11434, private and offline.</a:t>
            </a:r>
          </a:p>
        </p:txBody>
      </p:sp>
      <p:sp>
        <p:nvSpPr>
          <p:cNvPr id="13" name="Oval 12"/>
          <p:cNvSpPr/>
          <p:nvPr/>
        </p:nvSpPr>
        <p:spPr>
          <a:xfrm>
            <a:off x="548640" y="5294376"/>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5</a:t>
            </a:r>
          </a:p>
        </p:txBody>
      </p:sp>
      <p:sp>
        <p:nvSpPr>
          <p:cNvPr id="14" name="Rounded Rectangle 13"/>
          <p:cNvSpPr/>
          <p:nvPr/>
        </p:nvSpPr>
        <p:spPr>
          <a:xfrm>
            <a:off x="1280160" y="5184648"/>
            <a:ext cx="5212080" cy="868680"/>
          </a:xfrm>
          <a:prstGeom prst="roundRect">
            <a:avLst>
              <a:gd name="adj" fmla="val 12631"/>
            </a:avLst>
          </a:prstGeom>
          <a:solidFill>
            <a:srgbClr val="2D2057"/>
          </a:solidFill>
          <a:ln>
            <a:noFill/>
          </a:ln>
        </p:spPr>
        <p:txBody>
          <a:bodyPr wrap="square" lIns="164592" tIns="109728" rIns="164592" bIns="109728" rtlCol="0" anchor="ctr"/>
          <a:lstStyle/>
          <a:p>
            <a:pPr algn="l">
              <a:spcBef>
                <a:spcPts val="0"/>
              </a:spcBef>
              <a:spcAft>
                <a:spcPts val="0"/>
              </a:spcAft>
            </a:pPr>
            <a:r>
              <a:rPr sz="1500" b="0" i="0">
                <a:solidFill>
                  <a:srgbClr val="FFFFFF"/>
                </a:solidFill>
                <a:latin typeface="Calibri"/>
              </a:rPr>
              <a:t>Spring AI’s ChatClient gives one API for both, plus streaming, structured output and RAG.</a:t>
            </a:r>
          </a:p>
        </p:txBody>
      </p:sp>
      <p:sp>
        <p:nvSpPr>
          <p:cNvPr id="15" name="Rounded Rectangle 14"/>
          <p:cNvSpPr/>
          <p:nvPr/>
        </p:nvSpPr>
        <p:spPr>
          <a:xfrm>
            <a:off x="6766560" y="1234440"/>
            <a:ext cx="4873752" cy="2377440"/>
          </a:xfrm>
          <a:prstGeom prst="roundRect">
            <a:avLst>
              <a:gd name="adj" fmla="val 4615"/>
            </a:avLst>
          </a:prstGeom>
          <a:solidFill>
            <a:srgbClr val="2D2057"/>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Choose OpenAI when</a:t>
            </a:r>
          </a:p>
          <a:p>
            <a:pPr marL="201168" indent="-201168" algn="l">
              <a:spcBef>
                <a:spcPts val="0"/>
              </a:spcBef>
              <a:spcAft>
                <a:spcPts val="300"/>
              </a:spcAft>
              <a:buClr>
                <a:srgbClr val="DFBE27"/>
              </a:buClr>
              <a:buFont typeface="Arial"/>
              <a:buChar char="•"/>
            </a:pPr>
            <a:r>
              <a:rPr sz="1500" b="0" i="0">
                <a:solidFill>
                  <a:srgbClr val="FFFFFF"/>
                </a:solidFill>
                <a:latin typeface="Calibri"/>
              </a:rPr>
              <a:t>You need top quality or complex reasoning</a:t>
            </a:r>
          </a:p>
          <a:p>
            <a:pPr marL="201168" indent="-201168" algn="l">
              <a:spcBef>
                <a:spcPts val="0"/>
              </a:spcBef>
              <a:spcAft>
                <a:spcPts val="300"/>
              </a:spcAft>
              <a:buClr>
                <a:srgbClr val="DFBE27"/>
              </a:buClr>
              <a:buFont typeface="Arial"/>
              <a:buChar char="•"/>
            </a:pPr>
            <a:r>
              <a:rPr sz="1500" b="0" i="0">
                <a:solidFill>
                  <a:srgbClr val="FFFFFF"/>
                </a:solidFill>
                <a:latin typeface="Calibri"/>
              </a:rPr>
              <a:t>You want zero infrastructure</a:t>
            </a:r>
          </a:p>
          <a:p>
            <a:pPr marL="201168" indent="-201168" algn="l">
              <a:spcBef>
                <a:spcPts val="0"/>
              </a:spcBef>
              <a:spcAft>
                <a:spcPts val="300"/>
              </a:spcAft>
              <a:buClr>
                <a:srgbClr val="DFBE27"/>
              </a:buClr>
              <a:buFont typeface="Arial"/>
              <a:buChar char="•"/>
            </a:pPr>
            <a:r>
              <a:rPr sz="1500" b="0" i="0">
                <a:solidFill>
                  <a:srgbClr val="FFFFFF"/>
                </a:solidFill>
                <a:latin typeface="Calibri"/>
              </a:rPr>
              <a:t>Traffic must scale quickly</a:t>
            </a:r>
          </a:p>
        </p:txBody>
      </p:sp>
      <p:sp>
        <p:nvSpPr>
          <p:cNvPr id="16" name="Rounded Rectangle 15"/>
          <p:cNvSpPr/>
          <p:nvPr/>
        </p:nvSpPr>
        <p:spPr>
          <a:xfrm>
            <a:off x="6766560" y="3794760"/>
            <a:ext cx="4873752" cy="2377440"/>
          </a:xfrm>
          <a:prstGeom prst="roundRect">
            <a:avLst>
              <a:gd name="adj" fmla="val 4615"/>
            </a:avLst>
          </a:prstGeom>
          <a:solidFill>
            <a:srgbClr val="3B2D74"/>
          </a:solidFill>
          <a:ln>
            <a:noFill/>
          </a:ln>
        </p:spPr>
        <p:txBody>
          <a:bodyPr wrap="square" lIns="164592" tIns="109728" rIns="164592" bIns="109728" rtlCol="0" anchor="t"/>
          <a:lstStyle/>
          <a:p>
            <a:pPr algn="l">
              <a:spcBef>
                <a:spcPts val="0"/>
              </a:spcBef>
              <a:spcAft>
                <a:spcPts val="400"/>
              </a:spcAft>
            </a:pPr>
            <a:r>
              <a:rPr sz="1800" b="1" i="0">
                <a:solidFill>
                  <a:srgbClr val="DFBE27"/>
                </a:solidFill>
                <a:latin typeface="Calibri"/>
              </a:rPr>
              <a:t>Choose Ollama when</a:t>
            </a:r>
          </a:p>
          <a:p>
            <a:pPr marL="201168" indent="-201168" algn="l">
              <a:spcBef>
                <a:spcPts val="0"/>
              </a:spcBef>
              <a:spcAft>
                <a:spcPts val="300"/>
              </a:spcAft>
              <a:buClr>
                <a:srgbClr val="DFBE27"/>
              </a:buClr>
              <a:buFont typeface="Arial"/>
              <a:buChar char="•"/>
            </a:pPr>
            <a:r>
              <a:rPr sz="1500" b="0" i="0">
                <a:solidFill>
                  <a:srgbClr val="FFFFFF"/>
                </a:solidFill>
                <a:latin typeface="Calibri"/>
              </a:rPr>
              <a:t>Data must stay private or offline</a:t>
            </a:r>
          </a:p>
          <a:p>
            <a:pPr marL="201168" indent="-201168" algn="l">
              <a:spcBef>
                <a:spcPts val="0"/>
              </a:spcBef>
              <a:spcAft>
                <a:spcPts val="300"/>
              </a:spcAft>
              <a:buClr>
                <a:srgbClr val="DFBE27"/>
              </a:buClr>
              <a:buFont typeface="Arial"/>
              <a:buChar char="•"/>
            </a:pPr>
            <a:r>
              <a:rPr sz="1500" b="0" i="0">
                <a:solidFill>
                  <a:srgbClr val="FFFFFF"/>
                </a:solidFill>
                <a:latin typeface="Calibri"/>
              </a:rPr>
              <a:t>You are learning or prototyping for free</a:t>
            </a:r>
          </a:p>
          <a:p>
            <a:pPr marL="201168" indent="-201168" algn="l">
              <a:spcBef>
                <a:spcPts val="0"/>
              </a:spcBef>
              <a:spcAft>
                <a:spcPts val="300"/>
              </a:spcAft>
              <a:buClr>
                <a:srgbClr val="DFBE27"/>
              </a:buClr>
              <a:buFont typeface="Arial"/>
              <a:buChar char="•"/>
            </a:pPr>
            <a:r>
              <a:rPr sz="1500" b="0" i="0">
                <a:solidFill>
                  <a:srgbClr val="FFFFFF"/>
                </a:solidFill>
                <a:latin typeface="Calibri"/>
              </a:rPr>
              <a:t>Smaller models are good enough</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Hands-On Practice Exercises</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Oval 4"/>
          <p:cNvSpPr/>
          <p:nvPr/>
        </p:nvSpPr>
        <p:spPr>
          <a:xfrm>
            <a:off x="548640" y="1298448"/>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1</a:t>
            </a:r>
          </a:p>
        </p:txBody>
      </p:sp>
      <p:sp>
        <p:nvSpPr>
          <p:cNvPr id="6" name="Rounded Rectangle 5"/>
          <p:cNvSpPr/>
          <p:nvPr/>
        </p:nvSpPr>
        <p:spPr>
          <a:xfrm>
            <a:off x="1280160" y="1188720"/>
            <a:ext cx="10360152" cy="804672"/>
          </a:xfrm>
          <a:prstGeom prst="roundRect">
            <a:avLst>
              <a:gd name="adj" fmla="val 13636"/>
            </a:avLst>
          </a:prstGeom>
          <a:solidFill>
            <a:srgbClr val="2D2057"/>
          </a:solidFill>
          <a:ln>
            <a:noFill/>
          </a:ln>
        </p:spPr>
        <p:txBody>
          <a:bodyPr wrap="square" lIns="182880" rIns="182880" rtlCol="0" anchor="ctr"/>
          <a:lstStyle/>
          <a:p>
            <a:pPr algn="l">
              <a:spcBef>
                <a:spcPts val="0"/>
              </a:spcBef>
              <a:spcAft>
                <a:spcPts val="0"/>
              </a:spcAft>
            </a:pPr>
            <a:r>
              <a:rPr sz="1600" b="1" i="0">
                <a:solidFill>
                  <a:srgbClr val="DFBE27"/>
                </a:solidFill>
                <a:latin typeface="Calibri"/>
              </a:rPr>
              <a:t>Temperature experiment: </a:t>
            </a:r>
            <a:r>
              <a:rPr sz="1500" b="0" i="0">
                <a:solidFill>
                  <a:srgbClr val="FFFFFF"/>
                </a:solidFill>
                <a:latin typeface="Calibri"/>
              </a:rPr>
              <a:t>Ask the same question at temperature 0 and at 1.0. Compare the answers.</a:t>
            </a:r>
          </a:p>
        </p:txBody>
      </p:sp>
      <p:sp>
        <p:nvSpPr>
          <p:cNvPr id="7" name="Rounded Rectangle 6"/>
          <p:cNvSpPr/>
          <p:nvPr/>
        </p:nvSpPr>
        <p:spPr>
          <a:xfrm>
            <a:off x="10515600" y="1389888"/>
            <a:ext cx="960120" cy="402336"/>
          </a:xfrm>
          <a:prstGeom prst="roundRect">
            <a:avLst>
              <a:gd name="adj" fmla="val 45454"/>
            </a:avLst>
          </a:prstGeom>
          <a:solidFill>
            <a:srgbClr val="DFBE27"/>
          </a:solidFill>
          <a:ln>
            <a:noFill/>
          </a:ln>
        </p:spPr>
        <p:txBody>
          <a:bodyPr wrap="square" lIns="0" tIns="0" rIns="0" bIns="0" rtlCol="0" anchor="ctr"/>
          <a:lstStyle/>
          <a:p>
            <a:pPr algn="ctr">
              <a:spcBef>
                <a:spcPts val="0"/>
              </a:spcBef>
              <a:spcAft>
                <a:spcPts val="0"/>
              </a:spcAft>
            </a:pPr>
            <a:r>
              <a:rPr sz="1300" b="1" i="0">
                <a:solidFill>
                  <a:srgbClr val="1E1139"/>
                </a:solidFill>
                <a:latin typeface="Calibri"/>
              </a:rPr>
              <a:t>Easy</a:t>
            </a:r>
          </a:p>
        </p:txBody>
      </p:sp>
      <p:sp>
        <p:nvSpPr>
          <p:cNvPr id="8" name="Oval 7"/>
          <p:cNvSpPr/>
          <p:nvPr/>
        </p:nvSpPr>
        <p:spPr>
          <a:xfrm>
            <a:off x="548640" y="2212848"/>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2</a:t>
            </a:r>
          </a:p>
        </p:txBody>
      </p:sp>
      <p:sp>
        <p:nvSpPr>
          <p:cNvPr id="9" name="Rounded Rectangle 8"/>
          <p:cNvSpPr/>
          <p:nvPr/>
        </p:nvSpPr>
        <p:spPr>
          <a:xfrm>
            <a:off x="1280160" y="2103120"/>
            <a:ext cx="10360152" cy="804672"/>
          </a:xfrm>
          <a:prstGeom prst="roundRect">
            <a:avLst>
              <a:gd name="adj" fmla="val 13636"/>
            </a:avLst>
          </a:prstGeom>
          <a:solidFill>
            <a:srgbClr val="2D2057"/>
          </a:solidFill>
          <a:ln>
            <a:noFill/>
          </a:ln>
        </p:spPr>
        <p:txBody>
          <a:bodyPr wrap="square" lIns="182880" rIns="182880" rtlCol="0" anchor="ctr"/>
          <a:lstStyle/>
          <a:p>
            <a:pPr algn="l">
              <a:spcBef>
                <a:spcPts val="0"/>
              </a:spcBef>
              <a:spcAft>
                <a:spcPts val="0"/>
              </a:spcAft>
            </a:pPr>
            <a:r>
              <a:rPr sz="1600" b="1" i="0">
                <a:solidFill>
                  <a:srgbClr val="DFBE27"/>
                </a:solidFill>
                <a:latin typeface="Calibri"/>
              </a:rPr>
              <a:t>Model swap: </a:t>
            </a:r>
            <a:r>
              <a:rPr sz="1500" b="0" i="0">
                <a:solidFill>
                  <a:srgbClr val="FFFFFF"/>
                </a:solidFill>
                <a:latin typeface="Calibri"/>
              </a:rPr>
              <a:t>Run one endpoint with llama3.2:1b and llama3.2:3b. Compare speed and quality.</a:t>
            </a:r>
          </a:p>
        </p:txBody>
      </p:sp>
      <p:sp>
        <p:nvSpPr>
          <p:cNvPr id="10" name="Rounded Rectangle 9"/>
          <p:cNvSpPr/>
          <p:nvPr/>
        </p:nvSpPr>
        <p:spPr>
          <a:xfrm>
            <a:off x="10515600" y="2304288"/>
            <a:ext cx="960120" cy="402336"/>
          </a:xfrm>
          <a:prstGeom prst="roundRect">
            <a:avLst>
              <a:gd name="adj" fmla="val 45454"/>
            </a:avLst>
          </a:prstGeom>
          <a:solidFill>
            <a:srgbClr val="DFBE27"/>
          </a:solidFill>
          <a:ln>
            <a:noFill/>
          </a:ln>
        </p:spPr>
        <p:txBody>
          <a:bodyPr wrap="square" lIns="0" tIns="0" rIns="0" bIns="0" rtlCol="0" anchor="ctr"/>
          <a:lstStyle/>
          <a:p>
            <a:pPr algn="ctr">
              <a:spcBef>
                <a:spcPts val="0"/>
              </a:spcBef>
              <a:spcAft>
                <a:spcPts val="0"/>
              </a:spcAft>
            </a:pPr>
            <a:r>
              <a:rPr sz="1300" b="1" i="0">
                <a:solidFill>
                  <a:srgbClr val="1E1139"/>
                </a:solidFill>
                <a:latin typeface="Calibri"/>
              </a:rPr>
              <a:t>Easy</a:t>
            </a:r>
          </a:p>
        </p:txBody>
      </p:sp>
      <p:sp>
        <p:nvSpPr>
          <p:cNvPr id="11" name="Oval 10"/>
          <p:cNvSpPr/>
          <p:nvPr/>
        </p:nvSpPr>
        <p:spPr>
          <a:xfrm>
            <a:off x="548640" y="3127248"/>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3</a:t>
            </a:r>
          </a:p>
        </p:txBody>
      </p:sp>
      <p:sp>
        <p:nvSpPr>
          <p:cNvPr id="12" name="Rounded Rectangle 11"/>
          <p:cNvSpPr/>
          <p:nvPr/>
        </p:nvSpPr>
        <p:spPr>
          <a:xfrm>
            <a:off x="1280160" y="3017520"/>
            <a:ext cx="10360152" cy="804672"/>
          </a:xfrm>
          <a:prstGeom prst="roundRect">
            <a:avLst>
              <a:gd name="adj" fmla="val 13636"/>
            </a:avLst>
          </a:prstGeom>
          <a:solidFill>
            <a:srgbClr val="2D2057"/>
          </a:solidFill>
          <a:ln>
            <a:noFill/>
          </a:ln>
        </p:spPr>
        <p:txBody>
          <a:bodyPr wrap="square" lIns="182880" rIns="182880" rtlCol="0" anchor="ctr"/>
          <a:lstStyle/>
          <a:p>
            <a:pPr algn="l">
              <a:spcBef>
                <a:spcPts val="0"/>
              </a:spcBef>
              <a:spcAft>
                <a:spcPts val="0"/>
              </a:spcAft>
            </a:pPr>
            <a:r>
              <a:rPr sz="1600" b="1" i="0">
                <a:solidFill>
                  <a:srgbClr val="DFBE27"/>
                </a:solidFill>
                <a:latin typeface="Calibri"/>
              </a:rPr>
              <a:t>Persona bot: </a:t>
            </a:r>
            <a:r>
              <a:rPr sz="1500" b="0" i="0">
                <a:solidFill>
                  <a:srgbClr val="FFFFFF"/>
                </a:solidFill>
                <a:latin typeface="Calibri"/>
              </a:rPr>
              <a:t>Add a system prompt so the assistant is a pirate, a tutor or a code reviewer.</a:t>
            </a:r>
          </a:p>
        </p:txBody>
      </p:sp>
      <p:sp>
        <p:nvSpPr>
          <p:cNvPr id="13" name="Rounded Rectangle 12"/>
          <p:cNvSpPr/>
          <p:nvPr/>
        </p:nvSpPr>
        <p:spPr>
          <a:xfrm>
            <a:off x="10515600" y="3218688"/>
            <a:ext cx="960120" cy="402336"/>
          </a:xfrm>
          <a:prstGeom prst="roundRect">
            <a:avLst>
              <a:gd name="adj" fmla="val 45454"/>
            </a:avLst>
          </a:prstGeom>
          <a:solidFill>
            <a:srgbClr val="DFBE27"/>
          </a:solidFill>
          <a:ln>
            <a:noFill/>
          </a:ln>
        </p:spPr>
        <p:txBody>
          <a:bodyPr wrap="square" lIns="0" tIns="0" rIns="0" bIns="0" rtlCol="0" anchor="ctr"/>
          <a:lstStyle/>
          <a:p>
            <a:pPr algn="ctr">
              <a:spcBef>
                <a:spcPts val="0"/>
              </a:spcBef>
              <a:spcAft>
                <a:spcPts val="0"/>
              </a:spcAft>
            </a:pPr>
            <a:r>
              <a:rPr sz="1300" b="1" i="0">
                <a:solidFill>
                  <a:srgbClr val="1E1139"/>
                </a:solidFill>
                <a:latin typeface="Calibri"/>
              </a:rPr>
              <a:t>Medium</a:t>
            </a:r>
          </a:p>
        </p:txBody>
      </p:sp>
      <p:sp>
        <p:nvSpPr>
          <p:cNvPr id="14" name="Oval 13"/>
          <p:cNvSpPr/>
          <p:nvPr/>
        </p:nvSpPr>
        <p:spPr>
          <a:xfrm>
            <a:off x="548640" y="4041648"/>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4</a:t>
            </a:r>
          </a:p>
        </p:txBody>
      </p:sp>
      <p:sp>
        <p:nvSpPr>
          <p:cNvPr id="15" name="Rounded Rectangle 14"/>
          <p:cNvSpPr/>
          <p:nvPr/>
        </p:nvSpPr>
        <p:spPr>
          <a:xfrm>
            <a:off x="1280160" y="3931920"/>
            <a:ext cx="10360152" cy="804672"/>
          </a:xfrm>
          <a:prstGeom prst="roundRect">
            <a:avLst>
              <a:gd name="adj" fmla="val 13636"/>
            </a:avLst>
          </a:prstGeom>
          <a:solidFill>
            <a:srgbClr val="2D2057"/>
          </a:solidFill>
          <a:ln>
            <a:noFill/>
          </a:ln>
        </p:spPr>
        <p:txBody>
          <a:bodyPr wrap="square" lIns="182880" rIns="182880" rtlCol="0" anchor="ctr"/>
          <a:lstStyle/>
          <a:p>
            <a:pPr algn="l">
              <a:spcBef>
                <a:spcPts val="0"/>
              </a:spcBef>
              <a:spcAft>
                <a:spcPts val="0"/>
              </a:spcAft>
            </a:pPr>
            <a:r>
              <a:rPr sz="1600" b="1" i="0">
                <a:solidFill>
                  <a:srgbClr val="DFBE27"/>
                </a:solidFill>
                <a:latin typeface="Calibri"/>
              </a:rPr>
              <a:t>Stream it: </a:t>
            </a:r>
            <a:r>
              <a:rPr sz="1500" b="0" i="0">
                <a:solidFill>
                  <a:srgbClr val="FFFFFF"/>
                </a:solidFill>
                <a:latin typeface="Calibri"/>
              </a:rPr>
              <a:t>Build a /stream endpoint and watch the tokens arrive with curl -N.</a:t>
            </a:r>
          </a:p>
        </p:txBody>
      </p:sp>
      <p:sp>
        <p:nvSpPr>
          <p:cNvPr id="16" name="Rounded Rectangle 15"/>
          <p:cNvSpPr/>
          <p:nvPr/>
        </p:nvSpPr>
        <p:spPr>
          <a:xfrm>
            <a:off x="10515600" y="4133087"/>
            <a:ext cx="960120" cy="402336"/>
          </a:xfrm>
          <a:prstGeom prst="roundRect">
            <a:avLst>
              <a:gd name="adj" fmla="val 45454"/>
            </a:avLst>
          </a:prstGeom>
          <a:solidFill>
            <a:srgbClr val="DFBE27"/>
          </a:solidFill>
          <a:ln>
            <a:noFill/>
          </a:ln>
        </p:spPr>
        <p:txBody>
          <a:bodyPr wrap="square" lIns="0" tIns="0" rIns="0" bIns="0" rtlCol="0" anchor="ctr"/>
          <a:lstStyle/>
          <a:p>
            <a:pPr algn="ctr">
              <a:spcBef>
                <a:spcPts val="0"/>
              </a:spcBef>
              <a:spcAft>
                <a:spcPts val="0"/>
              </a:spcAft>
            </a:pPr>
            <a:r>
              <a:rPr sz="1300" b="1" i="0">
                <a:solidFill>
                  <a:srgbClr val="1E1139"/>
                </a:solidFill>
                <a:latin typeface="Calibri"/>
              </a:rPr>
              <a:t>Medium</a:t>
            </a:r>
          </a:p>
        </p:txBody>
      </p:sp>
      <p:sp>
        <p:nvSpPr>
          <p:cNvPr id="17" name="Oval 16"/>
          <p:cNvSpPr/>
          <p:nvPr/>
        </p:nvSpPr>
        <p:spPr>
          <a:xfrm>
            <a:off x="548640" y="4956048"/>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2000" b="1" i="0">
                <a:solidFill>
                  <a:srgbClr val="1E1139"/>
                </a:solidFill>
                <a:latin typeface="Calibri"/>
              </a:rPr>
              <a:t>5</a:t>
            </a:r>
          </a:p>
        </p:txBody>
      </p:sp>
      <p:sp>
        <p:nvSpPr>
          <p:cNvPr id="18" name="Rounded Rectangle 17"/>
          <p:cNvSpPr/>
          <p:nvPr/>
        </p:nvSpPr>
        <p:spPr>
          <a:xfrm>
            <a:off x="1280160" y="4846320"/>
            <a:ext cx="10360152" cy="804672"/>
          </a:xfrm>
          <a:prstGeom prst="roundRect">
            <a:avLst>
              <a:gd name="adj" fmla="val 13636"/>
            </a:avLst>
          </a:prstGeom>
          <a:solidFill>
            <a:srgbClr val="2D2057"/>
          </a:solidFill>
          <a:ln>
            <a:noFill/>
          </a:ln>
        </p:spPr>
        <p:txBody>
          <a:bodyPr wrap="square" lIns="182880" rIns="182880" rtlCol="0" anchor="ctr"/>
          <a:lstStyle/>
          <a:p>
            <a:pPr algn="l">
              <a:spcBef>
                <a:spcPts val="0"/>
              </a:spcBef>
              <a:spcAft>
                <a:spcPts val="0"/>
              </a:spcAft>
            </a:pPr>
            <a:r>
              <a:rPr sz="1600" b="1" i="0">
                <a:solidFill>
                  <a:srgbClr val="DFBE27"/>
                </a:solidFill>
                <a:latin typeface="Calibri"/>
              </a:rPr>
              <a:t>Course generator: </a:t>
            </a:r>
            <a:r>
              <a:rPr sz="1500" b="0" i="0">
                <a:solidFill>
                  <a:srgbClr val="FFFFFF"/>
                </a:solidFill>
                <a:latin typeface="Calibri"/>
              </a:rPr>
              <a:t>Return a Course record with .entity() from /course?topic=...</a:t>
            </a:r>
          </a:p>
        </p:txBody>
      </p:sp>
      <p:sp>
        <p:nvSpPr>
          <p:cNvPr id="19" name="Rounded Rectangle 18"/>
          <p:cNvSpPr/>
          <p:nvPr/>
        </p:nvSpPr>
        <p:spPr>
          <a:xfrm>
            <a:off x="10515600" y="5047488"/>
            <a:ext cx="960120" cy="402336"/>
          </a:xfrm>
          <a:prstGeom prst="roundRect">
            <a:avLst>
              <a:gd name="adj" fmla="val 45454"/>
            </a:avLst>
          </a:prstGeom>
          <a:solidFill>
            <a:srgbClr val="DFBE27"/>
          </a:solidFill>
          <a:ln>
            <a:noFill/>
          </a:ln>
        </p:spPr>
        <p:txBody>
          <a:bodyPr wrap="square" lIns="0" tIns="0" rIns="0" bIns="0" rtlCol="0" anchor="ctr"/>
          <a:lstStyle/>
          <a:p>
            <a:pPr algn="ctr">
              <a:spcBef>
                <a:spcPts val="0"/>
              </a:spcBef>
              <a:spcAft>
                <a:spcPts val="0"/>
              </a:spcAft>
            </a:pPr>
            <a:r>
              <a:rPr sz="1300" b="1" i="0">
                <a:solidFill>
                  <a:srgbClr val="1E1139"/>
                </a:solidFill>
                <a:latin typeface="Calibri"/>
              </a:rPr>
              <a:t>Hard</a:t>
            </a:r>
          </a:p>
        </p:txBody>
      </p:sp>
      <p:sp>
        <p:nvSpPr>
          <p:cNvPr id="20" name="Rounded Rectangle 19"/>
          <p:cNvSpPr/>
          <p:nvPr/>
        </p:nvSpPr>
        <p:spPr>
          <a:xfrm>
            <a:off x="548640" y="5852160"/>
            <a:ext cx="11091672" cy="548640"/>
          </a:xfrm>
          <a:prstGeom prst="roundRect">
            <a:avLst>
              <a:gd name="adj" fmla="val 20000"/>
            </a:avLst>
          </a:prstGeom>
          <a:solidFill>
            <a:srgbClr val="3B2D74"/>
          </a:solidFill>
          <a:ln>
            <a:noFill/>
          </a:ln>
        </p:spPr>
        <p:txBody>
          <a:bodyPr wrap="square" lIns="164592" tIns="109728" rIns="164592" bIns="109728" rtlCol="0" anchor="ctr"/>
          <a:lstStyle/>
          <a:p>
            <a:pPr algn="l">
              <a:spcBef>
                <a:spcPts val="0"/>
              </a:spcBef>
              <a:spcAft>
                <a:spcPts val="0"/>
              </a:spcAft>
            </a:pPr>
            <a:r>
              <a:rPr sz="1500" b="1" i="0">
                <a:solidFill>
                  <a:srgbClr val="DFBE27"/>
                </a:solidFill>
                <a:latin typeface="Calibri"/>
              </a:rPr>
              <a:t>Stretch goal: </a:t>
            </a:r>
            <a:r>
              <a:rPr sz="1500" b="0" i="0">
                <a:solidFill>
                  <a:srgbClr val="FFFFFF"/>
                </a:solidFill>
                <a:latin typeface="Calibri"/>
              </a:rPr>
              <a:t>a mini RAG app that answers questions from a text file.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E1139"/>
        </a:solidFill>
        <a:effectLst/>
      </p:bgPr>
    </p:bg>
    <p:spTree>
      <p:nvGrpSpPr>
        <p:cNvPr id="1" name=""/>
        <p:cNvGrpSpPr/>
        <p:nvPr/>
      </p:nvGrpSpPr>
      <p:grpSpPr>
        <a:xfrm>
          <a:off x="0" y="0"/>
          <a:ext cx="0" cy="0"/>
          <a:chOff x="0" y="0"/>
          <a:chExt cx="0" cy="0"/>
        </a:xfrm>
      </p:grpSpPr>
      <p:sp>
        <p:nvSpPr>
          <p:cNvPr id="2" name="Title bar"/>
          <p:cNvSpPr/>
          <p:nvPr/>
        </p:nvSpPr>
        <p:spPr>
          <a:xfrm>
            <a:off x="0" y="0"/>
            <a:ext cx="12191695" cy="868680"/>
          </a:xfrm>
          <a:prstGeom prst="rect">
            <a:avLst/>
          </a:prstGeom>
          <a:solidFill>
            <a:srgbClr val="DFBE27"/>
          </a:solidFill>
          <a:ln>
            <a:noFill/>
          </a:ln>
        </p:spPr>
        <p:txBody>
          <a:bodyPr wrap="square" lIns="164592" tIns="109728" rIns="164592" bIns="109728" rtlCol="0" anchor="t"/>
          <a:lstStyle/>
          <a:p>
            <a:pPr algn="ctr"/>
            <a:endParaRPr/>
          </a:p>
        </p:txBody>
      </p:sp>
      <p:sp>
        <p:nvSpPr>
          <p:cNvPr id="3" name="Title"/>
          <p:cNvSpPr txBox="1"/>
          <p:nvPr/>
        </p:nvSpPr>
        <p:spPr>
          <a:xfrm>
            <a:off x="548640" y="91440"/>
            <a:ext cx="10241280" cy="685800"/>
          </a:xfrm>
          <a:prstGeom prst="rect">
            <a:avLst/>
          </a:prstGeom>
          <a:noFill/>
        </p:spPr>
        <p:txBody>
          <a:bodyPr wrap="square" lIns="45720" tIns="27432" rIns="45720" bIns="27432" anchor="ctr">
            <a:spAutoFit/>
          </a:bodyPr>
          <a:lstStyle/>
          <a:p>
            <a:pPr algn="l">
              <a:spcBef>
                <a:spcPts val="0"/>
              </a:spcBef>
              <a:spcAft>
                <a:spcPts val="0"/>
              </a:spcAft>
            </a:pPr>
            <a:r>
              <a:rPr sz="3200" b="0" i="0">
                <a:solidFill>
                  <a:srgbClr val="1E1139"/>
                </a:solidFill>
                <a:latin typeface="Calibri"/>
              </a:rPr>
              <a:t>Knowledge Check</a:t>
            </a:r>
          </a:p>
        </p:txBody>
      </p:sp>
      <p:pic>
        <p:nvPicPr>
          <p:cNvPr id="4" name="Logo" descr="logo.png"/>
          <p:cNvPicPr>
            <a:picLocks noChangeAspect="1"/>
          </p:cNvPicPr>
          <p:nvPr/>
        </p:nvPicPr>
        <p:blipFill>
          <a:blip r:embed="rId3"/>
          <a:stretch>
            <a:fillRect/>
          </a:stretch>
        </p:blipFill>
        <p:spPr>
          <a:xfrm>
            <a:off x="11018520" y="118872"/>
            <a:ext cx="1033462" cy="640080"/>
          </a:xfrm>
          <a:prstGeom prst="rect">
            <a:avLst/>
          </a:prstGeom>
        </p:spPr>
      </p:pic>
      <p:sp>
        <p:nvSpPr>
          <p:cNvPr id="5" name="Rounded Rectangle 4"/>
          <p:cNvSpPr/>
          <p:nvPr/>
        </p:nvSpPr>
        <p:spPr>
          <a:xfrm>
            <a:off x="548640" y="1234440"/>
            <a:ext cx="5468112" cy="1508760"/>
          </a:xfrm>
          <a:prstGeom prst="roundRect">
            <a:avLst>
              <a:gd name="adj" fmla="val 7272"/>
            </a:avLst>
          </a:prstGeom>
          <a:solidFill>
            <a:srgbClr val="2D2057"/>
          </a:solidFill>
          <a:ln>
            <a:noFill/>
          </a:ln>
        </p:spPr>
        <p:txBody>
          <a:bodyPr wrap="square" lIns="164592" tIns="109728" rIns="164592" bIns="109728" rtlCol="0" anchor="t"/>
          <a:lstStyle/>
          <a:p>
            <a:pPr algn="ctr"/>
            <a:endParaRPr/>
          </a:p>
        </p:txBody>
      </p:sp>
      <p:sp>
        <p:nvSpPr>
          <p:cNvPr id="6" name="Oval 5"/>
          <p:cNvSpPr/>
          <p:nvPr/>
        </p:nvSpPr>
        <p:spPr>
          <a:xfrm>
            <a:off x="731520" y="169164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1600" b="1" i="0">
                <a:solidFill>
                  <a:srgbClr val="1E1139"/>
                </a:solidFill>
                <a:latin typeface="Calibri"/>
              </a:rPr>
              <a:t>Q1</a:t>
            </a:r>
          </a:p>
        </p:txBody>
      </p:sp>
      <p:sp>
        <p:nvSpPr>
          <p:cNvPr id="7" name="TextBox 6"/>
          <p:cNvSpPr txBox="1"/>
          <p:nvPr/>
        </p:nvSpPr>
        <p:spPr>
          <a:xfrm>
            <a:off x="1463040" y="1325880"/>
            <a:ext cx="4434840" cy="1325880"/>
          </a:xfrm>
          <a:prstGeom prst="rect">
            <a:avLst/>
          </a:prstGeom>
          <a:noFill/>
        </p:spPr>
        <p:txBody>
          <a:bodyPr wrap="square" lIns="45720" tIns="27432" rIns="45720" bIns="27432" anchor="ctr">
            <a:spAutoFit/>
          </a:bodyPr>
          <a:lstStyle/>
          <a:p>
            <a:pPr algn="l">
              <a:spcBef>
                <a:spcPts val="0"/>
              </a:spcBef>
              <a:spcAft>
                <a:spcPts val="0"/>
              </a:spcAft>
            </a:pPr>
            <a:r>
              <a:rPr sz="1700" b="0" i="0">
                <a:solidFill>
                  <a:srgbClr val="FFFFFF"/>
                </a:solidFill>
                <a:latin typeface="Calibri"/>
              </a:rPr>
              <a:t>What is a token, and why does it matter for cost?</a:t>
            </a:r>
          </a:p>
        </p:txBody>
      </p:sp>
      <p:sp>
        <p:nvSpPr>
          <p:cNvPr id="8" name="Rounded Rectangle 7"/>
          <p:cNvSpPr/>
          <p:nvPr/>
        </p:nvSpPr>
        <p:spPr>
          <a:xfrm>
            <a:off x="6172200" y="1234440"/>
            <a:ext cx="5468112" cy="1508760"/>
          </a:xfrm>
          <a:prstGeom prst="roundRect">
            <a:avLst>
              <a:gd name="adj" fmla="val 7272"/>
            </a:avLst>
          </a:prstGeom>
          <a:solidFill>
            <a:srgbClr val="2D2057"/>
          </a:solidFill>
          <a:ln>
            <a:noFill/>
          </a:ln>
        </p:spPr>
        <p:txBody>
          <a:bodyPr wrap="square" lIns="164592" tIns="109728" rIns="164592" bIns="109728" rtlCol="0" anchor="t"/>
          <a:lstStyle/>
          <a:p>
            <a:pPr algn="ctr"/>
            <a:endParaRPr/>
          </a:p>
        </p:txBody>
      </p:sp>
      <p:sp>
        <p:nvSpPr>
          <p:cNvPr id="9" name="Oval 8"/>
          <p:cNvSpPr/>
          <p:nvPr/>
        </p:nvSpPr>
        <p:spPr>
          <a:xfrm>
            <a:off x="6355080" y="169164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1600" b="1" i="0">
                <a:solidFill>
                  <a:srgbClr val="1E1139"/>
                </a:solidFill>
                <a:latin typeface="Calibri"/>
              </a:rPr>
              <a:t>Q2</a:t>
            </a:r>
          </a:p>
        </p:txBody>
      </p:sp>
      <p:sp>
        <p:nvSpPr>
          <p:cNvPr id="10" name="TextBox 9"/>
          <p:cNvSpPr txBox="1"/>
          <p:nvPr/>
        </p:nvSpPr>
        <p:spPr>
          <a:xfrm>
            <a:off x="7086600" y="1325880"/>
            <a:ext cx="4434840" cy="1325880"/>
          </a:xfrm>
          <a:prstGeom prst="rect">
            <a:avLst/>
          </a:prstGeom>
          <a:noFill/>
        </p:spPr>
        <p:txBody>
          <a:bodyPr wrap="square" lIns="45720" tIns="27432" rIns="45720" bIns="27432" anchor="ctr">
            <a:spAutoFit/>
          </a:bodyPr>
          <a:lstStyle/>
          <a:p>
            <a:pPr algn="l">
              <a:spcBef>
                <a:spcPts val="0"/>
              </a:spcBef>
              <a:spcAft>
                <a:spcPts val="0"/>
              </a:spcAft>
            </a:pPr>
            <a:r>
              <a:rPr sz="1700" b="0" i="0">
                <a:solidFill>
                  <a:srgbClr val="FFFFFF"/>
                </a:solidFill>
                <a:latin typeface="Calibri"/>
              </a:rPr>
              <a:t>What does a lower temperature do to the answers?</a:t>
            </a:r>
          </a:p>
        </p:txBody>
      </p:sp>
      <p:sp>
        <p:nvSpPr>
          <p:cNvPr id="11" name="Rounded Rectangle 10"/>
          <p:cNvSpPr/>
          <p:nvPr/>
        </p:nvSpPr>
        <p:spPr>
          <a:xfrm>
            <a:off x="548640" y="2880360"/>
            <a:ext cx="5468112" cy="1508760"/>
          </a:xfrm>
          <a:prstGeom prst="roundRect">
            <a:avLst>
              <a:gd name="adj" fmla="val 7272"/>
            </a:avLst>
          </a:prstGeom>
          <a:solidFill>
            <a:srgbClr val="2D2057"/>
          </a:solidFill>
          <a:ln>
            <a:noFill/>
          </a:ln>
        </p:spPr>
        <p:txBody>
          <a:bodyPr wrap="square" lIns="164592" tIns="109728" rIns="164592" bIns="109728" rtlCol="0" anchor="t"/>
          <a:lstStyle/>
          <a:p>
            <a:pPr algn="ctr"/>
            <a:endParaRPr/>
          </a:p>
        </p:txBody>
      </p:sp>
      <p:sp>
        <p:nvSpPr>
          <p:cNvPr id="12" name="Oval 11"/>
          <p:cNvSpPr/>
          <p:nvPr/>
        </p:nvSpPr>
        <p:spPr>
          <a:xfrm>
            <a:off x="731520" y="333756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1600" b="1" i="0">
                <a:solidFill>
                  <a:srgbClr val="1E1139"/>
                </a:solidFill>
                <a:latin typeface="Calibri"/>
              </a:rPr>
              <a:t>Q3</a:t>
            </a:r>
          </a:p>
        </p:txBody>
      </p:sp>
      <p:sp>
        <p:nvSpPr>
          <p:cNvPr id="13" name="TextBox 12"/>
          <p:cNvSpPr txBox="1"/>
          <p:nvPr/>
        </p:nvSpPr>
        <p:spPr>
          <a:xfrm>
            <a:off x="1463040" y="2971800"/>
            <a:ext cx="4434840" cy="1325880"/>
          </a:xfrm>
          <a:prstGeom prst="rect">
            <a:avLst/>
          </a:prstGeom>
          <a:noFill/>
        </p:spPr>
        <p:txBody>
          <a:bodyPr wrap="square" lIns="45720" tIns="27432" rIns="45720" bIns="27432" anchor="ctr">
            <a:spAutoFit/>
          </a:bodyPr>
          <a:lstStyle/>
          <a:p>
            <a:pPr algn="l">
              <a:spcBef>
                <a:spcPts val="0"/>
              </a:spcBef>
              <a:spcAft>
                <a:spcPts val="0"/>
              </a:spcAft>
            </a:pPr>
            <a:r>
              <a:rPr sz="1700" b="0" i="0">
                <a:solidFill>
                  <a:srgbClr val="FFFFFF"/>
                </a:solidFill>
                <a:latin typeface="Calibri"/>
              </a:rPr>
              <a:t>Why can a long conversation start to forget early messages?</a:t>
            </a:r>
          </a:p>
        </p:txBody>
      </p:sp>
      <p:sp>
        <p:nvSpPr>
          <p:cNvPr id="14" name="Rounded Rectangle 13"/>
          <p:cNvSpPr/>
          <p:nvPr/>
        </p:nvSpPr>
        <p:spPr>
          <a:xfrm>
            <a:off x="6172200" y="2880360"/>
            <a:ext cx="5468112" cy="1508760"/>
          </a:xfrm>
          <a:prstGeom prst="roundRect">
            <a:avLst>
              <a:gd name="adj" fmla="val 7272"/>
            </a:avLst>
          </a:prstGeom>
          <a:solidFill>
            <a:srgbClr val="2D2057"/>
          </a:solidFill>
          <a:ln>
            <a:noFill/>
          </a:ln>
        </p:spPr>
        <p:txBody>
          <a:bodyPr wrap="square" lIns="164592" tIns="109728" rIns="164592" bIns="109728" rtlCol="0" anchor="t"/>
          <a:lstStyle/>
          <a:p>
            <a:pPr algn="ctr"/>
            <a:endParaRPr/>
          </a:p>
        </p:txBody>
      </p:sp>
      <p:sp>
        <p:nvSpPr>
          <p:cNvPr id="15" name="Oval 14"/>
          <p:cNvSpPr/>
          <p:nvPr/>
        </p:nvSpPr>
        <p:spPr>
          <a:xfrm>
            <a:off x="6355080" y="333756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1600" b="1" i="0">
                <a:solidFill>
                  <a:srgbClr val="1E1139"/>
                </a:solidFill>
                <a:latin typeface="Calibri"/>
              </a:rPr>
              <a:t>Q4</a:t>
            </a:r>
          </a:p>
        </p:txBody>
      </p:sp>
      <p:sp>
        <p:nvSpPr>
          <p:cNvPr id="16" name="TextBox 15"/>
          <p:cNvSpPr txBox="1"/>
          <p:nvPr/>
        </p:nvSpPr>
        <p:spPr>
          <a:xfrm>
            <a:off x="7086600" y="2971800"/>
            <a:ext cx="4434840" cy="1325880"/>
          </a:xfrm>
          <a:prstGeom prst="rect">
            <a:avLst/>
          </a:prstGeom>
          <a:noFill/>
        </p:spPr>
        <p:txBody>
          <a:bodyPr wrap="square" lIns="45720" tIns="27432" rIns="45720" bIns="27432" anchor="ctr">
            <a:spAutoFit/>
          </a:bodyPr>
          <a:lstStyle/>
          <a:p>
            <a:pPr algn="l">
              <a:spcBef>
                <a:spcPts val="0"/>
              </a:spcBef>
              <a:spcAft>
                <a:spcPts val="0"/>
              </a:spcAft>
            </a:pPr>
            <a:r>
              <a:rPr sz="1700" b="0" i="0">
                <a:solidFill>
                  <a:srgbClr val="FFFFFF"/>
                </a:solidFill>
                <a:latin typeface="Calibri"/>
              </a:rPr>
              <a:t>Give two reasons to choose Ollama over a cloud API.</a:t>
            </a:r>
          </a:p>
        </p:txBody>
      </p:sp>
      <p:sp>
        <p:nvSpPr>
          <p:cNvPr id="17" name="Rounded Rectangle 16"/>
          <p:cNvSpPr/>
          <p:nvPr/>
        </p:nvSpPr>
        <p:spPr>
          <a:xfrm>
            <a:off x="548640" y="4526280"/>
            <a:ext cx="5468112" cy="1508760"/>
          </a:xfrm>
          <a:prstGeom prst="roundRect">
            <a:avLst>
              <a:gd name="adj" fmla="val 7272"/>
            </a:avLst>
          </a:prstGeom>
          <a:solidFill>
            <a:srgbClr val="2D2057"/>
          </a:solidFill>
          <a:ln>
            <a:noFill/>
          </a:ln>
        </p:spPr>
        <p:txBody>
          <a:bodyPr wrap="square" lIns="164592" tIns="109728" rIns="164592" bIns="109728" rtlCol="0" anchor="t"/>
          <a:lstStyle/>
          <a:p>
            <a:pPr algn="ctr"/>
            <a:endParaRPr/>
          </a:p>
        </p:txBody>
      </p:sp>
      <p:sp>
        <p:nvSpPr>
          <p:cNvPr id="18" name="Oval 17"/>
          <p:cNvSpPr/>
          <p:nvPr/>
        </p:nvSpPr>
        <p:spPr>
          <a:xfrm>
            <a:off x="731520" y="498348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1600" b="1" i="0">
                <a:solidFill>
                  <a:srgbClr val="1E1139"/>
                </a:solidFill>
                <a:latin typeface="Calibri"/>
              </a:rPr>
              <a:t>Q5</a:t>
            </a:r>
          </a:p>
        </p:txBody>
      </p:sp>
      <p:sp>
        <p:nvSpPr>
          <p:cNvPr id="19" name="TextBox 18"/>
          <p:cNvSpPr txBox="1"/>
          <p:nvPr/>
        </p:nvSpPr>
        <p:spPr>
          <a:xfrm>
            <a:off x="1463040" y="4617720"/>
            <a:ext cx="4434840" cy="1325880"/>
          </a:xfrm>
          <a:prstGeom prst="rect">
            <a:avLst/>
          </a:prstGeom>
          <a:noFill/>
        </p:spPr>
        <p:txBody>
          <a:bodyPr wrap="square" lIns="45720" tIns="27432" rIns="45720" bIns="27432" anchor="ctr">
            <a:spAutoFit/>
          </a:bodyPr>
          <a:lstStyle/>
          <a:p>
            <a:pPr algn="l">
              <a:spcBef>
                <a:spcPts val="0"/>
              </a:spcBef>
              <a:spcAft>
                <a:spcPts val="0"/>
              </a:spcAft>
            </a:pPr>
            <a:r>
              <a:rPr sz="1700" b="0" i="0">
                <a:solidFill>
                  <a:srgbClr val="FFFFFF"/>
                </a:solidFill>
                <a:latin typeface="Calibri"/>
              </a:rPr>
              <a:t>Which Ollama command downloads a model, and which lists installed ones?</a:t>
            </a:r>
          </a:p>
        </p:txBody>
      </p:sp>
      <p:sp>
        <p:nvSpPr>
          <p:cNvPr id="20" name="Rounded Rectangle 19"/>
          <p:cNvSpPr/>
          <p:nvPr/>
        </p:nvSpPr>
        <p:spPr>
          <a:xfrm>
            <a:off x="6172200" y="4526280"/>
            <a:ext cx="5468112" cy="1508760"/>
          </a:xfrm>
          <a:prstGeom prst="roundRect">
            <a:avLst>
              <a:gd name="adj" fmla="val 7272"/>
            </a:avLst>
          </a:prstGeom>
          <a:solidFill>
            <a:srgbClr val="2D2057"/>
          </a:solidFill>
          <a:ln>
            <a:noFill/>
          </a:ln>
        </p:spPr>
        <p:txBody>
          <a:bodyPr wrap="square" lIns="164592" tIns="109728" rIns="164592" bIns="109728" rtlCol="0" anchor="t"/>
          <a:lstStyle/>
          <a:p>
            <a:pPr algn="ctr"/>
            <a:endParaRPr/>
          </a:p>
        </p:txBody>
      </p:sp>
      <p:sp>
        <p:nvSpPr>
          <p:cNvPr id="21" name="Oval 20"/>
          <p:cNvSpPr/>
          <p:nvPr/>
        </p:nvSpPr>
        <p:spPr>
          <a:xfrm>
            <a:off x="6355080" y="4983480"/>
            <a:ext cx="548640" cy="548640"/>
          </a:xfrm>
          <a:prstGeom prst="ellipse">
            <a:avLst/>
          </a:prstGeom>
          <a:solidFill>
            <a:srgbClr val="DFBE27"/>
          </a:solidFill>
          <a:ln>
            <a:noFill/>
          </a:ln>
        </p:spPr>
        <p:txBody>
          <a:bodyPr wrap="square" lIns="0" tIns="0" rIns="0" bIns="0" rtlCol="0" anchor="ctr"/>
          <a:lstStyle/>
          <a:p>
            <a:pPr algn="ctr">
              <a:spcBef>
                <a:spcPts val="0"/>
              </a:spcBef>
              <a:spcAft>
                <a:spcPts val="0"/>
              </a:spcAft>
            </a:pPr>
            <a:r>
              <a:rPr sz="1600" b="1" i="0">
                <a:solidFill>
                  <a:srgbClr val="1E1139"/>
                </a:solidFill>
                <a:latin typeface="Calibri"/>
              </a:rPr>
              <a:t>Q6</a:t>
            </a:r>
          </a:p>
        </p:txBody>
      </p:sp>
      <p:sp>
        <p:nvSpPr>
          <p:cNvPr id="22" name="TextBox 21"/>
          <p:cNvSpPr txBox="1"/>
          <p:nvPr/>
        </p:nvSpPr>
        <p:spPr>
          <a:xfrm>
            <a:off x="7086600" y="4617720"/>
            <a:ext cx="4434840" cy="1325880"/>
          </a:xfrm>
          <a:prstGeom prst="rect">
            <a:avLst/>
          </a:prstGeom>
          <a:noFill/>
        </p:spPr>
        <p:txBody>
          <a:bodyPr wrap="square" lIns="45720" tIns="27432" rIns="45720" bIns="27432" anchor="ctr">
            <a:spAutoFit/>
          </a:bodyPr>
          <a:lstStyle/>
          <a:p>
            <a:pPr algn="l">
              <a:spcBef>
                <a:spcPts val="0"/>
              </a:spcBef>
              <a:spcAft>
                <a:spcPts val="0"/>
              </a:spcAft>
            </a:pPr>
            <a:r>
              <a:rPr sz="1700" b="0" i="0">
                <a:solidFill>
                  <a:srgbClr val="FFFFFF"/>
                </a:solidFill>
                <a:latin typeface="Calibri"/>
              </a:rPr>
              <a:t>How does .entity(Course.class) differ from .content()?</a:t>
            </a:r>
          </a:p>
        </p:txBody>
      </p:sp>
      <p:sp>
        <p:nvSpPr>
          <p:cNvPr id="23" name="TextBox 22"/>
          <p:cNvSpPr txBox="1"/>
          <p:nvPr/>
        </p:nvSpPr>
        <p:spPr>
          <a:xfrm>
            <a:off x="548640" y="6217920"/>
            <a:ext cx="10972800" cy="365760"/>
          </a:xfrm>
          <a:prstGeom prst="rect">
            <a:avLst/>
          </a:prstGeom>
          <a:noFill/>
        </p:spPr>
        <p:txBody>
          <a:bodyPr wrap="square" lIns="45720" tIns="27432" rIns="45720" bIns="27432" anchor="t">
            <a:spAutoFit/>
          </a:bodyPr>
          <a:lstStyle/>
          <a:p>
            <a:pPr algn="l">
              <a:spcBef>
                <a:spcPts val="0"/>
              </a:spcBef>
              <a:spcAft>
                <a:spcPts val="0"/>
              </a:spcAft>
            </a:pPr>
            <a:r>
              <a:rPr sz="1300" b="0" i="1">
                <a:solidFill>
                  <a:srgbClr val="C4BAE3"/>
                </a:solidFill>
                <a:latin typeface="Calibri"/>
              </a:rPr>
              <a:t>Answers are in the speaker notes.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3673</Words>
  <Application>Microsoft Office PowerPoint</Application>
  <PresentationFormat>Widescreen</PresentationFormat>
  <Paragraphs>520</Paragraphs>
  <Slides>56</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Calibri Light</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cloudsony9991@outlook.com</dc:creator>
  <cp:lastModifiedBy>Amitava Chatterjee</cp:lastModifiedBy>
  <cp:revision>3</cp:revision>
  <dcterms:created xsi:type="dcterms:W3CDTF">2026-10-23T06:23:01Z</dcterms:created>
  <dcterms:modified xsi:type="dcterms:W3CDTF">2026-10-24T09:46:30Z</dcterms:modified>
</cp:coreProperties>
</file>